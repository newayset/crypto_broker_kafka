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72" r:id="rId10"/>
    <p:sldId id="265" r:id="rId11"/>
    <p:sldId id="273" r:id="rId12"/>
    <p:sldId id="266" r:id="rId13"/>
    <p:sldId id="262" r:id="rId14"/>
    <p:sldId id="267" r:id="rId15"/>
    <p:sldId id="274" r:id="rId16"/>
    <p:sldId id="268" r:id="rId17"/>
    <p:sldId id="269" r:id="rId18"/>
    <p:sldId id="270" r:id="rId19"/>
    <p:sldId id="271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63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5F8F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9B5C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5F8F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9B5C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9B5C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9B5C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9B5C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15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661161"/>
            <a:ext cx="881443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5980" y="2988386"/>
            <a:ext cx="10002520" cy="157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5F8F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96471" y="6408012"/>
            <a:ext cx="223520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9B5C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1505" y="1724025"/>
            <a:ext cx="979678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solidFill>
                  <a:srgbClr val="FFFFFF"/>
                </a:solidFill>
                <a:latin typeface="Impact"/>
                <a:cs typeface="Impact"/>
              </a:rPr>
              <a:t>Система</a:t>
            </a:r>
            <a:r>
              <a:rPr sz="5400" b="0" spc="-135" dirty="0">
                <a:solidFill>
                  <a:srgbClr val="FFFFFF"/>
                </a:solidFill>
                <a:latin typeface="Impact"/>
                <a:cs typeface="Impact"/>
              </a:rPr>
              <a:t> </a:t>
            </a:r>
            <a:r>
              <a:rPr sz="5400" b="0" dirty="0">
                <a:solidFill>
                  <a:srgbClr val="FFFFFF"/>
                </a:solidFill>
                <a:latin typeface="Impact"/>
                <a:cs typeface="Impact"/>
              </a:rPr>
              <a:t>обмена</a:t>
            </a:r>
            <a:r>
              <a:rPr sz="5400" b="0" spc="-140" dirty="0">
                <a:solidFill>
                  <a:srgbClr val="FFFFFF"/>
                </a:solidFill>
                <a:latin typeface="Impact"/>
                <a:cs typeface="Impact"/>
              </a:rPr>
              <a:t> </a:t>
            </a:r>
            <a:r>
              <a:rPr sz="5400" b="0" dirty="0">
                <a:solidFill>
                  <a:srgbClr val="FFFFFF"/>
                </a:solidFill>
                <a:latin typeface="Impact"/>
                <a:cs typeface="Impact"/>
              </a:rPr>
              <a:t>сообщениями</a:t>
            </a:r>
            <a:r>
              <a:rPr sz="5400" b="0" spc="-130" dirty="0">
                <a:solidFill>
                  <a:srgbClr val="FFFFFF"/>
                </a:solidFill>
                <a:latin typeface="Impact"/>
                <a:cs typeface="Impact"/>
              </a:rPr>
              <a:t> </a:t>
            </a:r>
            <a:r>
              <a:rPr sz="5400" b="0" spc="-50" dirty="0">
                <a:solidFill>
                  <a:srgbClr val="FFFFFF"/>
                </a:solidFill>
                <a:latin typeface="Impact"/>
                <a:cs typeface="Impact"/>
              </a:rPr>
              <a:t>с </a:t>
            </a:r>
            <a:r>
              <a:rPr sz="5400" b="0" spc="-10" dirty="0">
                <a:solidFill>
                  <a:srgbClr val="FFFFFF"/>
                </a:solidFill>
                <a:latin typeface="Impact"/>
                <a:cs typeface="Impact"/>
              </a:rPr>
              <a:t>криптографической</a:t>
            </a:r>
            <a:r>
              <a:rPr sz="5400" b="0" spc="-200" dirty="0">
                <a:solidFill>
                  <a:srgbClr val="FFFFFF"/>
                </a:solidFill>
                <a:latin typeface="Impact"/>
                <a:cs typeface="Impact"/>
              </a:rPr>
              <a:t> </a:t>
            </a:r>
            <a:r>
              <a:rPr sz="5400" b="0" spc="-10" dirty="0">
                <a:solidFill>
                  <a:srgbClr val="FFFFFF"/>
                </a:solidFill>
                <a:latin typeface="Impact"/>
                <a:cs typeface="Impact"/>
              </a:rPr>
              <a:t>защитой информации</a:t>
            </a:r>
            <a:endParaRPr sz="5400" dirty="0">
              <a:latin typeface="Impact"/>
              <a:cs typeface="Impac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0594" y="4496689"/>
            <a:ext cx="1804035" cy="72263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800" dirty="0">
                <a:solidFill>
                  <a:srgbClr val="D0CECE"/>
                </a:solidFill>
                <a:latin typeface="Impact"/>
                <a:cs typeface="Impact"/>
              </a:rPr>
              <a:t>Зюков</a:t>
            </a:r>
            <a:r>
              <a:rPr sz="1800" spc="-60" dirty="0">
                <a:solidFill>
                  <a:srgbClr val="D0CECE"/>
                </a:solidFill>
                <a:latin typeface="Impact"/>
                <a:cs typeface="Impact"/>
              </a:rPr>
              <a:t> </a:t>
            </a:r>
            <a:r>
              <a:rPr sz="1800" spc="-10" dirty="0">
                <a:solidFill>
                  <a:srgbClr val="D0CECE"/>
                </a:solidFill>
                <a:latin typeface="Impact"/>
                <a:cs typeface="Impact"/>
              </a:rPr>
              <a:t>Александр</a:t>
            </a:r>
            <a:endParaRPr sz="1800">
              <a:latin typeface="Impact"/>
              <a:cs typeface="Impact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spc="-10" dirty="0">
                <a:solidFill>
                  <a:srgbClr val="D0CECE"/>
                </a:solidFill>
                <a:latin typeface="Impact"/>
                <a:cs typeface="Impact"/>
              </a:rPr>
              <a:t>КЭП-01-</a:t>
            </a:r>
            <a:r>
              <a:rPr sz="1200" spc="-25" dirty="0">
                <a:solidFill>
                  <a:srgbClr val="D0CECE"/>
                </a:solidFill>
                <a:latin typeface="Impact"/>
                <a:cs typeface="Impact"/>
              </a:rPr>
              <a:t>24</a:t>
            </a:r>
            <a:endParaRPr sz="1200">
              <a:latin typeface="Impact"/>
              <a:cs typeface="Impac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2675" y="4496689"/>
            <a:ext cx="1986280" cy="72263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800" spc="-10" dirty="0">
                <a:solidFill>
                  <a:srgbClr val="D0CECE"/>
                </a:solidFill>
                <a:latin typeface="Impact"/>
                <a:cs typeface="Impact"/>
              </a:rPr>
              <a:t>Ховроненко</a:t>
            </a:r>
            <a:r>
              <a:rPr sz="1800" spc="-15" dirty="0">
                <a:solidFill>
                  <a:srgbClr val="D0CECE"/>
                </a:solidFill>
                <a:latin typeface="Impact"/>
                <a:cs typeface="Impact"/>
              </a:rPr>
              <a:t> </a:t>
            </a:r>
            <a:r>
              <a:rPr sz="1800" spc="-10" dirty="0">
                <a:solidFill>
                  <a:srgbClr val="D0CECE"/>
                </a:solidFill>
                <a:latin typeface="Impact"/>
                <a:cs typeface="Impact"/>
              </a:rPr>
              <a:t>Андрей</a:t>
            </a:r>
            <a:endParaRPr sz="1800">
              <a:latin typeface="Impact"/>
              <a:cs typeface="Impact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spc="-10" dirty="0">
                <a:solidFill>
                  <a:srgbClr val="D0CECE"/>
                </a:solidFill>
                <a:latin typeface="Impact"/>
                <a:cs typeface="Impact"/>
              </a:rPr>
              <a:t>КЭП-03-</a:t>
            </a:r>
            <a:r>
              <a:rPr sz="1200" spc="-25" dirty="0">
                <a:solidFill>
                  <a:srgbClr val="D0CECE"/>
                </a:solidFill>
                <a:latin typeface="Impact"/>
                <a:cs typeface="Impact"/>
              </a:rPr>
              <a:t>24</a:t>
            </a:r>
            <a:endParaRPr sz="1200">
              <a:latin typeface="Impact"/>
              <a:cs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6267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60" dirty="0">
                <a:solidFill>
                  <a:srgbClr val="1F9BD1"/>
                </a:solidFill>
                <a:latin typeface="Tahoma"/>
                <a:cs typeface="Tahoma"/>
              </a:rPr>
              <a:t>КОНТЕКСТ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Что</a:t>
            </a:r>
            <a:r>
              <a:rPr spc="-190" dirty="0"/>
              <a:t> </a:t>
            </a:r>
            <a:r>
              <a:rPr spc="-155" dirty="0"/>
              <a:t>представляет</a:t>
            </a:r>
            <a:r>
              <a:rPr spc="-165" dirty="0"/>
              <a:t> </a:t>
            </a:r>
            <a:r>
              <a:rPr spc="-110" dirty="0"/>
              <a:t>собой</a:t>
            </a:r>
            <a:r>
              <a:rPr spc="-180" dirty="0"/>
              <a:t> </a:t>
            </a:r>
            <a:r>
              <a:rPr spc="-114" dirty="0"/>
              <a:t>продукт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0259" y="2670175"/>
            <a:ext cx="5539105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5160">
              <a:lnSpc>
                <a:spcPct val="100000"/>
              </a:lnSpc>
              <a:spcBef>
                <a:spcPts val="100"/>
              </a:spcBef>
            </a:pPr>
            <a:r>
              <a:rPr sz="1500" spc="-55" dirty="0">
                <a:solidFill>
                  <a:srgbClr val="F5F8FA"/>
                </a:solidFill>
                <a:latin typeface="Trebuchet MS"/>
                <a:cs typeface="Trebuchet MS"/>
              </a:rPr>
              <a:t>LiteBroker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275" dirty="0">
                <a:solidFill>
                  <a:srgbClr val="F5F8FA"/>
                </a:solidFill>
                <a:latin typeface="Trebuchet MS"/>
                <a:cs typeface="Trebuchet MS"/>
              </a:rPr>
              <a:t>—</a:t>
            </a:r>
            <a:r>
              <a:rPr sz="15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локальный</a:t>
            </a:r>
            <a:r>
              <a:rPr sz="150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5F8FA"/>
                </a:solidFill>
                <a:latin typeface="Trebuchet MS"/>
                <a:cs typeface="Trebuchet MS"/>
              </a:rPr>
              <a:t>учебный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5F8FA"/>
                </a:solidFill>
                <a:latin typeface="Trebuchet MS"/>
                <a:cs typeface="Trebuchet MS"/>
              </a:rPr>
              <a:t>мессенджер</a:t>
            </a:r>
            <a:r>
              <a:rPr sz="1500" spc="-12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с</a:t>
            </a:r>
            <a:r>
              <a:rPr sz="15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выбором собеседника.</a:t>
            </a:r>
            <a:endParaRPr sz="1500">
              <a:latin typeface="Trebuchet MS"/>
              <a:cs typeface="Trebuchet MS"/>
            </a:endParaRPr>
          </a:p>
          <a:p>
            <a:pPr marL="12700" marR="989965">
              <a:lnSpc>
                <a:spcPct val="100000"/>
              </a:lnSpc>
            </a:pP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Каждый</a:t>
            </a:r>
            <a:r>
              <a:rPr sz="15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диалог</a:t>
            </a:r>
            <a:r>
              <a:rPr sz="150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публикуется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в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отдельный</a:t>
            </a:r>
            <a:r>
              <a:rPr sz="1500" spc="-8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Kafka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topic: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litebroker.chat.&lt;userA&gt;</a:t>
            </a:r>
            <a:r>
              <a:rPr sz="1500" u="sng" spc="90" dirty="0">
                <a:solidFill>
                  <a:srgbClr val="F5F8FA"/>
                </a:solidFill>
                <a:uFill>
                  <a:solidFill>
                    <a:srgbClr val="F4F7F9"/>
                  </a:solidFill>
                </a:uFill>
                <a:latin typeface="Trebuchet MS"/>
                <a:cs typeface="Trebuchet MS"/>
              </a:rPr>
              <a:t> 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&lt;userB&gt;.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Замеры</a:t>
            </a:r>
            <a:r>
              <a:rPr sz="15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5F8FA"/>
                </a:solidFill>
                <a:latin typeface="Trebuchet MS"/>
                <a:cs typeface="Trebuchet MS"/>
              </a:rPr>
              <a:t>датчиков</a:t>
            </a:r>
            <a:r>
              <a:rPr sz="15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5F8FA"/>
                </a:solidFill>
                <a:latin typeface="Trebuchet MS"/>
                <a:cs typeface="Trebuchet MS"/>
              </a:rPr>
              <a:t>генерируются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5F8FA"/>
                </a:solidFill>
                <a:latin typeface="Trebuchet MS"/>
                <a:cs typeface="Trebuchet MS"/>
              </a:rPr>
              <a:t>автоматически</a:t>
            </a:r>
            <a:r>
              <a:rPr sz="15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5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публикуются</a:t>
            </a:r>
            <a:r>
              <a:rPr sz="15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F5F8FA"/>
                </a:solidFill>
                <a:latin typeface="Trebuchet MS"/>
                <a:cs typeface="Trebuchet MS"/>
              </a:rPr>
              <a:t>в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topic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litebroker.sensors.random.</a:t>
            </a:r>
            <a:endParaRPr sz="1500">
              <a:latin typeface="Trebuchet MS"/>
              <a:cs typeface="Trebuchet MS"/>
            </a:endParaRPr>
          </a:p>
          <a:p>
            <a:pPr marL="12700" marR="222885">
              <a:lnSpc>
                <a:spcPct val="100000"/>
              </a:lnSpc>
            </a:pP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Сообщения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сохраняются</a:t>
            </a:r>
            <a:r>
              <a:rPr sz="15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в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локальная</a:t>
            </a:r>
            <a:r>
              <a:rPr sz="15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БД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5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Kafka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r>
              <a:rPr sz="15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открытым </a:t>
            </a:r>
            <a:r>
              <a:rPr sz="1500" spc="-50" dirty="0">
                <a:solidFill>
                  <a:srgbClr val="F5F8FA"/>
                </a:solidFill>
                <a:latin typeface="Trebuchet MS"/>
                <a:cs typeface="Trebuchet MS"/>
              </a:rPr>
              <a:t>текстом,</a:t>
            </a:r>
            <a:r>
              <a:rPr sz="1500" spc="-14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а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криптоконтейнером.</a:t>
            </a:r>
            <a:endParaRPr sz="1500">
              <a:latin typeface="Trebuchet MS"/>
              <a:cs typeface="Trebuchet MS"/>
            </a:endParaRPr>
          </a:p>
          <a:p>
            <a:pPr marL="12700" marR="897255">
              <a:lnSpc>
                <a:spcPct val="100000"/>
              </a:lnSpc>
              <a:spcBef>
                <a:spcPts val="5"/>
              </a:spcBef>
            </a:pPr>
            <a:r>
              <a:rPr sz="1500" spc="-30" dirty="0">
                <a:solidFill>
                  <a:srgbClr val="F5F8FA"/>
                </a:solidFill>
                <a:latin typeface="Trebuchet MS"/>
                <a:cs typeface="Trebuchet MS"/>
              </a:rPr>
              <a:t>Prometheus,</a:t>
            </a:r>
            <a:r>
              <a:rPr sz="1500" spc="-14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F5F8FA"/>
                </a:solidFill>
                <a:latin typeface="Trebuchet MS"/>
                <a:cs typeface="Trebuchet MS"/>
              </a:rPr>
              <a:t>Loki/Promtail</a:t>
            </a:r>
            <a:r>
              <a:rPr sz="15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5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Grafana</a:t>
            </a:r>
            <a:r>
              <a:rPr sz="15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используются</a:t>
            </a:r>
            <a:r>
              <a:rPr sz="15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для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наблюдаемости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демонстрации</a:t>
            </a:r>
            <a:r>
              <a:rPr sz="15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аудита.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21871" y="6408012"/>
            <a:ext cx="1600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0</a:t>
            </a:r>
            <a:r>
              <a:rPr lang="ru-RU"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1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86600" y="1691639"/>
            <a:ext cx="4023360" cy="187452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35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1350" b="1" spc="-65" dirty="0">
                <a:solidFill>
                  <a:srgbClr val="F5F8FA"/>
                </a:solidFill>
                <a:latin typeface="Tahoma"/>
                <a:cs typeface="Tahoma"/>
              </a:rPr>
              <a:t>Ценность</a:t>
            </a:r>
            <a:r>
              <a:rPr sz="1350" b="1" spc="-11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продукта:</a:t>
            </a:r>
            <a:endParaRPr sz="1350">
              <a:latin typeface="Tahoma"/>
              <a:cs typeface="Tahoma"/>
            </a:endParaRPr>
          </a:p>
          <a:p>
            <a:pPr marL="220345" marR="993775">
              <a:lnSpc>
                <a:spcPct val="100000"/>
              </a:lnSpc>
            </a:pPr>
            <a:r>
              <a:rPr sz="1350" b="1" spc="-85" dirty="0">
                <a:solidFill>
                  <a:srgbClr val="F5F8FA"/>
                </a:solidFill>
                <a:latin typeface="Tahoma"/>
                <a:cs typeface="Tahoma"/>
              </a:rPr>
              <a:t>конфиденциальность</a:t>
            </a:r>
            <a:r>
              <a:rPr sz="1350" b="1" spc="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F5F8FA"/>
                </a:solidFill>
                <a:latin typeface="Tahoma"/>
                <a:cs typeface="Tahoma"/>
              </a:rPr>
              <a:t>сообщения, </a:t>
            </a:r>
            <a:r>
              <a:rPr sz="1350" b="1" spc="-70" dirty="0">
                <a:solidFill>
                  <a:srgbClr val="F5F8FA"/>
                </a:solidFill>
                <a:latin typeface="Tahoma"/>
                <a:cs typeface="Tahoma"/>
              </a:rPr>
              <a:t>целостность</a:t>
            </a:r>
            <a:r>
              <a:rPr sz="1350" b="1" spc="-10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контейнера,</a:t>
            </a:r>
            <a:endParaRPr sz="1350">
              <a:latin typeface="Tahoma"/>
              <a:cs typeface="Tahoma"/>
            </a:endParaRPr>
          </a:p>
          <a:p>
            <a:pPr marL="220345">
              <a:lnSpc>
                <a:spcPct val="100000"/>
              </a:lnSpc>
            </a:pPr>
            <a:r>
              <a:rPr sz="1350" b="1" spc="-65" dirty="0">
                <a:solidFill>
                  <a:srgbClr val="F5F8FA"/>
                </a:solidFill>
                <a:latin typeface="Tahoma"/>
                <a:cs typeface="Tahoma"/>
              </a:rPr>
              <a:t>разделение</a:t>
            </a:r>
            <a:r>
              <a:rPr sz="1350" b="1" spc="-114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90" dirty="0">
                <a:solidFill>
                  <a:srgbClr val="F5F8FA"/>
                </a:solidFill>
                <a:latin typeface="Tahoma"/>
                <a:cs typeface="Tahoma"/>
              </a:rPr>
              <a:t>потоков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данных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86600" y="3886200"/>
            <a:ext cx="4023360" cy="1417320"/>
          </a:xfrm>
          <a:prstGeom prst="rect">
            <a:avLst/>
          </a:prstGeom>
          <a:solidFill>
            <a:srgbClr val="E05D50"/>
          </a:solidFill>
          <a:ln w="15240">
            <a:solidFill>
              <a:srgbClr val="304355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endParaRPr sz="135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1350" b="1" spc="-80" dirty="0">
                <a:solidFill>
                  <a:srgbClr val="F5F8FA"/>
                </a:solidFill>
                <a:latin typeface="Tahoma"/>
                <a:cs typeface="Tahoma"/>
              </a:rPr>
              <a:t>Неприемлемое</a:t>
            </a:r>
            <a:r>
              <a:rPr sz="1350" b="1" spc="-7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событие:</a:t>
            </a:r>
            <a:endParaRPr sz="1350">
              <a:latin typeface="Tahoma"/>
              <a:cs typeface="Tahoma"/>
            </a:endParaRPr>
          </a:p>
          <a:p>
            <a:pPr marL="220345">
              <a:lnSpc>
                <a:spcPct val="100000"/>
              </a:lnSpc>
            </a:pPr>
            <a:r>
              <a:rPr sz="1350" b="1" spc="-60" dirty="0">
                <a:solidFill>
                  <a:srgbClr val="F5F8FA"/>
                </a:solidFill>
                <a:latin typeface="Tahoma"/>
                <a:cs typeface="Tahoma"/>
              </a:rPr>
              <a:t>сообщение</a:t>
            </a:r>
            <a:r>
              <a:rPr sz="1350" b="1" spc="-12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или</a:t>
            </a:r>
            <a:r>
              <a:rPr sz="135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служебный</a:t>
            </a:r>
            <a:r>
              <a:rPr sz="1350" b="1" spc="-114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85" dirty="0">
                <a:solidFill>
                  <a:srgbClr val="F5F8FA"/>
                </a:solidFill>
                <a:latin typeface="Tahoma"/>
                <a:cs typeface="Tahoma"/>
              </a:rPr>
              <a:t>поток</a:t>
            </a:r>
            <a:r>
              <a:rPr sz="135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обходит</a:t>
            </a:r>
            <a:endParaRPr sz="1350">
              <a:latin typeface="Tahoma"/>
              <a:cs typeface="Tahoma"/>
            </a:endParaRPr>
          </a:p>
          <a:p>
            <a:pPr marL="220345" marR="788670">
              <a:lnSpc>
                <a:spcPct val="100000"/>
              </a:lnSpc>
              <a:spcBef>
                <a:spcPts val="5"/>
              </a:spcBef>
            </a:pPr>
            <a:r>
              <a:rPr sz="1350" b="1" spc="-100" dirty="0">
                <a:solidFill>
                  <a:srgbClr val="F5F8FA"/>
                </a:solidFill>
                <a:latin typeface="Tahoma"/>
                <a:cs typeface="Tahoma"/>
              </a:rPr>
              <a:t>политику</a:t>
            </a:r>
            <a:r>
              <a:rPr sz="1350" b="1" spc="-12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70" dirty="0">
                <a:solidFill>
                  <a:srgbClr val="F5F8FA"/>
                </a:solidFill>
                <a:latin typeface="Tahoma"/>
                <a:cs typeface="Tahoma"/>
              </a:rPr>
              <a:t>и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 появляется</a:t>
            </a:r>
            <a:r>
              <a:rPr sz="135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14" dirty="0">
                <a:solidFill>
                  <a:srgbClr val="F5F8FA"/>
                </a:solidFill>
                <a:latin typeface="Tahoma"/>
                <a:cs typeface="Tahoma"/>
              </a:rPr>
              <a:t>в</a:t>
            </a:r>
            <a:r>
              <a:rPr sz="1350" b="1" spc="-8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45" dirty="0">
                <a:solidFill>
                  <a:srgbClr val="F5F8FA"/>
                </a:solidFill>
                <a:latin typeface="Tahoma"/>
                <a:cs typeface="Tahoma"/>
              </a:rPr>
              <a:t>системе</a:t>
            </a:r>
            <a:r>
              <a:rPr sz="1350" b="1" spc="-12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40" dirty="0">
                <a:solidFill>
                  <a:srgbClr val="F5F8FA"/>
                </a:solidFill>
                <a:latin typeface="Tahoma"/>
                <a:cs typeface="Tahoma"/>
              </a:rPr>
              <a:t>как </a:t>
            </a:r>
            <a:r>
              <a:rPr sz="1350" b="1" spc="-105" dirty="0">
                <a:solidFill>
                  <a:srgbClr val="F5F8FA"/>
                </a:solidFill>
                <a:latin typeface="Tahoma"/>
                <a:cs typeface="Tahoma"/>
              </a:rPr>
              <a:t>открытый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20" dirty="0">
                <a:solidFill>
                  <a:srgbClr val="F5F8FA"/>
                </a:solidFill>
                <a:latin typeface="Tahoma"/>
                <a:cs typeface="Tahoma"/>
              </a:rPr>
              <a:t>текст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668" y="441706"/>
            <a:ext cx="228092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225" dirty="0"/>
              <a:t>LiteBroker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673100" y="1203706"/>
            <a:ext cx="744093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A9B5C2"/>
                </a:solidFill>
                <a:latin typeface="Trebuchet MS"/>
                <a:cs typeface="Trebuchet MS"/>
              </a:rPr>
              <a:t>Система</a:t>
            </a:r>
            <a:r>
              <a:rPr sz="1700" spc="-135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A9B5C2"/>
                </a:solidFill>
                <a:latin typeface="Trebuchet MS"/>
                <a:cs typeface="Trebuchet MS"/>
              </a:rPr>
              <a:t>обмена</a:t>
            </a:r>
            <a:r>
              <a:rPr sz="1700" spc="-75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A9B5C2"/>
                </a:solidFill>
                <a:latin typeface="Trebuchet MS"/>
                <a:cs typeface="Trebuchet MS"/>
              </a:rPr>
              <a:t>сообщениями</a:t>
            </a:r>
            <a:r>
              <a:rPr sz="1700" spc="-125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A9B5C2"/>
                </a:solidFill>
                <a:latin typeface="Trebuchet MS"/>
                <a:cs typeface="Trebuchet MS"/>
              </a:rPr>
              <a:t>с</a:t>
            </a:r>
            <a:r>
              <a:rPr sz="1700" spc="-95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A9B5C2"/>
                </a:solidFill>
                <a:latin typeface="Trebuchet MS"/>
                <a:cs typeface="Trebuchet MS"/>
              </a:rPr>
              <a:t>криптографической</a:t>
            </a:r>
            <a:r>
              <a:rPr sz="1700" spc="-130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A9B5C2"/>
                </a:solidFill>
                <a:latin typeface="Trebuchet MS"/>
                <a:cs typeface="Trebuchet MS"/>
              </a:rPr>
              <a:t>защитой</a:t>
            </a:r>
            <a:r>
              <a:rPr sz="1700" spc="-114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A9B5C2"/>
                </a:solidFill>
                <a:latin typeface="Trebuchet MS"/>
                <a:cs typeface="Trebuchet MS"/>
              </a:rPr>
              <a:t>информации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368" y="2148839"/>
            <a:ext cx="2148840" cy="822960"/>
          </a:xfrm>
          <a:prstGeom prst="rect">
            <a:avLst/>
          </a:prstGeom>
          <a:solidFill>
            <a:srgbClr val="6E49A1"/>
          </a:solidFill>
          <a:ln w="15239">
            <a:solidFill>
              <a:srgbClr val="304355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endParaRPr sz="135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spcBef>
                <a:spcPts val="5"/>
              </a:spcBef>
            </a:pP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Kafka</a:t>
            </a:r>
            <a:r>
              <a:rPr sz="1350" b="1" spc="-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broker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0400" y="2148839"/>
            <a:ext cx="2743200" cy="82296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1930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520"/>
              </a:spcBef>
            </a:pPr>
            <a:r>
              <a:rPr sz="1350" b="1" spc="-90" dirty="0">
                <a:solidFill>
                  <a:srgbClr val="F5F8FA"/>
                </a:solidFill>
                <a:latin typeface="Tahoma"/>
                <a:cs typeface="Tahoma"/>
              </a:rPr>
              <a:t>AES-</a:t>
            </a:r>
            <a:r>
              <a:rPr sz="1350" b="1" spc="-155" dirty="0">
                <a:solidFill>
                  <a:srgbClr val="F5F8FA"/>
                </a:solidFill>
                <a:latin typeface="Tahoma"/>
                <a:cs typeface="Tahoma"/>
              </a:rPr>
              <a:t>256-</a:t>
            </a:r>
            <a:r>
              <a:rPr sz="1350" b="1" spc="-25" dirty="0">
                <a:solidFill>
                  <a:srgbClr val="F5F8FA"/>
                </a:solidFill>
                <a:latin typeface="Tahoma"/>
                <a:cs typeface="Tahoma"/>
              </a:rPr>
              <a:t>GCM</a:t>
            </a:r>
            <a:endParaRPr sz="1350">
              <a:latin typeface="Tahoma"/>
              <a:cs typeface="Tahoma"/>
            </a:endParaRPr>
          </a:p>
          <a:p>
            <a:pPr marL="219710">
              <a:lnSpc>
                <a:spcPct val="100000"/>
              </a:lnSpc>
            </a:pPr>
            <a:r>
              <a:rPr sz="1350" b="1" spc="-75" dirty="0">
                <a:solidFill>
                  <a:srgbClr val="F5F8FA"/>
                </a:solidFill>
                <a:latin typeface="Tahoma"/>
                <a:cs typeface="Tahoma"/>
              </a:rPr>
              <a:t>crypto</a:t>
            </a:r>
            <a:r>
              <a:rPr sz="135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containers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5079" y="2148839"/>
            <a:ext cx="2468880" cy="822960"/>
          </a:xfrm>
          <a:prstGeom prst="rect">
            <a:avLst/>
          </a:prstGeom>
          <a:solidFill>
            <a:srgbClr val="1F9BD1"/>
          </a:solidFill>
          <a:ln w="15240">
            <a:solidFill>
              <a:srgbClr val="304355"/>
            </a:solidFill>
          </a:ln>
        </p:spPr>
        <p:txBody>
          <a:bodyPr vert="horz" wrap="square" lIns="0" tIns="193040" rIns="0" bIns="0" rtlCol="0">
            <a:spAutoFit/>
          </a:bodyPr>
          <a:lstStyle/>
          <a:p>
            <a:pPr marL="220345" marR="837565">
              <a:lnSpc>
                <a:spcPct val="100000"/>
              </a:lnSpc>
              <a:spcBef>
                <a:spcPts val="1520"/>
              </a:spcBef>
            </a:pPr>
            <a:r>
              <a:rPr sz="1350" b="1" spc="-65" dirty="0">
                <a:solidFill>
                  <a:srgbClr val="F5F8FA"/>
                </a:solidFill>
                <a:latin typeface="Tahoma"/>
                <a:cs typeface="Tahoma"/>
              </a:rPr>
              <a:t>Sensor</a:t>
            </a:r>
            <a:r>
              <a:rPr sz="1350" b="1" spc="-10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topic </a:t>
            </a:r>
            <a:r>
              <a:rPr sz="1350" b="1" spc="-90" dirty="0">
                <a:solidFill>
                  <a:srgbClr val="F5F8FA"/>
                </a:solidFill>
                <a:latin typeface="Tahoma"/>
                <a:cs typeface="Tahoma"/>
              </a:rPr>
              <a:t>random </a:t>
            </a:r>
            <a:r>
              <a:rPr sz="1350" b="1" spc="-75" dirty="0">
                <a:solidFill>
                  <a:srgbClr val="F5F8FA"/>
                </a:solidFill>
                <a:latin typeface="Tahoma"/>
                <a:cs typeface="Tahoma"/>
              </a:rPr>
              <a:t>telemetry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89719" y="2148839"/>
            <a:ext cx="2057400" cy="822960"/>
          </a:xfrm>
          <a:prstGeom prst="rect">
            <a:avLst/>
          </a:prstGeom>
          <a:solidFill>
            <a:srgbClr val="E39B37"/>
          </a:solidFill>
          <a:ln w="15240">
            <a:solidFill>
              <a:srgbClr val="304355"/>
            </a:solidFill>
          </a:ln>
        </p:spPr>
        <p:txBody>
          <a:bodyPr vert="horz" wrap="square" lIns="0" tIns="193040" rIns="0" bIns="0" rtlCol="0">
            <a:spAutoFit/>
          </a:bodyPr>
          <a:lstStyle/>
          <a:p>
            <a:pPr marL="220345" marR="811530">
              <a:lnSpc>
                <a:spcPct val="100000"/>
              </a:lnSpc>
              <a:spcBef>
                <a:spcPts val="1520"/>
              </a:spcBef>
            </a:pP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Grafana </a:t>
            </a:r>
            <a:r>
              <a:rPr sz="1350" b="1" spc="-70" dirty="0">
                <a:solidFill>
                  <a:srgbClr val="F5F8FA"/>
                </a:solidFill>
                <a:latin typeface="Tahoma"/>
                <a:cs typeface="Tahoma"/>
              </a:rPr>
              <a:t>observability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2018" y="3971290"/>
            <a:ext cx="10574020" cy="1155700"/>
            <a:chOff x="652018" y="3971290"/>
            <a:chExt cx="10574020" cy="1155700"/>
          </a:xfrm>
        </p:grpSpPr>
        <p:sp>
          <p:nvSpPr>
            <p:cNvPr id="9" name="object 9"/>
            <p:cNvSpPr/>
            <p:nvPr/>
          </p:nvSpPr>
          <p:spPr>
            <a:xfrm>
              <a:off x="658368" y="3977640"/>
              <a:ext cx="10561320" cy="1143000"/>
            </a:xfrm>
            <a:custGeom>
              <a:avLst/>
              <a:gdLst/>
              <a:ahLst/>
              <a:cxnLst/>
              <a:rect l="l" t="t" r="r" b="b"/>
              <a:pathLst>
                <a:path w="10561320" h="1143000">
                  <a:moveTo>
                    <a:pt x="1056132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561320" y="1143000"/>
                  </a:lnTo>
                  <a:lnTo>
                    <a:pt x="10561320" y="0"/>
                  </a:lnTo>
                  <a:close/>
                </a:path>
              </a:pathLst>
            </a:custGeom>
            <a:solidFill>
              <a:srgbClr val="040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8368" y="3977640"/>
              <a:ext cx="10561320" cy="1143000"/>
            </a:xfrm>
            <a:custGeom>
              <a:avLst/>
              <a:gdLst/>
              <a:ahLst/>
              <a:cxnLst/>
              <a:rect l="l" t="t" r="r" b="b"/>
              <a:pathLst>
                <a:path w="10561320" h="1143000">
                  <a:moveTo>
                    <a:pt x="0" y="1143000"/>
                  </a:moveTo>
                  <a:lnTo>
                    <a:pt x="10561320" y="1143000"/>
                  </a:lnTo>
                  <a:lnTo>
                    <a:pt x="1056132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3043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536" y="4459808"/>
              <a:ext cx="3343910" cy="155752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1659" y="6449364"/>
            <a:ext cx="52387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rgbClr val="7E8E9F"/>
                </a:solidFill>
                <a:latin typeface="Trebuchet MS"/>
                <a:cs typeface="Trebuchet MS"/>
              </a:rPr>
              <a:t>Проект</a:t>
            </a:r>
            <a:r>
              <a:rPr sz="500" spc="-35" dirty="0">
                <a:solidFill>
                  <a:srgbClr val="7E8E9F"/>
                </a:solidFill>
                <a:latin typeface="Trebuchet MS"/>
                <a:cs typeface="Trebuchet MS"/>
              </a:rPr>
              <a:t> </a:t>
            </a:r>
            <a:r>
              <a:rPr sz="500" spc="-10" dirty="0">
                <a:solidFill>
                  <a:srgbClr val="7E8E9F"/>
                </a:solidFill>
                <a:latin typeface="Trebuchet MS"/>
                <a:cs typeface="Trebuchet MS"/>
              </a:rPr>
              <a:t>LiteBroker</a:t>
            </a:r>
            <a:endParaRPr sz="5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21871" y="6400291"/>
            <a:ext cx="1600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0</a:t>
            </a:r>
            <a:r>
              <a:rPr lang="ru-RU"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2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13960" y="3265716"/>
            <a:ext cx="1430020" cy="300990"/>
          </a:xfrm>
          <a:custGeom>
            <a:avLst/>
            <a:gdLst/>
            <a:ahLst/>
            <a:cxnLst/>
            <a:rect l="l" t="t" r="r" b="b"/>
            <a:pathLst>
              <a:path w="1430020" h="300989">
                <a:moveTo>
                  <a:pt x="0" y="300443"/>
                </a:moveTo>
                <a:lnTo>
                  <a:pt x="1429639" y="300443"/>
                </a:lnTo>
                <a:lnTo>
                  <a:pt x="1429639" y="0"/>
                </a:lnTo>
                <a:lnTo>
                  <a:pt x="0" y="0"/>
                </a:lnTo>
                <a:lnTo>
                  <a:pt x="0" y="300443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115125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80" dirty="0">
                <a:solidFill>
                  <a:srgbClr val="1F9BD1"/>
                </a:solidFill>
                <a:latin typeface="Tahoma"/>
                <a:cs typeface="Tahoma"/>
              </a:rPr>
              <a:t>SECURITY</a:t>
            </a:r>
            <a:r>
              <a:rPr sz="950" b="1" spc="-20" dirty="0">
                <a:solidFill>
                  <a:srgbClr val="1F9BD1"/>
                </a:solidFill>
                <a:latin typeface="Tahoma"/>
                <a:cs typeface="Tahoma"/>
              </a:rPr>
              <a:t> </a:t>
            </a:r>
            <a:r>
              <a:rPr sz="950" b="1" spc="-30" dirty="0">
                <a:solidFill>
                  <a:srgbClr val="1F9BD1"/>
                </a:solidFill>
                <a:latin typeface="Tahoma"/>
                <a:cs typeface="Tahoma"/>
              </a:rPr>
              <a:t>CONCEPT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Концепция</a:t>
            </a:r>
            <a:r>
              <a:rPr spc="-155" dirty="0"/>
              <a:t> </a:t>
            </a:r>
            <a:r>
              <a:rPr spc="-114" dirty="0"/>
              <a:t>безопасности</a:t>
            </a:r>
            <a:r>
              <a:rPr spc="-125" dirty="0"/>
              <a:t> </a:t>
            </a:r>
            <a:r>
              <a:rPr spc="-105" dirty="0"/>
              <a:t>продукта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2960" y="1828800"/>
            <a:ext cx="1737360" cy="676910"/>
          </a:xfrm>
          <a:prstGeom prst="rect">
            <a:avLst/>
          </a:prstGeom>
          <a:solidFill>
            <a:srgbClr val="1F9BD1"/>
          </a:solidFill>
          <a:ln w="15239">
            <a:solidFill>
              <a:srgbClr val="304355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Пользователь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3239" y="1828800"/>
            <a:ext cx="1554480" cy="676910"/>
          </a:xfrm>
          <a:prstGeom prst="rect">
            <a:avLst/>
          </a:prstGeom>
          <a:solidFill>
            <a:srgbClr val="151D27"/>
          </a:solidFill>
          <a:ln w="15240">
            <a:solidFill>
              <a:srgbClr val="304355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Times New Roman"/>
              <a:cs typeface="Times New Roman"/>
            </a:endParaRPr>
          </a:p>
          <a:p>
            <a:pPr marL="219710">
              <a:lnSpc>
                <a:spcPct val="100000"/>
              </a:lnSpc>
            </a:pPr>
            <a:r>
              <a:rPr sz="1350" b="1" spc="-110" dirty="0">
                <a:solidFill>
                  <a:srgbClr val="F5F8FA"/>
                </a:solidFill>
                <a:latin typeface="Tahoma"/>
                <a:cs typeface="Tahoma"/>
              </a:rPr>
              <a:t>Web </a:t>
            </a:r>
            <a:r>
              <a:rPr sz="1350" b="1" spc="-25" dirty="0">
                <a:solidFill>
                  <a:srgbClr val="F5F8FA"/>
                </a:solidFill>
                <a:latin typeface="Tahoma"/>
                <a:cs typeface="Tahoma"/>
              </a:rPr>
              <a:t>UI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66359" y="1828800"/>
            <a:ext cx="1920239" cy="67691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Times New Roman"/>
              <a:cs typeface="Times New Roman"/>
            </a:endParaRPr>
          </a:p>
          <a:p>
            <a:pPr marL="219710">
              <a:lnSpc>
                <a:spcPct val="100000"/>
              </a:lnSpc>
            </a:pPr>
            <a:r>
              <a:rPr sz="1350" b="1" spc="-90" dirty="0">
                <a:solidFill>
                  <a:srgbClr val="F5F8FA"/>
                </a:solidFill>
                <a:latin typeface="Tahoma"/>
                <a:cs typeface="Tahoma"/>
              </a:rPr>
              <a:t>LiteBroker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25" dirty="0">
                <a:solidFill>
                  <a:srgbClr val="F5F8FA"/>
                </a:solidFill>
                <a:latin typeface="Tahoma"/>
                <a:cs typeface="Tahoma"/>
              </a:rPr>
              <a:t>API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5240" y="1828800"/>
            <a:ext cx="1920239" cy="67691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Times New Roman"/>
              <a:cs typeface="Times New Roman"/>
            </a:endParaRPr>
          </a:p>
          <a:p>
            <a:pPr marL="219710">
              <a:lnSpc>
                <a:spcPct val="100000"/>
              </a:lnSpc>
            </a:pPr>
            <a:r>
              <a:rPr sz="1350" b="1" spc="-70" dirty="0">
                <a:solidFill>
                  <a:srgbClr val="F5F8FA"/>
                </a:solidFill>
                <a:latin typeface="Tahoma"/>
                <a:cs typeface="Tahoma"/>
              </a:rPr>
              <a:t>Crypto</a:t>
            </a:r>
            <a:r>
              <a:rPr sz="1350" b="1" spc="-10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Layer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12680" y="1828800"/>
            <a:ext cx="1645920" cy="676910"/>
          </a:xfrm>
          <a:prstGeom prst="rect">
            <a:avLst/>
          </a:prstGeom>
          <a:solidFill>
            <a:srgbClr val="6E49A1"/>
          </a:solidFill>
          <a:ln w="15240">
            <a:solidFill>
              <a:srgbClr val="304355"/>
            </a:solidFill>
          </a:ln>
        </p:spPr>
        <p:txBody>
          <a:bodyPr vert="horz" wrap="square" lIns="0" tIns="14351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130"/>
              </a:spcBef>
            </a:pPr>
            <a:r>
              <a:rPr sz="1200" b="1" spc="-90" dirty="0">
                <a:solidFill>
                  <a:srgbClr val="F5F8FA"/>
                </a:solidFill>
                <a:latin typeface="Tahoma"/>
                <a:cs typeface="Tahoma"/>
              </a:rPr>
              <a:t>Kafka</a:t>
            </a:r>
            <a:r>
              <a:rPr sz="1200" b="1" spc="-50" dirty="0">
                <a:solidFill>
                  <a:srgbClr val="F5F8FA"/>
                </a:solidFill>
                <a:latin typeface="Tahoma"/>
                <a:cs typeface="Tahoma"/>
              </a:rPr>
              <a:t> /</a:t>
            </a:r>
            <a:endParaRPr sz="1200">
              <a:latin typeface="Tahoma"/>
              <a:cs typeface="Tahoma"/>
            </a:endParaRPr>
          </a:p>
          <a:p>
            <a:pPr marL="220345">
              <a:lnSpc>
                <a:spcPct val="100000"/>
              </a:lnSpc>
            </a:pPr>
            <a:r>
              <a:rPr sz="1200" b="1" spc="-95" dirty="0">
                <a:solidFill>
                  <a:srgbClr val="F5F8FA"/>
                </a:solidFill>
                <a:latin typeface="Tahoma"/>
                <a:cs typeface="Tahoma"/>
              </a:rPr>
              <a:t>локальная</a:t>
            </a:r>
            <a:r>
              <a:rPr sz="1200" b="1" spc="-4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F5F8FA"/>
                </a:solidFill>
                <a:latin typeface="Tahoma"/>
                <a:cs typeface="Tahoma"/>
              </a:rPr>
              <a:t>БД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06039" y="2129027"/>
            <a:ext cx="384175" cy="76200"/>
          </a:xfrm>
          <a:custGeom>
            <a:avLst/>
            <a:gdLst/>
            <a:ahLst/>
            <a:cxnLst/>
            <a:rect l="l" t="t" r="r" b="b"/>
            <a:pathLst>
              <a:path w="384175" h="76200">
                <a:moveTo>
                  <a:pt x="307848" y="0"/>
                </a:moveTo>
                <a:lnTo>
                  <a:pt x="307848" y="76200"/>
                </a:lnTo>
                <a:lnTo>
                  <a:pt x="364998" y="47625"/>
                </a:lnTo>
                <a:lnTo>
                  <a:pt x="320548" y="47625"/>
                </a:lnTo>
                <a:lnTo>
                  <a:pt x="320548" y="28575"/>
                </a:lnTo>
                <a:lnTo>
                  <a:pt x="364998" y="28575"/>
                </a:lnTo>
                <a:lnTo>
                  <a:pt x="307848" y="0"/>
                </a:lnTo>
                <a:close/>
              </a:path>
              <a:path w="384175" h="76200">
                <a:moveTo>
                  <a:pt x="307848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07848" y="47625"/>
                </a:lnTo>
                <a:lnTo>
                  <a:pt x="307848" y="28575"/>
                </a:lnTo>
                <a:close/>
              </a:path>
              <a:path w="384175" h="76200">
                <a:moveTo>
                  <a:pt x="364998" y="28575"/>
                </a:moveTo>
                <a:lnTo>
                  <a:pt x="320548" y="28575"/>
                </a:lnTo>
                <a:lnTo>
                  <a:pt x="320548" y="47625"/>
                </a:lnTo>
                <a:lnTo>
                  <a:pt x="364998" y="47625"/>
                </a:lnTo>
                <a:lnTo>
                  <a:pt x="384048" y="38100"/>
                </a:lnTo>
                <a:lnTo>
                  <a:pt x="364998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45152" y="2129027"/>
            <a:ext cx="475615" cy="76200"/>
          </a:xfrm>
          <a:custGeom>
            <a:avLst/>
            <a:gdLst/>
            <a:ahLst/>
            <a:cxnLst/>
            <a:rect l="l" t="t" r="r" b="b"/>
            <a:pathLst>
              <a:path w="475614" h="76200">
                <a:moveTo>
                  <a:pt x="399288" y="0"/>
                </a:moveTo>
                <a:lnTo>
                  <a:pt x="399288" y="76200"/>
                </a:lnTo>
                <a:lnTo>
                  <a:pt x="456438" y="47625"/>
                </a:lnTo>
                <a:lnTo>
                  <a:pt x="411988" y="47625"/>
                </a:lnTo>
                <a:lnTo>
                  <a:pt x="411988" y="28575"/>
                </a:lnTo>
                <a:lnTo>
                  <a:pt x="456438" y="28575"/>
                </a:lnTo>
                <a:lnTo>
                  <a:pt x="399288" y="0"/>
                </a:lnTo>
                <a:close/>
              </a:path>
              <a:path w="475614" h="76200">
                <a:moveTo>
                  <a:pt x="399288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99288" y="47625"/>
                </a:lnTo>
                <a:lnTo>
                  <a:pt x="399288" y="28575"/>
                </a:lnTo>
                <a:close/>
              </a:path>
              <a:path w="475614" h="76200">
                <a:moveTo>
                  <a:pt x="456438" y="28575"/>
                </a:moveTo>
                <a:lnTo>
                  <a:pt x="411988" y="28575"/>
                </a:lnTo>
                <a:lnTo>
                  <a:pt x="411988" y="47625"/>
                </a:lnTo>
                <a:lnTo>
                  <a:pt x="456438" y="47625"/>
                </a:lnTo>
                <a:lnTo>
                  <a:pt x="475488" y="38100"/>
                </a:lnTo>
                <a:lnTo>
                  <a:pt x="456438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32319" y="2129027"/>
            <a:ext cx="429895" cy="76200"/>
          </a:xfrm>
          <a:custGeom>
            <a:avLst/>
            <a:gdLst/>
            <a:ahLst/>
            <a:cxnLst/>
            <a:rect l="l" t="t" r="r" b="b"/>
            <a:pathLst>
              <a:path w="429895" h="76200">
                <a:moveTo>
                  <a:pt x="353568" y="0"/>
                </a:moveTo>
                <a:lnTo>
                  <a:pt x="353568" y="76200"/>
                </a:lnTo>
                <a:lnTo>
                  <a:pt x="410718" y="47625"/>
                </a:lnTo>
                <a:lnTo>
                  <a:pt x="366268" y="47625"/>
                </a:lnTo>
                <a:lnTo>
                  <a:pt x="366268" y="28575"/>
                </a:lnTo>
                <a:lnTo>
                  <a:pt x="410718" y="28575"/>
                </a:lnTo>
                <a:lnTo>
                  <a:pt x="353568" y="0"/>
                </a:lnTo>
                <a:close/>
              </a:path>
              <a:path w="429895" h="76200">
                <a:moveTo>
                  <a:pt x="353568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53568" y="47625"/>
                </a:lnTo>
                <a:lnTo>
                  <a:pt x="353568" y="28575"/>
                </a:lnTo>
                <a:close/>
              </a:path>
              <a:path w="429895" h="76200">
                <a:moveTo>
                  <a:pt x="410718" y="28575"/>
                </a:moveTo>
                <a:lnTo>
                  <a:pt x="366268" y="28575"/>
                </a:lnTo>
                <a:lnTo>
                  <a:pt x="366268" y="47625"/>
                </a:lnTo>
                <a:lnTo>
                  <a:pt x="410718" y="47625"/>
                </a:lnTo>
                <a:lnTo>
                  <a:pt x="429768" y="38100"/>
                </a:lnTo>
                <a:lnTo>
                  <a:pt x="410718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82911" y="2129027"/>
            <a:ext cx="384175" cy="76200"/>
          </a:xfrm>
          <a:custGeom>
            <a:avLst/>
            <a:gdLst/>
            <a:ahLst/>
            <a:cxnLst/>
            <a:rect l="l" t="t" r="r" b="b"/>
            <a:pathLst>
              <a:path w="384175" h="76200">
                <a:moveTo>
                  <a:pt x="307848" y="0"/>
                </a:moveTo>
                <a:lnTo>
                  <a:pt x="307848" y="76200"/>
                </a:lnTo>
                <a:lnTo>
                  <a:pt x="364998" y="47625"/>
                </a:lnTo>
                <a:lnTo>
                  <a:pt x="320548" y="47625"/>
                </a:lnTo>
                <a:lnTo>
                  <a:pt x="320548" y="28575"/>
                </a:lnTo>
                <a:lnTo>
                  <a:pt x="364998" y="28575"/>
                </a:lnTo>
                <a:lnTo>
                  <a:pt x="307848" y="0"/>
                </a:lnTo>
                <a:close/>
              </a:path>
              <a:path w="384175" h="76200">
                <a:moveTo>
                  <a:pt x="307848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07848" y="47625"/>
                </a:lnTo>
                <a:lnTo>
                  <a:pt x="307848" y="28575"/>
                </a:lnTo>
                <a:close/>
              </a:path>
              <a:path w="384175" h="76200">
                <a:moveTo>
                  <a:pt x="364998" y="28575"/>
                </a:moveTo>
                <a:lnTo>
                  <a:pt x="320548" y="28575"/>
                </a:lnTo>
                <a:lnTo>
                  <a:pt x="320548" y="47625"/>
                </a:lnTo>
                <a:lnTo>
                  <a:pt x="364998" y="47625"/>
                </a:lnTo>
                <a:lnTo>
                  <a:pt x="384048" y="38100"/>
                </a:lnTo>
                <a:lnTo>
                  <a:pt x="364998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93139" y="3738753"/>
            <a:ext cx="6928484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Сценарий</a:t>
            </a:r>
            <a:r>
              <a:rPr sz="1450" spc="-7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65" dirty="0">
                <a:solidFill>
                  <a:srgbClr val="F5F8FA"/>
                </a:solidFill>
                <a:latin typeface="Trebuchet MS"/>
                <a:cs typeface="Trebuchet MS"/>
              </a:rPr>
              <a:t>1:</a:t>
            </a:r>
            <a:r>
              <a:rPr sz="145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5F8FA"/>
                </a:solidFill>
                <a:latin typeface="Trebuchet MS"/>
                <a:cs typeface="Trebuchet MS"/>
              </a:rPr>
              <a:t>пользователь</a:t>
            </a:r>
            <a:r>
              <a:rPr sz="1450" spc="-5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65" dirty="0">
                <a:solidFill>
                  <a:srgbClr val="F5F8FA"/>
                </a:solidFill>
                <a:latin typeface="Trebuchet MS"/>
                <a:cs typeface="Trebuchet MS"/>
              </a:rPr>
              <a:t>входит,</a:t>
            </a:r>
            <a:r>
              <a:rPr sz="145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выбирает</a:t>
            </a:r>
            <a:r>
              <a:rPr sz="145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собеседника,</a:t>
            </a:r>
            <a:r>
              <a:rPr sz="145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35" dirty="0">
                <a:solidFill>
                  <a:srgbClr val="F5F8FA"/>
                </a:solidFill>
                <a:latin typeface="Trebuchet MS"/>
                <a:cs typeface="Trebuchet MS"/>
              </a:rPr>
              <a:t>отправляет</a:t>
            </a:r>
            <a:r>
              <a:rPr sz="145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сообщение.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Сценарий</a:t>
            </a:r>
            <a:r>
              <a:rPr sz="145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65" dirty="0">
                <a:solidFill>
                  <a:srgbClr val="F5F8FA"/>
                </a:solidFill>
                <a:latin typeface="Trebuchet MS"/>
                <a:cs typeface="Trebuchet MS"/>
              </a:rPr>
              <a:t>2:</a:t>
            </a:r>
            <a:r>
              <a:rPr sz="145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генератор</a:t>
            </a:r>
            <a:r>
              <a:rPr sz="1450" spc="-8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5F8FA"/>
                </a:solidFill>
                <a:latin typeface="Trebuchet MS"/>
                <a:cs typeface="Trebuchet MS"/>
              </a:rPr>
              <a:t>датчиков</a:t>
            </a:r>
            <a:r>
              <a:rPr sz="145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создает</a:t>
            </a:r>
            <a:r>
              <a:rPr sz="145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30" dirty="0">
                <a:solidFill>
                  <a:srgbClr val="F5F8FA"/>
                </a:solidFill>
                <a:latin typeface="Trebuchet MS"/>
                <a:cs typeface="Trebuchet MS"/>
              </a:rPr>
              <a:t>телеметрию</a:t>
            </a:r>
            <a:r>
              <a:rPr sz="145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без</a:t>
            </a:r>
            <a:r>
              <a:rPr sz="145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участия</a:t>
            </a:r>
            <a:r>
              <a:rPr sz="145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пользователя.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Сценарий</a:t>
            </a:r>
            <a:r>
              <a:rPr sz="145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65" dirty="0">
                <a:solidFill>
                  <a:srgbClr val="F5F8FA"/>
                </a:solidFill>
                <a:latin typeface="Trebuchet MS"/>
                <a:cs typeface="Trebuchet MS"/>
              </a:rPr>
              <a:t>3:</a:t>
            </a:r>
            <a:r>
              <a:rPr sz="145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5F8FA"/>
                </a:solidFill>
                <a:latin typeface="Trebuchet MS"/>
                <a:cs typeface="Trebuchet MS"/>
              </a:rPr>
              <a:t>администратор</a:t>
            </a:r>
            <a:r>
              <a:rPr sz="145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смотрит</a:t>
            </a:r>
            <a:r>
              <a:rPr sz="145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состояние</a:t>
            </a:r>
            <a:r>
              <a:rPr sz="145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5F8FA"/>
                </a:solidFill>
                <a:latin typeface="Trebuchet MS"/>
                <a:cs typeface="Trebuchet MS"/>
              </a:rPr>
              <a:t>системы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5" dirty="0">
                <a:solidFill>
                  <a:srgbClr val="F5F8FA"/>
                </a:solidFill>
                <a:latin typeface="Trebuchet MS"/>
                <a:cs typeface="Trebuchet MS"/>
              </a:rPr>
              <a:t>в</a:t>
            </a:r>
            <a:r>
              <a:rPr sz="145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60" dirty="0">
                <a:solidFill>
                  <a:srgbClr val="F5F8FA"/>
                </a:solidFill>
                <a:latin typeface="Trebuchet MS"/>
                <a:cs typeface="Trebuchet MS"/>
              </a:rPr>
              <a:t>Grafana/Kafka</a:t>
            </a:r>
            <a:r>
              <a:rPr sz="1450" spc="-4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UI.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50" spc="-30" dirty="0">
                <a:solidFill>
                  <a:srgbClr val="F5F8FA"/>
                </a:solidFill>
                <a:latin typeface="Trebuchet MS"/>
                <a:cs typeface="Trebuchet MS"/>
              </a:rPr>
              <a:t>Граница</a:t>
            </a:r>
            <a:r>
              <a:rPr sz="1450" spc="-6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35" dirty="0">
                <a:solidFill>
                  <a:srgbClr val="F5F8FA"/>
                </a:solidFill>
                <a:latin typeface="Trebuchet MS"/>
                <a:cs typeface="Trebuchet MS"/>
              </a:rPr>
              <a:t>доверия:</a:t>
            </a:r>
            <a:r>
              <a:rPr sz="145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5F8FA"/>
                </a:solidFill>
                <a:latin typeface="Trebuchet MS"/>
                <a:cs typeface="Trebuchet MS"/>
              </a:rPr>
              <a:t>браузер</a:t>
            </a:r>
            <a:r>
              <a:rPr sz="145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работает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напрямую</a:t>
            </a:r>
            <a:r>
              <a:rPr sz="145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с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45" dirty="0">
                <a:solidFill>
                  <a:srgbClr val="F5F8FA"/>
                </a:solidFill>
                <a:latin typeface="Trebuchet MS"/>
                <a:cs typeface="Trebuchet MS"/>
              </a:rPr>
              <a:t>Kafka</a:t>
            </a:r>
            <a:r>
              <a:rPr sz="145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45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БД.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21871" y="6408012"/>
            <a:ext cx="160020" cy="1803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25" dirty="0">
                <a:solidFill>
                  <a:srgbClr val="A9B5C2"/>
                </a:solidFill>
                <a:latin typeface="Trebuchet MS"/>
                <a:cs typeface="Trebuchet MS"/>
              </a:rPr>
              <a:t>03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3568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35" dirty="0">
                <a:solidFill>
                  <a:srgbClr val="1F9BD1"/>
                </a:solidFill>
                <a:latin typeface="Tahoma"/>
                <a:cs typeface="Tahoma"/>
              </a:rPr>
              <a:t>ЦЕЛИ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Цели</a:t>
            </a:r>
            <a:r>
              <a:rPr spc="-204" dirty="0"/>
              <a:t> </a:t>
            </a:r>
            <a:r>
              <a:rPr spc="-150" dirty="0"/>
              <a:t>и</a:t>
            </a:r>
            <a:r>
              <a:rPr spc="-215" dirty="0"/>
              <a:t> </a:t>
            </a:r>
            <a:r>
              <a:rPr spc="-170" dirty="0"/>
              <a:t>предположения</a:t>
            </a:r>
            <a:r>
              <a:rPr spc="-180" dirty="0"/>
              <a:t> </a:t>
            </a:r>
            <a:r>
              <a:rPr spc="-80" dirty="0"/>
              <a:t>безопасности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1519" y="1664207"/>
            <a:ext cx="3383279" cy="411480"/>
          </a:xfrm>
          <a:prstGeom prst="rect">
            <a:avLst/>
          </a:prstGeom>
          <a:solidFill>
            <a:srgbClr val="1F9BD1"/>
          </a:solidFill>
          <a:ln w="15240">
            <a:solidFill>
              <a:srgbClr val="304355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7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sz="700" b="1" spc="-50" dirty="0">
                <a:solidFill>
                  <a:srgbClr val="F5F8FA"/>
                </a:solidFill>
                <a:latin typeface="Tahoma"/>
                <a:cs typeface="Tahoma"/>
              </a:rPr>
              <a:t>Цели</a:t>
            </a:r>
            <a:r>
              <a:rPr sz="700" b="1" spc="-4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700" b="1" spc="-10" dirty="0">
                <a:solidFill>
                  <a:srgbClr val="F5F8FA"/>
                </a:solidFill>
                <a:latin typeface="Tahoma"/>
                <a:cs typeface="Tahoma"/>
              </a:rPr>
              <a:t>безопасности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21871" y="6408012"/>
            <a:ext cx="160020" cy="1803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25" dirty="0">
                <a:solidFill>
                  <a:srgbClr val="A9B5C2"/>
                </a:solidFill>
                <a:latin typeface="Trebuchet MS"/>
                <a:cs typeface="Trebuchet MS"/>
              </a:rPr>
              <a:t>04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980" y="3220593"/>
            <a:ext cx="3850004" cy="1306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271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r>
              <a:rPr sz="14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передавать</a:t>
            </a:r>
            <a:r>
              <a:rPr sz="14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сообщение</a:t>
            </a:r>
            <a:r>
              <a:rPr sz="14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F5F8FA"/>
                </a:solidFill>
                <a:latin typeface="Trebuchet MS"/>
                <a:cs typeface="Trebuchet MS"/>
              </a:rPr>
              <a:t>как</a:t>
            </a:r>
            <a:r>
              <a:rPr sz="1400" spc="-6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открытый</a:t>
            </a:r>
            <a:r>
              <a:rPr sz="14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F5F8FA"/>
                </a:solidFill>
                <a:latin typeface="Trebuchet MS"/>
                <a:cs typeface="Trebuchet MS"/>
              </a:rPr>
              <a:t>текст;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сохранять</a:t>
            </a:r>
            <a:r>
              <a:rPr sz="14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целостность</a:t>
            </a:r>
            <a:r>
              <a:rPr sz="14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через</a:t>
            </a:r>
            <a:r>
              <a:rPr sz="14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85" dirty="0">
                <a:solidFill>
                  <a:srgbClr val="F5F8FA"/>
                </a:solidFill>
                <a:latin typeface="Trebuchet MS"/>
                <a:cs typeface="Trebuchet MS"/>
              </a:rPr>
              <a:t>GCM</a:t>
            </a:r>
            <a:r>
              <a:rPr sz="14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authTag;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разделить</a:t>
            </a:r>
            <a:r>
              <a:rPr sz="14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чат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4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датчики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по</a:t>
            </a:r>
            <a:r>
              <a:rPr sz="14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разным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topics;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r>
              <a:rPr sz="1400" spc="-12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дать</a:t>
            </a:r>
            <a:r>
              <a:rPr sz="1400" spc="-12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F5F8FA"/>
                </a:solidFill>
                <a:latin typeface="Trebuchet MS"/>
                <a:cs typeface="Trebuchet MS"/>
              </a:rPr>
              <a:t>frontend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обойти</a:t>
            </a:r>
            <a:r>
              <a:rPr sz="1400" spc="-14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API</a:t>
            </a:r>
            <a:r>
              <a:rPr sz="14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4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политику;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дать</a:t>
            </a:r>
            <a:r>
              <a:rPr sz="14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наблюдаемость</a:t>
            </a:r>
            <a:r>
              <a:rPr sz="14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без</a:t>
            </a:r>
            <a:r>
              <a:rPr sz="14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доступа</a:t>
            </a:r>
            <a:r>
              <a:rPr sz="14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F5F8FA"/>
                </a:solidFill>
                <a:latin typeface="Trebuchet MS"/>
                <a:cs typeface="Trebuchet MS"/>
              </a:rPr>
              <a:t>к</a:t>
            </a:r>
            <a:r>
              <a:rPr sz="14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управлению сообщениями.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6479" y="1664207"/>
            <a:ext cx="4023360" cy="41148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7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700" b="1" spc="-55" dirty="0">
                <a:solidFill>
                  <a:srgbClr val="F5F8FA"/>
                </a:solidFill>
                <a:latin typeface="Tahoma"/>
                <a:cs typeface="Tahoma"/>
              </a:rPr>
              <a:t>Предположения</a:t>
            </a:r>
            <a:r>
              <a:rPr sz="700" b="1" spc="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700" b="1" spc="-10" dirty="0">
                <a:solidFill>
                  <a:srgbClr val="F5F8FA"/>
                </a:solidFill>
                <a:latin typeface="Tahoma"/>
                <a:cs typeface="Tahoma"/>
              </a:rPr>
              <a:t>безопасности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1828" y="3113354"/>
            <a:ext cx="4271010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проект</a:t>
            </a:r>
            <a:r>
              <a:rPr sz="1400" spc="-15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5" dirty="0">
                <a:solidFill>
                  <a:srgbClr val="F5F8FA"/>
                </a:solidFill>
                <a:latin typeface="Trebuchet MS"/>
                <a:cs typeface="Trebuchet MS"/>
              </a:rPr>
              <a:t>учебный</a:t>
            </a:r>
            <a:r>
              <a:rPr sz="1400" spc="-15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4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запускается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локально;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30" dirty="0">
                <a:solidFill>
                  <a:srgbClr val="F5F8FA"/>
                </a:solidFill>
                <a:latin typeface="Trebuchet MS"/>
                <a:cs typeface="Trebuchet MS"/>
              </a:rPr>
              <a:t>секрет</a:t>
            </a:r>
            <a:r>
              <a:rPr sz="1400" spc="-12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шифрования</a:t>
            </a:r>
            <a:r>
              <a:rPr sz="14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задается</a:t>
            </a:r>
            <a:r>
              <a:rPr sz="14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через</a:t>
            </a:r>
            <a:r>
              <a:rPr sz="14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env;</a:t>
            </a:r>
            <a:endParaRPr sz="1400">
              <a:latin typeface="Trebuchet MS"/>
              <a:cs typeface="Trebuchet MS"/>
            </a:endParaRPr>
          </a:p>
          <a:p>
            <a:pPr marL="12700" marR="15875">
              <a:lnSpc>
                <a:spcPct val="100000"/>
              </a:lnSpc>
            </a:pPr>
            <a:r>
              <a:rPr sz="1400" spc="-40" dirty="0">
                <a:solidFill>
                  <a:srgbClr val="F5F8FA"/>
                </a:solidFill>
                <a:latin typeface="Trebuchet MS"/>
                <a:cs typeface="Trebuchet MS"/>
              </a:rPr>
              <a:t>Kafka</a:t>
            </a:r>
            <a:r>
              <a:rPr sz="1400" spc="-8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в</a:t>
            </a:r>
            <a:r>
              <a:rPr sz="14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демо</a:t>
            </a:r>
            <a:r>
              <a:rPr sz="1400" spc="-12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без</a:t>
            </a:r>
            <a:r>
              <a:rPr sz="14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TLS/SASL,</a:t>
            </a:r>
            <a:r>
              <a:rPr sz="14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но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F5F8FA"/>
                </a:solidFill>
                <a:latin typeface="Trebuchet MS"/>
                <a:cs typeface="Trebuchet MS"/>
              </a:rPr>
              <a:t>архитектура</a:t>
            </a:r>
            <a:r>
              <a:rPr sz="14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допускает усиление;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локальная</a:t>
            </a:r>
            <a:r>
              <a:rPr sz="14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БД</a:t>
            </a:r>
            <a:r>
              <a:rPr sz="14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265" dirty="0">
                <a:solidFill>
                  <a:srgbClr val="F5F8FA"/>
                </a:solidFill>
                <a:latin typeface="Trebuchet MS"/>
                <a:cs typeface="Trebuchet MS"/>
              </a:rPr>
              <a:t>—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локальное</a:t>
            </a:r>
            <a:r>
              <a:rPr sz="14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хранилище</a:t>
            </a:r>
            <a:r>
              <a:rPr sz="14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приложения;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внешние</a:t>
            </a:r>
            <a:r>
              <a:rPr sz="14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реальные</a:t>
            </a:r>
            <a:r>
              <a:rPr sz="14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аккаунты</a:t>
            </a:r>
            <a:r>
              <a:rPr sz="14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F5F8FA"/>
                </a:solidFill>
                <a:latin typeface="Trebuchet MS"/>
                <a:cs typeface="Trebuchet MS"/>
              </a:rPr>
              <a:t>Telegram</a:t>
            </a:r>
            <a:r>
              <a:rPr sz="1400" spc="-14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API</a:t>
            </a:r>
            <a:r>
              <a:rPr sz="14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используются.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43942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60" dirty="0">
                <a:solidFill>
                  <a:srgbClr val="1F9BD1"/>
                </a:solidFill>
                <a:latin typeface="Tahoma"/>
                <a:cs typeface="Tahoma"/>
              </a:rPr>
              <a:t>POLICY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Архитектура</a:t>
            </a:r>
            <a:r>
              <a:rPr spc="-175" dirty="0"/>
              <a:t> </a:t>
            </a:r>
            <a:r>
              <a:rPr spc="-150" dirty="0"/>
              <a:t>политики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4400" y="1783079"/>
            <a:ext cx="2331720" cy="868680"/>
          </a:xfrm>
          <a:prstGeom prst="rect">
            <a:avLst/>
          </a:prstGeom>
          <a:solidFill>
            <a:srgbClr val="318537"/>
          </a:solidFill>
          <a:ln w="15239">
            <a:solidFill>
              <a:srgbClr val="304355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imes New Roman"/>
              <a:cs typeface="Times New Roman"/>
            </a:endParaRPr>
          </a:p>
          <a:p>
            <a:pPr marL="219075" marR="906780">
              <a:lnSpc>
                <a:spcPct val="100000"/>
              </a:lnSpc>
            </a:pPr>
            <a:r>
              <a:rPr sz="1350" b="1" spc="-70" dirty="0">
                <a:solidFill>
                  <a:srgbClr val="F5F8FA"/>
                </a:solidFill>
                <a:latin typeface="Tahoma"/>
                <a:cs typeface="Tahoma"/>
              </a:rPr>
              <a:t>Policy</a:t>
            </a:r>
            <a:r>
              <a:rPr sz="1350" b="1" spc="-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45" dirty="0">
                <a:solidFill>
                  <a:srgbClr val="F5F8FA"/>
                </a:solidFill>
                <a:latin typeface="Tahoma"/>
                <a:cs typeface="Tahoma"/>
              </a:rPr>
              <a:t>Decision </a:t>
            </a:r>
            <a:r>
              <a:rPr sz="1350" b="1" spc="-90" dirty="0">
                <a:solidFill>
                  <a:srgbClr val="F5F8FA"/>
                </a:solidFill>
                <a:latin typeface="Tahoma"/>
                <a:cs typeface="Tahoma"/>
              </a:rPr>
              <a:t>LiteBroker</a:t>
            </a:r>
            <a:r>
              <a:rPr sz="1350" b="1" spc="-7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25" dirty="0">
                <a:solidFill>
                  <a:srgbClr val="F5F8FA"/>
                </a:solidFill>
                <a:latin typeface="Tahoma"/>
                <a:cs typeface="Tahoma"/>
              </a:rPr>
              <a:t>API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9040" y="1783079"/>
            <a:ext cx="2331720" cy="868680"/>
          </a:xfrm>
          <a:prstGeom prst="rect">
            <a:avLst/>
          </a:prstGeom>
          <a:solidFill>
            <a:srgbClr val="1F9BD1"/>
          </a:solidFill>
          <a:ln w="15240">
            <a:solidFill>
              <a:srgbClr val="304355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imes New Roman"/>
              <a:cs typeface="Times New Roman"/>
            </a:endParaRPr>
          </a:p>
          <a:p>
            <a:pPr marL="219710" marR="584200">
              <a:lnSpc>
                <a:spcPct val="100000"/>
              </a:lnSpc>
            </a:pPr>
            <a:r>
              <a:rPr sz="1350" b="1" spc="-70" dirty="0">
                <a:solidFill>
                  <a:srgbClr val="F5F8FA"/>
                </a:solidFill>
                <a:latin typeface="Tahoma"/>
                <a:cs typeface="Tahoma"/>
              </a:rPr>
              <a:t>Policy</a:t>
            </a:r>
            <a:r>
              <a:rPr sz="135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F5F8FA"/>
                </a:solidFill>
                <a:latin typeface="Tahoma"/>
                <a:cs typeface="Tahoma"/>
              </a:rPr>
              <a:t>Enforcement </a:t>
            </a:r>
            <a:r>
              <a:rPr sz="1350" b="1" spc="-114" dirty="0">
                <a:solidFill>
                  <a:srgbClr val="F5F8FA"/>
                </a:solidFill>
                <a:latin typeface="Tahoma"/>
                <a:cs typeface="Tahoma"/>
              </a:rPr>
              <a:t>HTTP</a:t>
            </a:r>
            <a:r>
              <a:rPr sz="1350" b="1" spc="-10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75" dirty="0">
                <a:solidFill>
                  <a:srgbClr val="F5F8FA"/>
                </a:solidFill>
                <a:latin typeface="Tahoma"/>
                <a:cs typeface="Tahoma"/>
              </a:rPr>
              <a:t>routes</a:t>
            </a:r>
            <a:r>
              <a:rPr sz="135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385" dirty="0">
                <a:solidFill>
                  <a:srgbClr val="F5F8FA"/>
                </a:solidFill>
                <a:latin typeface="Tahoma"/>
                <a:cs typeface="Tahoma"/>
              </a:rPr>
              <a:t>+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20" dirty="0">
                <a:solidFill>
                  <a:srgbClr val="F5F8FA"/>
                </a:solidFill>
                <a:latin typeface="Tahoma"/>
                <a:cs typeface="Tahoma"/>
              </a:rPr>
              <a:t>auth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83680" y="1783079"/>
            <a:ext cx="2240280" cy="868680"/>
          </a:xfrm>
          <a:prstGeom prst="rect">
            <a:avLst/>
          </a:prstGeom>
          <a:solidFill>
            <a:srgbClr val="6E49A1"/>
          </a:solidFill>
          <a:ln w="15240">
            <a:solidFill>
              <a:srgbClr val="304355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imes New Roman"/>
              <a:cs typeface="Times New Roman"/>
            </a:endParaRPr>
          </a:p>
          <a:p>
            <a:pPr marL="220345" marR="770890">
              <a:lnSpc>
                <a:spcPct val="100000"/>
              </a:lnSpc>
            </a:pPr>
            <a:r>
              <a:rPr sz="1350" b="1" spc="-75" dirty="0">
                <a:solidFill>
                  <a:srgbClr val="F5F8FA"/>
                </a:solidFill>
                <a:latin typeface="Tahoma"/>
                <a:cs typeface="Tahoma"/>
              </a:rPr>
              <a:t>Message</a:t>
            </a:r>
            <a:r>
              <a:rPr sz="1350" b="1" spc="-6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90" dirty="0">
                <a:solidFill>
                  <a:srgbClr val="F5F8FA"/>
                </a:solidFill>
                <a:latin typeface="Tahoma"/>
                <a:cs typeface="Tahoma"/>
              </a:rPr>
              <a:t>Broker 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Kafka</a:t>
            </a:r>
            <a:r>
              <a:rPr sz="135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topics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9719" y="1783079"/>
            <a:ext cx="2240280" cy="868680"/>
          </a:xfrm>
          <a:prstGeom prst="rect">
            <a:avLst/>
          </a:prstGeom>
          <a:solidFill>
            <a:srgbClr val="E39B37"/>
          </a:solidFill>
          <a:ln w="15240">
            <a:solidFill>
              <a:srgbClr val="304355"/>
            </a:solidFill>
          </a:ln>
        </p:spPr>
        <p:txBody>
          <a:bodyPr vert="horz" wrap="square" lIns="0" tIns="143510" rIns="0" bIns="0" rtlCol="0">
            <a:spAutoFit/>
          </a:bodyPr>
          <a:lstStyle/>
          <a:p>
            <a:pPr marL="220345" marR="262255">
              <a:lnSpc>
                <a:spcPct val="90100"/>
              </a:lnSpc>
              <a:spcBef>
                <a:spcPts val="1130"/>
              </a:spcBef>
            </a:pPr>
            <a:r>
              <a:rPr sz="1350" b="1" spc="-10" dirty="0">
                <a:solidFill>
                  <a:srgbClr val="F5F8FA"/>
                </a:solidFill>
                <a:latin typeface="Tahoma"/>
                <a:cs typeface="Tahoma"/>
              </a:rPr>
              <a:t>Observation </a:t>
            </a:r>
            <a:r>
              <a:rPr sz="1350" b="1" spc="-95" dirty="0">
                <a:solidFill>
                  <a:srgbClr val="F5F8FA"/>
                </a:solidFill>
                <a:latin typeface="Tahoma"/>
                <a:cs typeface="Tahoma"/>
              </a:rPr>
              <a:t>Prometheus/Loki/Graf </a:t>
            </a:r>
            <a:r>
              <a:rPr sz="1350" b="1" spc="-25" dirty="0">
                <a:solidFill>
                  <a:srgbClr val="F5F8FA"/>
                </a:solidFill>
                <a:latin typeface="Tahoma"/>
                <a:cs typeface="Tahoma"/>
              </a:rPr>
              <a:t>ana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19271" y="2183892"/>
            <a:ext cx="384175" cy="76200"/>
          </a:xfrm>
          <a:custGeom>
            <a:avLst/>
            <a:gdLst/>
            <a:ahLst/>
            <a:cxnLst/>
            <a:rect l="l" t="t" r="r" b="b"/>
            <a:pathLst>
              <a:path w="384175" h="76200">
                <a:moveTo>
                  <a:pt x="307848" y="0"/>
                </a:moveTo>
                <a:lnTo>
                  <a:pt x="307848" y="76200"/>
                </a:lnTo>
                <a:lnTo>
                  <a:pt x="364998" y="47625"/>
                </a:lnTo>
                <a:lnTo>
                  <a:pt x="320548" y="47625"/>
                </a:lnTo>
                <a:lnTo>
                  <a:pt x="320548" y="28575"/>
                </a:lnTo>
                <a:lnTo>
                  <a:pt x="364998" y="28575"/>
                </a:lnTo>
                <a:lnTo>
                  <a:pt x="307848" y="0"/>
                </a:lnTo>
                <a:close/>
              </a:path>
              <a:path w="384175" h="76200">
                <a:moveTo>
                  <a:pt x="307848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07848" y="47625"/>
                </a:lnTo>
                <a:lnTo>
                  <a:pt x="307848" y="28575"/>
                </a:lnTo>
                <a:close/>
              </a:path>
              <a:path w="384175" h="76200">
                <a:moveTo>
                  <a:pt x="364998" y="28575"/>
                </a:moveTo>
                <a:lnTo>
                  <a:pt x="320548" y="28575"/>
                </a:lnTo>
                <a:lnTo>
                  <a:pt x="320548" y="47625"/>
                </a:lnTo>
                <a:lnTo>
                  <a:pt x="364998" y="47625"/>
                </a:lnTo>
                <a:lnTo>
                  <a:pt x="384048" y="38100"/>
                </a:lnTo>
                <a:lnTo>
                  <a:pt x="364998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53911" y="2183892"/>
            <a:ext cx="384175" cy="76200"/>
          </a:xfrm>
          <a:custGeom>
            <a:avLst/>
            <a:gdLst/>
            <a:ahLst/>
            <a:cxnLst/>
            <a:rect l="l" t="t" r="r" b="b"/>
            <a:pathLst>
              <a:path w="384175" h="76200">
                <a:moveTo>
                  <a:pt x="307848" y="0"/>
                </a:moveTo>
                <a:lnTo>
                  <a:pt x="307848" y="76200"/>
                </a:lnTo>
                <a:lnTo>
                  <a:pt x="364997" y="47625"/>
                </a:lnTo>
                <a:lnTo>
                  <a:pt x="320548" y="47625"/>
                </a:lnTo>
                <a:lnTo>
                  <a:pt x="320548" y="28575"/>
                </a:lnTo>
                <a:lnTo>
                  <a:pt x="364997" y="28575"/>
                </a:lnTo>
                <a:lnTo>
                  <a:pt x="307848" y="0"/>
                </a:lnTo>
                <a:close/>
              </a:path>
              <a:path w="384175" h="76200">
                <a:moveTo>
                  <a:pt x="307848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07848" y="47625"/>
                </a:lnTo>
                <a:lnTo>
                  <a:pt x="307848" y="28575"/>
                </a:lnTo>
                <a:close/>
              </a:path>
              <a:path w="384175" h="76200">
                <a:moveTo>
                  <a:pt x="364997" y="28575"/>
                </a:moveTo>
                <a:lnTo>
                  <a:pt x="320548" y="28575"/>
                </a:lnTo>
                <a:lnTo>
                  <a:pt x="320548" y="47625"/>
                </a:lnTo>
                <a:lnTo>
                  <a:pt x="364997" y="47625"/>
                </a:lnTo>
                <a:lnTo>
                  <a:pt x="384047" y="38100"/>
                </a:lnTo>
                <a:lnTo>
                  <a:pt x="364997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69680" y="2183892"/>
            <a:ext cx="274320" cy="76200"/>
          </a:xfrm>
          <a:custGeom>
            <a:avLst/>
            <a:gdLst/>
            <a:ahLst/>
            <a:cxnLst/>
            <a:rect l="l" t="t" r="r" b="b"/>
            <a:pathLst>
              <a:path w="274320" h="76200">
                <a:moveTo>
                  <a:pt x="198120" y="0"/>
                </a:moveTo>
                <a:lnTo>
                  <a:pt x="198120" y="76200"/>
                </a:lnTo>
                <a:lnTo>
                  <a:pt x="255270" y="47625"/>
                </a:lnTo>
                <a:lnTo>
                  <a:pt x="210820" y="47625"/>
                </a:lnTo>
                <a:lnTo>
                  <a:pt x="210820" y="28575"/>
                </a:lnTo>
                <a:lnTo>
                  <a:pt x="255270" y="28575"/>
                </a:lnTo>
                <a:lnTo>
                  <a:pt x="198120" y="0"/>
                </a:lnTo>
                <a:close/>
              </a:path>
              <a:path w="274320" h="76200">
                <a:moveTo>
                  <a:pt x="19812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98120" y="47625"/>
                </a:lnTo>
                <a:lnTo>
                  <a:pt x="198120" y="28575"/>
                </a:lnTo>
                <a:close/>
              </a:path>
              <a:path w="274320" h="76200">
                <a:moveTo>
                  <a:pt x="255270" y="28575"/>
                </a:moveTo>
                <a:lnTo>
                  <a:pt x="210820" y="28575"/>
                </a:lnTo>
                <a:lnTo>
                  <a:pt x="210820" y="47625"/>
                </a:lnTo>
                <a:lnTo>
                  <a:pt x="255270" y="47625"/>
                </a:lnTo>
                <a:lnTo>
                  <a:pt x="274320" y="38100"/>
                </a:lnTo>
                <a:lnTo>
                  <a:pt x="255270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3139" y="3836289"/>
            <a:ext cx="8208009" cy="897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Разрешены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только</a:t>
            </a:r>
            <a:r>
              <a:rPr sz="1400" spc="-4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операции</a:t>
            </a:r>
            <a:r>
              <a:rPr sz="1400" spc="1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через</a:t>
            </a:r>
            <a:r>
              <a:rPr sz="1400" spc="-4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API:</a:t>
            </a:r>
            <a:r>
              <a:rPr sz="1400" spc="-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login/register/users/messages/sensors/metrics.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</a:pPr>
            <a:r>
              <a:rPr sz="1400" spc="-40" dirty="0">
                <a:solidFill>
                  <a:srgbClr val="F5F8FA"/>
                </a:solidFill>
                <a:latin typeface="Trebuchet MS"/>
                <a:cs typeface="Trebuchet MS"/>
              </a:rPr>
              <a:t>Для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сообщений</a:t>
            </a:r>
            <a:r>
              <a:rPr sz="1400" spc="-5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обязательны: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авторизованный</a:t>
            </a:r>
            <a:r>
              <a:rPr sz="1400" spc="-1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пользователь,</a:t>
            </a:r>
            <a:r>
              <a:rPr sz="1400" spc="-4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выбранный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F5F8FA"/>
                </a:solidFill>
                <a:latin typeface="Trebuchet MS"/>
                <a:cs typeface="Trebuchet MS"/>
              </a:rPr>
              <a:t>recipient,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crypto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container. </a:t>
            </a:r>
            <a:r>
              <a:rPr sz="1400" spc="-40" dirty="0">
                <a:solidFill>
                  <a:srgbClr val="F5F8FA"/>
                </a:solidFill>
                <a:latin typeface="Trebuchet MS"/>
                <a:cs typeface="Trebuchet MS"/>
              </a:rPr>
              <a:t>Для</a:t>
            </a:r>
            <a:r>
              <a:rPr sz="1400" spc="-5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каждого</a:t>
            </a:r>
            <a:r>
              <a:rPr sz="1400" spc="-5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домена</a:t>
            </a:r>
            <a:r>
              <a:rPr sz="1400" spc="-6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задается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разрешенный</a:t>
            </a:r>
            <a:r>
              <a:rPr sz="1400" spc="-4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тип</a:t>
            </a:r>
            <a:r>
              <a:rPr sz="1400" spc="-4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взаимодействия:</a:t>
            </a:r>
            <a:r>
              <a:rPr sz="1400" spc="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chat</a:t>
            </a:r>
            <a:r>
              <a:rPr sz="1400" spc="-5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topic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или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sensor</a:t>
            </a:r>
            <a:r>
              <a:rPr sz="1400" spc="-7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topic.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Все,</a:t>
            </a:r>
            <a:r>
              <a:rPr sz="140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что</a:t>
            </a:r>
            <a:r>
              <a:rPr sz="140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r>
              <a:rPr sz="140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описано</a:t>
            </a:r>
            <a:r>
              <a:rPr sz="1400" spc="-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в</a:t>
            </a:r>
            <a:r>
              <a:rPr sz="1400" spc="-8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политике,</a:t>
            </a:r>
            <a:r>
              <a:rPr sz="1400" spc="-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считается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неразрешенным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по</a:t>
            </a:r>
            <a:r>
              <a:rPr sz="1400" spc="-6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умолчанию.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21871" y="6408012"/>
            <a:ext cx="160020" cy="1803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25" dirty="0">
                <a:solidFill>
                  <a:srgbClr val="A9B5C2"/>
                </a:solidFill>
                <a:latin typeface="Trebuchet MS"/>
                <a:cs typeface="Trebuchet MS"/>
              </a:rPr>
              <a:t>05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64770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35" dirty="0">
                <a:solidFill>
                  <a:srgbClr val="1F9BD1"/>
                </a:solidFill>
                <a:latin typeface="Tahoma"/>
                <a:cs typeface="Tahoma"/>
              </a:rPr>
              <a:t>SEQUENCE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Базовый</a:t>
            </a:r>
            <a:r>
              <a:rPr spc="-200" dirty="0"/>
              <a:t> </a:t>
            </a:r>
            <a:r>
              <a:rPr spc="-110" dirty="0"/>
              <a:t>сценарий</a:t>
            </a:r>
            <a:r>
              <a:rPr spc="-190" dirty="0"/>
              <a:t> </a:t>
            </a:r>
            <a:r>
              <a:rPr spc="-170" dirty="0"/>
              <a:t>отправки</a:t>
            </a:r>
            <a:r>
              <a:rPr spc="-200" dirty="0"/>
              <a:t> </a:t>
            </a:r>
            <a:r>
              <a:rPr spc="-100" dirty="0"/>
              <a:t>сообщения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7240" y="1600200"/>
            <a:ext cx="1234440" cy="411480"/>
          </a:xfrm>
          <a:prstGeom prst="rect">
            <a:avLst/>
          </a:prstGeom>
          <a:solidFill>
            <a:srgbClr val="1F9BD1"/>
          </a:solidFill>
          <a:ln w="15239">
            <a:solidFill>
              <a:srgbClr val="304355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7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sz="700" b="1" spc="-20" dirty="0">
                <a:solidFill>
                  <a:srgbClr val="F5F8FA"/>
                </a:solidFill>
                <a:latin typeface="Tahoma"/>
                <a:cs typeface="Tahoma"/>
              </a:rPr>
              <a:t>User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99032" y="2029967"/>
            <a:ext cx="0" cy="3429000"/>
          </a:xfrm>
          <a:custGeom>
            <a:avLst/>
            <a:gdLst/>
            <a:ahLst/>
            <a:cxnLst/>
            <a:rect l="l" t="t" r="r" b="b"/>
            <a:pathLst>
              <a:path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ln w="1270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14600" y="1600200"/>
            <a:ext cx="1234440" cy="411480"/>
          </a:xfrm>
          <a:prstGeom prst="rect">
            <a:avLst/>
          </a:prstGeom>
          <a:solidFill>
            <a:srgbClr val="151D27"/>
          </a:solidFill>
          <a:ln w="15240">
            <a:solidFill>
              <a:srgbClr val="304355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700">
              <a:latin typeface="Times New Roman"/>
              <a:cs typeface="Times New Roman"/>
            </a:endParaRPr>
          </a:p>
          <a:p>
            <a:pPr marL="219710">
              <a:lnSpc>
                <a:spcPct val="100000"/>
              </a:lnSpc>
            </a:pPr>
            <a:r>
              <a:rPr sz="700" b="1" spc="-55" dirty="0">
                <a:solidFill>
                  <a:srgbClr val="F5F8FA"/>
                </a:solidFill>
                <a:latin typeface="Tahoma"/>
                <a:cs typeface="Tahoma"/>
              </a:rPr>
              <a:t>Web</a:t>
            </a:r>
            <a:r>
              <a:rPr sz="700" b="1" spc="-4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700" b="1" spc="-35" dirty="0">
                <a:solidFill>
                  <a:srgbClr val="F5F8FA"/>
                </a:solidFill>
                <a:latin typeface="Tahoma"/>
                <a:cs typeface="Tahoma"/>
              </a:rPr>
              <a:t>UI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36392" y="2029967"/>
            <a:ext cx="0" cy="3429000"/>
          </a:xfrm>
          <a:custGeom>
            <a:avLst/>
            <a:gdLst/>
            <a:ahLst/>
            <a:cxnLst/>
            <a:rect l="l" t="t" r="r" b="b"/>
            <a:pathLst>
              <a:path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ln w="1270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80559" y="1600200"/>
            <a:ext cx="1234440" cy="41148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700">
              <a:latin typeface="Times New Roman"/>
              <a:cs typeface="Times New Roman"/>
            </a:endParaRPr>
          </a:p>
          <a:p>
            <a:pPr marL="219710">
              <a:lnSpc>
                <a:spcPct val="100000"/>
              </a:lnSpc>
            </a:pPr>
            <a:r>
              <a:rPr sz="700" b="1" spc="-25" dirty="0">
                <a:solidFill>
                  <a:srgbClr val="F5F8FA"/>
                </a:solidFill>
                <a:latin typeface="Tahoma"/>
                <a:cs typeface="Tahoma"/>
              </a:rPr>
              <a:t>API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02352" y="2029967"/>
            <a:ext cx="0" cy="3429000"/>
          </a:xfrm>
          <a:custGeom>
            <a:avLst/>
            <a:gdLst/>
            <a:ahLst/>
            <a:cxnLst/>
            <a:rect l="l" t="t" r="r" b="b"/>
            <a:pathLst>
              <a:path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ln w="1270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46520" y="1600200"/>
            <a:ext cx="1234440" cy="41148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7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700" b="1" spc="-10" dirty="0">
                <a:solidFill>
                  <a:srgbClr val="F5F8FA"/>
                </a:solidFill>
                <a:latin typeface="Tahoma"/>
                <a:cs typeface="Tahoma"/>
              </a:rPr>
              <a:t>Crypto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68311" y="2029967"/>
            <a:ext cx="0" cy="3429000"/>
          </a:xfrm>
          <a:custGeom>
            <a:avLst/>
            <a:gdLst/>
            <a:ahLst/>
            <a:cxnLst/>
            <a:rect l="l" t="t" r="r" b="b"/>
            <a:pathLst>
              <a:path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ln w="1270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412480" y="1600200"/>
            <a:ext cx="1234440" cy="411480"/>
          </a:xfrm>
          <a:prstGeom prst="rect">
            <a:avLst/>
          </a:prstGeom>
          <a:solidFill>
            <a:srgbClr val="151D27"/>
          </a:solidFill>
          <a:ln w="15240">
            <a:solidFill>
              <a:srgbClr val="304355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7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700" b="1" spc="-65" dirty="0">
                <a:solidFill>
                  <a:srgbClr val="F5F8FA"/>
                </a:solidFill>
                <a:latin typeface="Tahoma"/>
                <a:cs typeface="Tahoma"/>
              </a:rPr>
              <a:t>локальная</a:t>
            </a:r>
            <a:r>
              <a:rPr sz="700" b="1" spc="2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700" b="1" spc="-25" dirty="0">
                <a:solidFill>
                  <a:srgbClr val="F5F8FA"/>
                </a:solidFill>
                <a:latin typeface="Tahoma"/>
                <a:cs typeface="Tahoma"/>
              </a:rPr>
              <a:t>БД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034271" y="2029967"/>
            <a:ext cx="0" cy="3429000"/>
          </a:xfrm>
          <a:custGeom>
            <a:avLst/>
            <a:gdLst/>
            <a:ahLst/>
            <a:cxnLst/>
            <a:rect l="l" t="t" r="r" b="b"/>
            <a:pathLst>
              <a:path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ln w="1270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195559" y="1600200"/>
            <a:ext cx="1234440" cy="411480"/>
          </a:xfrm>
          <a:prstGeom prst="rect">
            <a:avLst/>
          </a:prstGeom>
          <a:solidFill>
            <a:srgbClr val="6E49A1"/>
          </a:solidFill>
          <a:ln w="15240">
            <a:solidFill>
              <a:srgbClr val="304355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7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700" b="1" spc="-10" dirty="0">
                <a:solidFill>
                  <a:srgbClr val="F5F8FA"/>
                </a:solidFill>
                <a:latin typeface="Tahoma"/>
                <a:cs typeface="Tahoma"/>
              </a:rPr>
              <a:t>Kafka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63039" y="2293620"/>
            <a:ext cx="1554480" cy="76200"/>
          </a:xfrm>
          <a:custGeom>
            <a:avLst/>
            <a:gdLst/>
            <a:ahLst/>
            <a:cxnLst/>
            <a:rect l="l" t="t" r="r" b="b"/>
            <a:pathLst>
              <a:path w="1554480" h="76200">
                <a:moveTo>
                  <a:pt x="1478280" y="0"/>
                </a:moveTo>
                <a:lnTo>
                  <a:pt x="1478280" y="76200"/>
                </a:lnTo>
                <a:lnTo>
                  <a:pt x="1539240" y="45719"/>
                </a:lnTo>
                <a:lnTo>
                  <a:pt x="1490980" y="45719"/>
                </a:lnTo>
                <a:lnTo>
                  <a:pt x="1490980" y="30479"/>
                </a:lnTo>
                <a:lnTo>
                  <a:pt x="1539239" y="30479"/>
                </a:lnTo>
                <a:lnTo>
                  <a:pt x="1478280" y="0"/>
                </a:lnTo>
                <a:close/>
              </a:path>
              <a:path w="1554480" h="76200">
                <a:moveTo>
                  <a:pt x="1478280" y="30479"/>
                </a:moveTo>
                <a:lnTo>
                  <a:pt x="0" y="30479"/>
                </a:lnTo>
                <a:lnTo>
                  <a:pt x="0" y="45719"/>
                </a:lnTo>
                <a:lnTo>
                  <a:pt x="1478280" y="45719"/>
                </a:lnTo>
                <a:lnTo>
                  <a:pt x="1478280" y="30479"/>
                </a:lnTo>
                <a:close/>
              </a:path>
              <a:path w="1554480" h="76200">
                <a:moveTo>
                  <a:pt x="1539239" y="30479"/>
                </a:moveTo>
                <a:lnTo>
                  <a:pt x="1490980" y="30479"/>
                </a:lnTo>
                <a:lnTo>
                  <a:pt x="1490980" y="45719"/>
                </a:lnTo>
                <a:lnTo>
                  <a:pt x="1539240" y="45719"/>
                </a:lnTo>
                <a:lnTo>
                  <a:pt x="1554480" y="38100"/>
                </a:lnTo>
                <a:lnTo>
                  <a:pt x="1539239" y="30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5166359" y="2023617"/>
            <a:ext cx="5657850" cy="3441700"/>
            <a:chOff x="5166359" y="2023617"/>
            <a:chExt cx="5657850" cy="3441700"/>
          </a:xfrm>
        </p:grpSpPr>
        <p:sp>
          <p:nvSpPr>
            <p:cNvPr id="19" name="object 19"/>
            <p:cNvSpPr/>
            <p:nvPr/>
          </p:nvSpPr>
          <p:spPr>
            <a:xfrm>
              <a:off x="10817351" y="2029967"/>
              <a:ext cx="0" cy="3429000"/>
            </a:xfrm>
            <a:custGeom>
              <a:avLst/>
              <a:gdLst/>
              <a:ahLst/>
              <a:cxnLst/>
              <a:rect l="l" t="t" r="r" b="b"/>
              <a:pathLst>
                <a:path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ln w="12700">
              <a:solidFill>
                <a:srgbClr val="3043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66359" y="3665219"/>
              <a:ext cx="3749040" cy="76200"/>
            </a:xfrm>
            <a:custGeom>
              <a:avLst/>
              <a:gdLst/>
              <a:ahLst/>
              <a:cxnLst/>
              <a:rect l="l" t="t" r="r" b="b"/>
              <a:pathLst>
                <a:path w="3749040" h="76200">
                  <a:moveTo>
                    <a:pt x="3672840" y="0"/>
                  </a:moveTo>
                  <a:lnTo>
                    <a:pt x="3672840" y="76199"/>
                  </a:lnTo>
                  <a:lnTo>
                    <a:pt x="3733799" y="45719"/>
                  </a:lnTo>
                  <a:lnTo>
                    <a:pt x="3685540" y="45719"/>
                  </a:lnTo>
                  <a:lnTo>
                    <a:pt x="3685540" y="30479"/>
                  </a:lnTo>
                  <a:lnTo>
                    <a:pt x="3733799" y="30479"/>
                  </a:lnTo>
                  <a:lnTo>
                    <a:pt x="3672840" y="0"/>
                  </a:lnTo>
                  <a:close/>
                </a:path>
                <a:path w="3749040" h="76200">
                  <a:moveTo>
                    <a:pt x="3672840" y="30479"/>
                  </a:moveTo>
                  <a:lnTo>
                    <a:pt x="0" y="30479"/>
                  </a:lnTo>
                  <a:lnTo>
                    <a:pt x="0" y="45719"/>
                  </a:lnTo>
                  <a:lnTo>
                    <a:pt x="3672840" y="45719"/>
                  </a:lnTo>
                  <a:lnTo>
                    <a:pt x="3672840" y="30479"/>
                  </a:lnTo>
                  <a:close/>
                </a:path>
                <a:path w="3749040" h="76200">
                  <a:moveTo>
                    <a:pt x="3733799" y="30479"/>
                  </a:moveTo>
                  <a:lnTo>
                    <a:pt x="3685540" y="30479"/>
                  </a:lnTo>
                  <a:lnTo>
                    <a:pt x="3685540" y="45719"/>
                  </a:lnTo>
                  <a:lnTo>
                    <a:pt x="3733799" y="45719"/>
                  </a:lnTo>
                  <a:lnTo>
                    <a:pt x="3749040" y="38099"/>
                  </a:lnTo>
                  <a:lnTo>
                    <a:pt x="3733799" y="304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00554" y="2140966"/>
            <a:ext cx="6794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solidFill>
                  <a:srgbClr val="A9B5C2"/>
                </a:solidFill>
                <a:latin typeface="Trebuchet MS"/>
                <a:cs typeface="Trebuchet MS"/>
              </a:rPr>
              <a:t>select</a:t>
            </a:r>
            <a:r>
              <a:rPr sz="700" spc="-30" dirty="0">
                <a:solidFill>
                  <a:srgbClr val="A9B5C2"/>
                </a:solidFill>
                <a:latin typeface="Trebuchet MS"/>
                <a:cs typeface="Trebuchet MS"/>
              </a:rPr>
              <a:t> peer</a:t>
            </a:r>
            <a:r>
              <a:rPr sz="700" spc="-50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700" dirty="0">
                <a:solidFill>
                  <a:srgbClr val="A9B5C2"/>
                </a:solidFill>
                <a:latin typeface="Trebuchet MS"/>
                <a:cs typeface="Trebuchet MS"/>
              </a:rPr>
              <a:t>+</a:t>
            </a:r>
            <a:r>
              <a:rPr sz="700" spc="-55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700" spc="-20" dirty="0">
                <a:solidFill>
                  <a:srgbClr val="A9B5C2"/>
                </a:solidFill>
                <a:latin typeface="Trebuchet MS"/>
                <a:cs typeface="Trebuchet MS"/>
              </a:rPr>
              <a:t>text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00400" y="2750820"/>
            <a:ext cx="1783080" cy="76200"/>
          </a:xfrm>
          <a:custGeom>
            <a:avLst/>
            <a:gdLst/>
            <a:ahLst/>
            <a:cxnLst/>
            <a:rect l="l" t="t" r="r" b="b"/>
            <a:pathLst>
              <a:path w="1783079" h="76200">
                <a:moveTo>
                  <a:pt x="1706879" y="0"/>
                </a:moveTo>
                <a:lnTo>
                  <a:pt x="1706879" y="76200"/>
                </a:lnTo>
                <a:lnTo>
                  <a:pt x="1767840" y="45719"/>
                </a:lnTo>
                <a:lnTo>
                  <a:pt x="1719579" y="45719"/>
                </a:lnTo>
                <a:lnTo>
                  <a:pt x="1719579" y="30479"/>
                </a:lnTo>
                <a:lnTo>
                  <a:pt x="1767839" y="30479"/>
                </a:lnTo>
                <a:lnTo>
                  <a:pt x="1706879" y="0"/>
                </a:lnTo>
                <a:close/>
              </a:path>
              <a:path w="1783079" h="76200">
                <a:moveTo>
                  <a:pt x="1706879" y="30479"/>
                </a:moveTo>
                <a:lnTo>
                  <a:pt x="0" y="30479"/>
                </a:lnTo>
                <a:lnTo>
                  <a:pt x="0" y="45719"/>
                </a:lnTo>
                <a:lnTo>
                  <a:pt x="1706879" y="45719"/>
                </a:lnTo>
                <a:lnTo>
                  <a:pt x="1706879" y="30479"/>
                </a:lnTo>
                <a:close/>
              </a:path>
              <a:path w="1783079" h="76200">
                <a:moveTo>
                  <a:pt x="1767839" y="30479"/>
                </a:moveTo>
                <a:lnTo>
                  <a:pt x="1719579" y="30479"/>
                </a:lnTo>
                <a:lnTo>
                  <a:pt x="1719579" y="45719"/>
                </a:lnTo>
                <a:lnTo>
                  <a:pt x="1767840" y="45719"/>
                </a:lnTo>
                <a:lnTo>
                  <a:pt x="1783079" y="38100"/>
                </a:lnTo>
                <a:lnTo>
                  <a:pt x="1767839" y="30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82365" y="2598547"/>
            <a:ext cx="8191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A9B5C2"/>
                </a:solidFill>
                <a:latin typeface="Trebuchet MS"/>
                <a:cs typeface="Trebuchet MS"/>
              </a:rPr>
              <a:t>POST</a:t>
            </a:r>
            <a:r>
              <a:rPr sz="700" spc="-25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700" spc="-10" dirty="0">
                <a:solidFill>
                  <a:srgbClr val="A9B5C2"/>
                </a:solidFill>
                <a:latin typeface="Trebuchet MS"/>
                <a:cs typeface="Trebuchet MS"/>
              </a:rPr>
              <a:t>/api/messages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66359" y="3208020"/>
            <a:ext cx="1783080" cy="76200"/>
          </a:xfrm>
          <a:custGeom>
            <a:avLst/>
            <a:gdLst/>
            <a:ahLst/>
            <a:cxnLst/>
            <a:rect l="l" t="t" r="r" b="b"/>
            <a:pathLst>
              <a:path w="1783079" h="76200">
                <a:moveTo>
                  <a:pt x="1706880" y="0"/>
                </a:moveTo>
                <a:lnTo>
                  <a:pt x="1706880" y="76200"/>
                </a:lnTo>
                <a:lnTo>
                  <a:pt x="1767840" y="45719"/>
                </a:lnTo>
                <a:lnTo>
                  <a:pt x="1719580" y="45719"/>
                </a:lnTo>
                <a:lnTo>
                  <a:pt x="1719580" y="30479"/>
                </a:lnTo>
                <a:lnTo>
                  <a:pt x="1767839" y="30479"/>
                </a:lnTo>
                <a:lnTo>
                  <a:pt x="1706880" y="0"/>
                </a:lnTo>
                <a:close/>
              </a:path>
              <a:path w="1783079" h="76200">
                <a:moveTo>
                  <a:pt x="1706880" y="30479"/>
                </a:moveTo>
                <a:lnTo>
                  <a:pt x="0" y="30479"/>
                </a:lnTo>
                <a:lnTo>
                  <a:pt x="0" y="45719"/>
                </a:lnTo>
                <a:lnTo>
                  <a:pt x="1706880" y="45719"/>
                </a:lnTo>
                <a:lnTo>
                  <a:pt x="1706880" y="30479"/>
                </a:lnTo>
                <a:close/>
              </a:path>
              <a:path w="1783079" h="76200">
                <a:moveTo>
                  <a:pt x="1767839" y="30479"/>
                </a:moveTo>
                <a:lnTo>
                  <a:pt x="1719580" y="30479"/>
                </a:lnTo>
                <a:lnTo>
                  <a:pt x="1719580" y="45719"/>
                </a:lnTo>
                <a:lnTo>
                  <a:pt x="1767840" y="45719"/>
                </a:lnTo>
                <a:lnTo>
                  <a:pt x="1783080" y="38100"/>
                </a:lnTo>
                <a:lnTo>
                  <a:pt x="1767839" y="30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704713" y="3055747"/>
            <a:ext cx="7086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30" dirty="0">
                <a:solidFill>
                  <a:srgbClr val="A9B5C2"/>
                </a:solidFill>
                <a:latin typeface="Trebuchet MS"/>
                <a:cs typeface="Trebuchet MS"/>
              </a:rPr>
              <a:t>encrypt</a:t>
            </a:r>
            <a:r>
              <a:rPr sz="700" spc="10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700" dirty="0">
                <a:solidFill>
                  <a:srgbClr val="A9B5C2"/>
                </a:solidFill>
                <a:latin typeface="Trebuchet MS"/>
                <a:cs typeface="Trebuchet MS"/>
              </a:rPr>
              <a:t>AES-</a:t>
            </a:r>
            <a:r>
              <a:rPr sz="700" spc="-25" dirty="0">
                <a:solidFill>
                  <a:srgbClr val="A9B5C2"/>
                </a:solidFill>
                <a:latin typeface="Trebuchet MS"/>
                <a:cs typeface="Trebuchet MS"/>
              </a:rPr>
              <a:t>GCM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47764" y="3512947"/>
            <a:ext cx="5861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A9B5C2"/>
                </a:solidFill>
                <a:latin typeface="Trebuchet MS"/>
                <a:cs typeface="Trebuchet MS"/>
              </a:rPr>
              <a:t>save</a:t>
            </a:r>
            <a:r>
              <a:rPr sz="700" spc="-30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700" spc="-10" dirty="0">
                <a:solidFill>
                  <a:srgbClr val="A9B5C2"/>
                </a:solidFill>
                <a:latin typeface="Trebuchet MS"/>
                <a:cs typeface="Trebuchet MS"/>
              </a:rPr>
              <a:t>container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66359" y="4122420"/>
            <a:ext cx="5532120" cy="76200"/>
          </a:xfrm>
          <a:custGeom>
            <a:avLst/>
            <a:gdLst/>
            <a:ahLst/>
            <a:cxnLst/>
            <a:rect l="l" t="t" r="r" b="b"/>
            <a:pathLst>
              <a:path w="5532120" h="76200">
                <a:moveTo>
                  <a:pt x="5455920" y="0"/>
                </a:moveTo>
                <a:lnTo>
                  <a:pt x="5455920" y="76199"/>
                </a:lnTo>
                <a:lnTo>
                  <a:pt x="5516880" y="45719"/>
                </a:lnTo>
                <a:lnTo>
                  <a:pt x="5468620" y="45719"/>
                </a:lnTo>
                <a:lnTo>
                  <a:pt x="5468620" y="30479"/>
                </a:lnTo>
                <a:lnTo>
                  <a:pt x="5516880" y="30479"/>
                </a:lnTo>
                <a:lnTo>
                  <a:pt x="5455920" y="0"/>
                </a:lnTo>
                <a:close/>
              </a:path>
              <a:path w="5532120" h="76200">
                <a:moveTo>
                  <a:pt x="5455920" y="30479"/>
                </a:moveTo>
                <a:lnTo>
                  <a:pt x="0" y="30479"/>
                </a:lnTo>
                <a:lnTo>
                  <a:pt x="0" y="45719"/>
                </a:lnTo>
                <a:lnTo>
                  <a:pt x="5455920" y="45719"/>
                </a:lnTo>
                <a:lnTo>
                  <a:pt x="5455920" y="30479"/>
                </a:lnTo>
                <a:close/>
              </a:path>
              <a:path w="5532120" h="76200">
                <a:moveTo>
                  <a:pt x="5516880" y="30479"/>
                </a:moveTo>
                <a:lnTo>
                  <a:pt x="5468620" y="30479"/>
                </a:lnTo>
                <a:lnTo>
                  <a:pt x="5468620" y="45719"/>
                </a:lnTo>
                <a:lnTo>
                  <a:pt x="5516880" y="45719"/>
                </a:lnTo>
                <a:lnTo>
                  <a:pt x="5532120" y="38099"/>
                </a:lnTo>
                <a:lnTo>
                  <a:pt x="5516880" y="30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72196" y="3970401"/>
            <a:ext cx="5226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A9B5C2"/>
                </a:solidFill>
                <a:latin typeface="Trebuchet MS"/>
                <a:cs typeface="Trebuchet MS"/>
              </a:rPr>
              <a:t>publish</a:t>
            </a:r>
            <a:r>
              <a:rPr sz="700" spc="-60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700" spc="-10" dirty="0">
                <a:solidFill>
                  <a:srgbClr val="A9B5C2"/>
                </a:solidFill>
                <a:latin typeface="Trebuchet MS"/>
                <a:cs typeface="Trebuchet MS"/>
              </a:rPr>
              <a:t>topic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017520" y="4579620"/>
            <a:ext cx="7863840" cy="76200"/>
          </a:xfrm>
          <a:custGeom>
            <a:avLst/>
            <a:gdLst/>
            <a:ahLst/>
            <a:cxnLst/>
            <a:rect l="l" t="t" r="r" b="b"/>
            <a:pathLst>
              <a:path w="786384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5719"/>
                </a:lnTo>
                <a:lnTo>
                  <a:pt x="63500" y="45719"/>
                </a:lnTo>
                <a:lnTo>
                  <a:pt x="63500" y="30479"/>
                </a:lnTo>
                <a:lnTo>
                  <a:pt x="76200" y="30479"/>
                </a:lnTo>
                <a:lnTo>
                  <a:pt x="76200" y="0"/>
                </a:lnTo>
                <a:close/>
              </a:path>
              <a:path w="7863840" h="76200">
                <a:moveTo>
                  <a:pt x="76200" y="30479"/>
                </a:moveTo>
                <a:lnTo>
                  <a:pt x="63500" y="30479"/>
                </a:lnTo>
                <a:lnTo>
                  <a:pt x="63500" y="45719"/>
                </a:lnTo>
                <a:lnTo>
                  <a:pt x="76200" y="45719"/>
                </a:lnTo>
                <a:lnTo>
                  <a:pt x="76200" y="30479"/>
                </a:lnTo>
                <a:close/>
              </a:path>
              <a:path w="7863840" h="76200">
                <a:moveTo>
                  <a:pt x="7863839" y="30479"/>
                </a:moveTo>
                <a:lnTo>
                  <a:pt x="76200" y="30479"/>
                </a:lnTo>
                <a:lnTo>
                  <a:pt x="76200" y="45719"/>
                </a:lnTo>
                <a:lnTo>
                  <a:pt x="7863839" y="45719"/>
                </a:lnTo>
                <a:lnTo>
                  <a:pt x="7863839" y="30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666992" y="4427601"/>
            <a:ext cx="5657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A9B5C2"/>
                </a:solidFill>
                <a:latin typeface="Trebuchet MS"/>
                <a:cs typeface="Trebuchet MS"/>
              </a:rPr>
              <a:t>status</a:t>
            </a:r>
            <a:r>
              <a:rPr sz="700" spc="-45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700" dirty="0">
                <a:solidFill>
                  <a:srgbClr val="A9B5C2"/>
                </a:solidFill>
                <a:latin typeface="Trebuchet MS"/>
                <a:cs typeface="Trebuchet MS"/>
              </a:rPr>
              <a:t>+</a:t>
            </a:r>
            <a:r>
              <a:rPr sz="700" spc="-50" dirty="0">
                <a:solidFill>
                  <a:srgbClr val="A9B5C2"/>
                </a:solidFill>
                <a:latin typeface="Trebuchet MS"/>
                <a:cs typeface="Trebuchet MS"/>
              </a:rPr>
              <a:t> </a:t>
            </a:r>
            <a:r>
              <a:rPr sz="700" spc="-10" dirty="0">
                <a:solidFill>
                  <a:srgbClr val="A9B5C2"/>
                </a:solidFill>
                <a:latin typeface="Trebuchet MS"/>
                <a:cs typeface="Trebuchet MS"/>
              </a:rPr>
              <a:t>offset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421871" y="6408012"/>
            <a:ext cx="1600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0</a:t>
            </a:r>
            <a:r>
              <a:rPr lang="ru-RU"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6</a:t>
            </a:r>
            <a:endParaRPr sz="10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6280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85" dirty="0">
                <a:solidFill>
                  <a:srgbClr val="1F9BD1"/>
                </a:solidFill>
                <a:latin typeface="Tahoma"/>
                <a:cs typeface="Tahoma"/>
              </a:rPr>
              <a:t>ISOLATION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1659" y="661161"/>
            <a:ext cx="5442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Механизмы</a:t>
            </a:r>
            <a:r>
              <a:rPr spc="-220" dirty="0"/>
              <a:t> </a:t>
            </a:r>
            <a:r>
              <a:rPr spc="-150" dirty="0"/>
              <a:t>изоляции</a:t>
            </a:r>
            <a:r>
              <a:rPr spc="-225" dirty="0"/>
              <a:t> </a:t>
            </a:r>
            <a:r>
              <a:rPr spc="-150" dirty="0"/>
              <a:t>и</a:t>
            </a:r>
            <a:r>
              <a:rPr spc="-204" dirty="0"/>
              <a:t> </a:t>
            </a:r>
            <a:r>
              <a:rPr spc="-135" dirty="0"/>
              <a:t>контроля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5980" y="2624454"/>
            <a:ext cx="5463540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525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Docker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Compose: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отдельные</a:t>
            </a:r>
            <a:r>
              <a:rPr sz="1500" spc="-5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5F8FA"/>
                </a:solidFill>
                <a:latin typeface="Trebuchet MS"/>
                <a:cs typeface="Trebuchet MS"/>
              </a:rPr>
              <a:t>контейнеры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F5F8FA"/>
                </a:solidFill>
                <a:latin typeface="Trebuchet MS"/>
                <a:cs typeface="Trebuchet MS"/>
              </a:rPr>
              <a:t>для </a:t>
            </a:r>
            <a:r>
              <a:rPr sz="1500" spc="-75" dirty="0">
                <a:solidFill>
                  <a:srgbClr val="F5F8FA"/>
                </a:solidFill>
                <a:latin typeface="Trebuchet MS"/>
                <a:cs typeface="Trebuchet MS"/>
              </a:rPr>
              <a:t>LiteBroker,</a:t>
            </a:r>
            <a:r>
              <a:rPr sz="150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Kafka,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Kafka</a:t>
            </a:r>
            <a:r>
              <a:rPr sz="15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F5F8FA"/>
                </a:solidFill>
                <a:latin typeface="Trebuchet MS"/>
                <a:cs typeface="Trebuchet MS"/>
              </a:rPr>
              <a:t>UI,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5F8FA"/>
                </a:solidFill>
                <a:latin typeface="Trebuchet MS"/>
                <a:cs typeface="Trebuchet MS"/>
              </a:rPr>
              <a:t>Prometheus,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F5F8FA"/>
                </a:solidFill>
                <a:latin typeface="Trebuchet MS"/>
                <a:cs typeface="Trebuchet MS"/>
              </a:rPr>
              <a:t>Loki/Promtail,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Grafana.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Kafka</a:t>
            </a:r>
            <a:r>
              <a:rPr sz="15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5F8FA"/>
                </a:solidFill>
                <a:latin typeface="Trebuchet MS"/>
                <a:cs typeface="Trebuchet MS"/>
              </a:rPr>
              <a:t>topics:</a:t>
            </a:r>
            <a:r>
              <a:rPr sz="15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F5F8FA"/>
                </a:solidFill>
                <a:latin typeface="Trebuchet MS"/>
                <a:cs typeface="Trebuchet MS"/>
              </a:rPr>
              <a:t>отдельный</a:t>
            </a:r>
            <a:r>
              <a:rPr sz="15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5F8FA"/>
                </a:solidFill>
                <a:latin typeface="Trebuchet MS"/>
                <a:cs typeface="Trebuchet MS"/>
              </a:rPr>
              <a:t>поток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F5F8FA"/>
                </a:solidFill>
                <a:latin typeface="Trebuchet MS"/>
                <a:cs typeface="Trebuchet MS"/>
              </a:rPr>
              <a:t>для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5F8FA"/>
                </a:solidFill>
                <a:latin typeface="Trebuchet MS"/>
                <a:cs typeface="Trebuchet MS"/>
              </a:rPr>
              <a:t>каждого</a:t>
            </a:r>
            <a:r>
              <a:rPr sz="15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чата</a:t>
            </a:r>
            <a:r>
              <a:rPr sz="15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5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отдельный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spc="-20" dirty="0">
                <a:solidFill>
                  <a:srgbClr val="F5F8FA"/>
                </a:solidFill>
                <a:latin typeface="Trebuchet MS"/>
                <a:cs typeface="Trebuchet MS"/>
              </a:rPr>
              <a:t>поток</a:t>
            </a:r>
            <a:r>
              <a:rPr sz="15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F5F8FA"/>
                </a:solidFill>
                <a:latin typeface="Trebuchet MS"/>
                <a:cs typeface="Trebuchet MS"/>
              </a:rPr>
              <a:t>для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датчиков.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API</a:t>
            </a:r>
            <a:r>
              <a:rPr sz="1500" spc="-12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boundary: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браузер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получает</a:t>
            </a:r>
            <a:r>
              <a:rPr sz="15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доступ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F5F8FA"/>
                </a:solidFill>
                <a:latin typeface="Trebuchet MS"/>
                <a:cs typeface="Trebuchet MS"/>
              </a:rPr>
              <a:t>к</a:t>
            </a:r>
            <a:r>
              <a:rPr sz="15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локальная</a:t>
            </a:r>
            <a:r>
              <a:rPr sz="150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БД/Kafka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напрямую.</a:t>
            </a:r>
            <a:endParaRPr sz="1500">
              <a:latin typeface="Trebuchet MS"/>
              <a:cs typeface="Trebuchet MS"/>
            </a:endParaRPr>
          </a:p>
          <a:p>
            <a:pPr marL="12700" marR="245745">
              <a:lnSpc>
                <a:spcPct val="100000"/>
              </a:lnSpc>
            </a:pP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Crypto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boundary:</a:t>
            </a:r>
            <a:r>
              <a:rPr sz="15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5F8FA"/>
                </a:solidFill>
                <a:latin typeface="Trebuchet MS"/>
                <a:cs typeface="Trebuchet MS"/>
              </a:rPr>
              <a:t>весь</a:t>
            </a:r>
            <a:r>
              <a:rPr sz="15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F5F8FA"/>
                </a:solidFill>
                <a:latin typeface="Trebuchet MS"/>
                <a:cs typeface="Trebuchet MS"/>
              </a:rPr>
              <a:t>текст</a:t>
            </a:r>
            <a:r>
              <a:rPr sz="15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5F8FA"/>
                </a:solidFill>
                <a:latin typeface="Trebuchet MS"/>
                <a:cs typeface="Trebuchet MS"/>
              </a:rPr>
              <a:t>проходит</a:t>
            </a:r>
            <a:r>
              <a:rPr sz="150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через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AES-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256-</a:t>
            </a:r>
            <a:r>
              <a:rPr sz="1500" spc="95" dirty="0">
                <a:solidFill>
                  <a:srgbClr val="F5F8FA"/>
                </a:solidFill>
                <a:latin typeface="Trebuchet MS"/>
                <a:cs typeface="Trebuchet MS"/>
              </a:rPr>
              <a:t>GCM</a:t>
            </a:r>
            <a:r>
              <a:rPr sz="15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до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сохранения/публикации.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spc="-35" dirty="0">
                <a:solidFill>
                  <a:srgbClr val="F5F8FA"/>
                </a:solidFill>
                <a:latin typeface="Trebuchet MS"/>
                <a:cs typeface="Trebuchet MS"/>
              </a:rPr>
              <a:t>Monitoring</a:t>
            </a:r>
            <a:r>
              <a:rPr sz="15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5F8FA"/>
                </a:solidFill>
                <a:latin typeface="Trebuchet MS"/>
                <a:cs typeface="Trebuchet MS"/>
              </a:rPr>
              <a:t>boundary:</a:t>
            </a:r>
            <a:r>
              <a:rPr sz="1500" spc="-13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Grafana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5F8FA"/>
                </a:solidFill>
                <a:latin typeface="Trebuchet MS"/>
                <a:cs typeface="Trebuchet MS"/>
              </a:rPr>
              <a:t>наблюдает</a:t>
            </a:r>
            <a:r>
              <a:rPr sz="150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метрики</a:t>
            </a:r>
            <a:r>
              <a:rPr sz="1500" spc="-13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500" spc="-12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F5F8FA"/>
                </a:solidFill>
                <a:latin typeface="Trebuchet MS"/>
                <a:cs typeface="Trebuchet MS"/>
              </a:rPr>
              <a:t>логи,</a:t>
            </a:r>
            <a:r>
              <a:rPr sz="15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5F8FA"/>
                </a:solidFill>
                <a:latin typeface="Trebuchet MS"/>
                <a:cs typeface="Trebuchet MS"/>
              </a:rPr>
              <a:t>но</a:t>
            </a:r>
            <a:r>
              <a:rPr sz="150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40" dirty="0">
                <a:solidFill>
                  <a:srgbClr val="F5F8FA"/>
                </a:solidFill>
                <a:latin typeface="Trebuchet MS"/>
                <a:cs typeface="Trebuchet MS"/>
              </a:rPr>
              <a:t>управляет</a:t>
            </a:r>
            <a:r>
              <a:rPr sz="15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5F8FA"/>
                </a:solidFill>
                <a:latin typeface="Trebuchet MS"/>
                <a:cs typeface="Trebuchet MS"/>
              </a:rPr>
              <a:t>сообщениями.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21871" y="6408012"/>
            <a:ext cx="1600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0</a:t>
            </a:r>
            <a:r>
              <a:rPr lang="ru-RU"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7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86600" y="1874520"/>
            <a:ext cx="4023360" cy="256032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16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1600" b="1" spc="-100" dirty="0">
                <a:solidFill>
                  <a:srgbClr val="F5F8FA"/>
                </a:solidFill>
                <a:latin typeface="Tahoma"/>
                <a:cs typeface="Tahoma"/>
              </a:rPr>
              <a:t>Почему</a:t>
            </a:r>
            <a:r>
              <a:rPr sz="1600" b="1" spc="-114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5F8FA"/>
                </a:solidFill>
                <a:latin typeface="Tahoma"/>
                <a:cs typeface="Tahoma"/>
              </a:rPr>
              <a:t>так:</a:t>
            </a:r>
            <a:endParaRPr sz="1600">
              <a:latin typeface="Tahoma"/>
              <a:cs typeface="Tahoma"/>
            </a:endParaRPr>
          </a:p>
          <a:p>
            <a:pPr marL="220345" marR="1193165">
              <a:lnSpc>
                <a:spcPct val="100000"/>
              </a:lnSpc>
            </a:pPr>
            <a:r>
              <a:rPr sz="1600" b="1" spc="-105" dirty="0">
                <a:solidFill>
                  <a:srgbClr val="F5F8FA"/>
                </a:solidFill>
                <a:latin typeface="Tahoma"/>
                <a:cs typeface="Tahoma"/>
              </a:rPr>
              <a:t>простые</a:t>
            </a:r>
            <a:r>
              <a:rPr sz="1600" b="1" spc="-9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600" b="1" spc="-125" dirty="0">
                <a:solidFill>
                  <a:srgbClr val="F5F8FA"/>
                </a:solidFill>
                <a:latin typeface="Tahoma"/>
                <a:cs typeface="Tahoma"/>
              </a:rPr>
              <a:t>границы</a:t>
            </a:r>
            <a:r>
              <a:rPr sz="1600" b="1" spc="-5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F5F8FA"/>
                </a:solidFill>
                <a:latin typeface="Tahoma"/>
                <a:cs typeface="Tahoma"/>
              </a:rPr>
              <a:t>доверия, </a:t>
            </a:r>
            <a:r>
              <a:rPr sz="1600" b="1" spc="-100" dirty="0">
                <a:solidFill>
                  <a:srgbClr val="F5F8FA"/>
                </a:solidFill>
                <a:latin typeface="Tahoma"/>
                <a:cs typeface="Tahoma"/>
              </a:rPr>
              <a:t>меньше</a:t>
            </a:r>
            <a:r>
              <a:rPr sz="1600" b="1" spc="-9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5F8FA"/>
                </a:solidFill>
                <a:latin typeface="Tahoma"/>
                <a:cs typeface="Tahoma"/>
              </a:rPr>
              <a:t>связность,</a:t>
            </a:r>
            <a:endParaRPr sz="1600">
              <a:latin typeface="Tahoma"/>
              <a:cs typeface="Tahoma"/>
            </a:endParaRPr>
          </a:p>
          <a:p>
            <a:pPr marL="220345">
              <a:lnSpc>
                <a:spcPct val="100000"/>
              </a:lnSpc>
            </a:pPr>
            <a:r>
              <a:rPr sz="1600" b="1" spc="-110" dirty="0">
                <a:solidFill>
                  <a:srgbClr val="F5F8FA"/>
                </a:solidFill>
                <a:latin typeface="Tahoma"/>
                <a:cs typeface="Tahoma"/>
              </a:rPr>
              <a:t>понятная</a:t>
            </a:r>
            <a:r>
              <a:rPr sz="1600" b="1" spc="-5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F5F8FA"/>
                </a:solidFill>
                <a:latin typeface="Tahoma"/>
                <a:cs typeface="Tahoma"/>
              </a:rPr>
              <a:t>демонстрация</a:t>
            </a:r>
            <a:r>
              <a:rPr sz="1600" b="1" spc="-6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F5F8FA"/>
                </a:solidFill>
                <a:latin typeface="Tahoma"/>
                <a:cs typeface="Tahoma"/>
              </a:rPr>
              <a:t>для</a:t>
            </a:r>
            <a:endParaRPr sz="1600">
              <a:latin typeface="Tahoma"/>
              <a:cs typeface="Tahoma"/>
            </a:endParaRPr>
          </a:p>
          <a:p>
            <a:pPr marL="220345">
              <a:lnSpc>
                <a:spcPct val="100000"/>
              </a:lnSpc>
            </a:pPr>
            <a:r>
              <a:rPr sz="1600" b="1" spc="-10" dirty="0">
                <a:solidFill>
                  <a:srgbClr val="F5F8FA"/>
                </a:solidFill>
                <a:latin typeface="Tahoma"/>
                <a:cs typeface="Tahoma"/>
              </a:rPr>
              <a:t>защиты,</a:t>
            </a:r>
            <a:endParaRPr sz="1600">
              <a:latin typeface="Tahoma"/>
              <a:cs typeface="Tahoma"/>
            </a:endParaRPr>
          </a:p>
          <a:p>
            <a:pPr marL="220345" marR="762000">
              <a:lnSpc>
                <a:spcPct val="100000"/>
              </a:lnSpc>
            </a:pPr>
            <a:r>
              <a:rPr sz="1600" b="1" spc="-135" dirty="0">
                <a:solidFill>
                  <a:srgbClr val="F5F8FA"/>
                </a:solidFill>
                <a:latin typeface="Tahoma"/>
                <a:cs typeface="Tahoma"/>
              </a:rPr>
              <a:t>легко</a:t>
            </a:r>
            <a:r>
              <a:rPr sz="1600" b="1" spc="-114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600" b="1" spc="-110" dirty="0">
                <a:solidFill>
                  <a:srgbClr val="F5F8FA"/>
                </a:solidFill>
                <a:latin typeface="Tahoma"/>
                <a:cs typeface="Tahoma"/>
              </a:rPr>
              <a:t>проверить</a:t>
            </a:r>
            <a:r>
              <a:rPr sz="160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600" b="1" spc="-135" dirty="0">
                <a:solidFill>
                  <a:srgbClr val="F5F8FA"/>
                </a:solidFill>
                <a:latin typeface="Tahoma"/>
                <a:cs typeface="Tahoma"/>
              </a:rPr>
              <a:t>в</a:t>
            </a:r>
            <a:r>
              <a:rPr sz="1600" b="1" spc="-105" dirty="0">
                <a:solidFill>
                  <a:srgbClr val="F5F8FA"/>
                </a:solidFill>
                <a:latin typeface="Tahoma"/>
                <a:cs typeface="Tahoma"/>
              </a:rPr>
              <a:t> Docker/Kafka </a:t>
            </a:r>
            <a:r>
              <a:rPr sz="1600" b="1" spc="-50" dirty="0">
                <a:solidFill>
                  <a:srgbClr val="F5F8FA"/>
                </a:solidFill>
                <a:latin typeface="Tahoma"/>
                <a:cs typeface="Tahoma"/>
              </a:rPr>
              <a:t>UI/Grafana.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1" y="-33821"/>
            <a:ext cx="12193702" cy="692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0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2813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85" dirty="0">
                <a:solidFill>
                  <a:srgbClr val="1F9BD1"/>
                </a:solidFill>
                <a:latin typeface="Tahoma"/>
                <a:cs typeface="Tahoma"/>
              </a:rPr>
              <a:t>SKIB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Политики</a:t>
            </a:r>
            <a:r>
              <a:rPr spc="-185" dirty="0"/>
              <a:t> </a:t>
            </a:r>
            <a:r>
              <a:rPr spc="-114" dirty="0"/>
              <a:t>безопасности</a:t>
            </a:r>
            <a:r>
              <a:rPr spc="-130" dirty="0"/>
              <a:t> </a:t>
            </a:r>
            <a:r>
              <a:rPr spc="-150" dirty="0"/>
              <a:t>и</a:t>
            </a:r>
            <a:r>
              <a:rPr spc="-160" dirty="0"/>
              <a:t> </a:t>
            </a:r>
            <a:r>
              <a:rPr spc="-204" dirty="0"/>
              <a:t>шаблоны</a:t>
            </a:r>
            <a:r>
              <a:rPr spc="-145" dirty="0"/>
              <a:t> </a:t>
            </a:r>
            <a:r>
              <a:rPr spc="-135" dirty="0"/>
              <a:t>security-</a:t>
            </a:r>
            <a:r>
              <a:rPr spc="-215" dirty="0"/>
              <a:t>by-</a:t>
            </a:r>
            <a:r>
              <a:rPr spc="-65" dirty="0"/>
              <a:t>design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867446" y="3056834"/>
            <a:ext cx="10565891" cy="1521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Раздельное</a:t>
            </a:r>
            <a:r>
              <a:rPr spc="-110" dirty="0"/>
              <a:t> </a:t>
            </a:r>
            <a:r>
              <a:rPr spc="-20" dirty="0"/>
              <a:t>принятие</a:t>
            </a:r>
            <a:r>
              <a:rPr spc="-125" dirty="0"/>
              <a:t> </a:t>
            </a:r>
            <a:r>
              <a:rPr dirty="0"/>
              <a:t>и</a:t>
            </a:r>
            <a:r>
              <a:rPr spc="-110" dirty="0"/>
              <a:t> </a:t>
            </a:r>
            <a:r>
              <a:rPr spc="-20" dirty="0"/>
              <a:t>применение</a:t>
            </a:r>
            <a:r>
              <a:rPr spc="-125" dirty="0"/>
              <a:t> </a:t>
            </a:r>
            <a:r>
              <a:rPr dirty="0"/>
              <a:t>решений</a:t>
            </a:r>
            <a:r>
              <a:rPr spc="-130" dirty="0"/>
              <a:t> </a:t>
            </a:r>
            <a:r>
              <a:rPr dirty="0"/>
              <a:t>о</a:t>
            </a:r>
            <a:r>
              <a:rPr spc="-85" dirty="0"/>
              <a:t> </a:t>
            </a:r>
            <a:r>
              <a:rPr spc="-10" dirty="0"/>
              <a:t>безопасности:</a:t>
            </a:r>
            <a:r>
              <a:rPr spc="-105" dirty="0"/>
              <a:t> </a:t>
            </a:r>
            <a:r>
              <a:rPr spc="-10" dirty="0"/>
              <a:t>API</a:t>
            </a:r>
            <a:r>
              <a:rPr spc="-105" dirty="0"/>
              <a:t> </a:t>
            </a:r>
            <a:r>
              <a:rPr spc="-20" dirty="0"/>
              <a:t>проверяет</a:t>
            </a:r>
            <a:r>
              <a:rPr spc="-130" dirty="0"/>
              <a:t> </a:t>
            </a:r>
            <a:r>
              <a:rPr spc="-20" dirty="0"/>
              <a:t>пользователя</a:t>
            </a:r>
            <a:r>
              <a:rPr spc="-95" dirty="0"/>
              <a:t> </a:t>
            </a:r>
            <a:r>
              <a:rPr dirty="0"/>
              <a:t>и</a:t>
            </a:r>
            <a:r>
              <a:rPr spc="-110" dirty="0"/>
              <a:t> </a:t>
            </a:r>
            <a:r>
              <a:rPr spc="-25" dirty="0"/>
              <a:t>допустимость</a:t>
            </a:r>
            <a:r>
              <a:rPr spc="-95" dirty="0"/>
              <a:t> </a:t>
            </a:r>
            <a:r>
              <a:rPr spc="-10" dirty="0"/>
              <a:t>операции,</a:t>
            </a:r>
            <a:r>
              <a:rPr spc="-120" dirty="0"/>
              <a:t> </a:t>
            </a:r>
            <a:r>
              <a:rPr spc="-10" dirty="0"/>
              <a:t>Kafka</a:t>
            </a:r>
          </a:p>
          <a:p>
            <a:pPr marL="12700">
              <a:lnSpc>
                <a:spcPct val="100000"/>
              </a:lnSpc>
            </a:pPr>
            <a:r>
              <a:rPr spc="-30" dirty="0"/>
              <a:t>только</a:t>
            </a:r>
            <a:r>
              <a:rPr spc="-75" dirty="0"/>
              <a:t> </a:t>
            </a:r>
            <a:r>
              <a:rPr spc="-10" dirty="0"/>
              <a:t>переносит</a:t>
            </a:r>
            <a:r>
              <a:rPr spc="-120" dirty="0"/>
              <a:t> </a:t>
            </a:r>
            <a:r>
              <a:rPr dirty="0"/>
              <a:t>разрешенное</a:t>
            </a:r>
            <a:r>
              <a:rPr spc="-100" dirty="0"/>
              <a:t> </a:t>
            </a:r>
            <a:r>
              <a:rPr spc="-10" dirty="0"/>
              <a:t>событие.</a:t>
            </a:r>
          </a:p>
          <a:p>
            <a:pPr marL="12700" marR="577850">
              <a:lnSpc>
                <a:spcPct val="100000"/>
              </a:lnSpc>
            </a:pPr>
            <a:r>
              <a:rPr spc="-25" dirty="0"/>
              <a:t>Выделенный</a:t>
            </a:r>
            <a:r>
              <a:rPr spc="-120" dirty="0"/>
              <a:t> </a:t>
            </a:r>
            <a:r>
              <a:rPr spc="-10" dirty="0"/>
              <a:t>обработчик</a:t>
            </a:r>
            <a:r>
              <a:rPr spc="-100" dirty="0"/>
              <a:t> </a:t>
            </a:r>
            <a:r>
              <a:rPr spc="-40" dirty="0"/>
              <a:t>для</a:t>
            </a:r>
            <a:r>
              <a:rPr spc="-80" dirty="0"/>
              <a:t> </a:t>
            </a:r>
            <a:r>
              <a:rPr spc="-10" dirty="0"/>
              <a:t>очистки</a:t>
            </a:r>
            <a:r>
              <a:rPr spc="-85" dirty="0"/>
              <a:t> </a:t>
            </a:r>
            <a:r>
              <a:rPr spc="-40" dirty="0"/>
              <a:t>данных:</a:t>
            </a:r>
            <a:r>
              <a:rPr spc="-85" dirty="0"/>
              <a:t> </a:t>
            </a:r>
            <a:r>
              <a:rPr spc="-30" dirty="0"/>
              <a:t>входные</a:t>
            </a:r>
            <a:r>
              <a:rPr spc="-80" dirty="0"/>
              <a:t> </a:t>
            </a:r>
            <a:r>
              <a:rPr dirty="0"/>
              <a:t>JSON-запросы</a:t>
            </a:r>
            <a:r>
              <a:rPr spc="-100" dirty="0"/>
              <a:t> </a:t>
            </a:r>
            <a:r>
              <a:rPr spc="-10" dirty="0"/>
              <a:t>нормализуются</a:t>
            </a:r>
            <a:r>
              <a:rPr spc="-80" dirty="0"/>
              <a:t> </a:t>
            </a:r>
            <a:r>
              <a:rPr dirty="0"/>
              <a:t>и</a:t>
            </a:r>
            <a:r>
              <a:rPr spc="-75" dirty="0"/>
              <a:t> </a:t>
            </a:r>
            <a:r>
              <a:rPr spc="-20" dirty="0"/>
              <a:t>валидируются</a:t>
            </a:r>
            <a:r>
              <a:rPr spc="-80" dirty="0"/>
              <a:t> </a:t>
            </a:r>
            <a:r>
              <a:rPr dirty="0"/>
              <a:t>на</a:t>
            </a:r>
            <a:r>
              <a:rPr spc="-75" dirty="0"/>
              <a:t> </a:t>
            </a:r>
            <a:r>
              <a:rPr spc="-10" dirty="0"/>
              <a:t>backend. </a:t>
            </a:r>
            <a:r>
              <a:rPr spc="-25" dirty="0"/>
              <a:t>Выделенный</a:t>
            </a:r>
            <a:r>
              <a:rPr spc="-90" dirty="0"/>
              <a:t> </a:t>
            </a:r>
            <a:r>
              <a:rPr spc="-30" dirty="0"/>
              <a:t>механизм</a:t>
            </a:r>
            <a:r>
              <a:rPr spc="-65" dirty="0"/>
              <a:t> </a:t>
            </a:r>
            <a:r>
              <a:rPr spc="-10" dirty="0"/>
              <a:t>поддержания</a:t>
            </a:r>
            <a:r>
              <a:rPr spc="-105" dirty="0"/>
              <a:t> </a:t>
            </a:r>
            <a:r>
              <a:rPr spc="-10" dirty="0"/>
              <a:t>состояния</a:t>
            </a:r>
            <a:r>
              <a:rPr spc="-80" dirty="0"/>
              <a:t> </a:t>
            </a:r>
            <a:r>
              <a:rPr spc="-10" dirty="0"/>
              <a:t>безопасности:</a:t>
            </a:r>
            <a:r>
              <a:rPr spc="-75" dirty="0"/>
              <a:t> </a:t>
            </a:r>
            <a:r>
              <a:rPr spc="-90" dirty="0"/>
              <a:t>/api/health,</a:t>
            </a:r>
            <a:r>
              <a:rPr spc="-40" dirty="0"/>
              <a:t> </a:t>
            </a:r>
            <a:r>
              <a:rPr spc="-60" dirty="0"/>
              <a:t>/metrics,</a:t>
            </a:r>
            <a:r>
              <a:rPr spc="-90" dirty="0"/>
              <a:t> </a:t>
            </a:r>
            <a:r>
              <a:rPr spc="-40" dirty="0"/>
              <a:t>Prometheus/Grafana</a:t>
            </a:r>
            <a:r>
              <a:rPr spc="-70" dirty="0"/>
              <a:t> </a:t>
            </a:r>
            <a:r>
              <a:rPr spc="-10" dirty="0"/>
              <a:t>показывают состояние</a:t>
            </a:r>
            <a:r>
              <a:rPr spc="-130" dirty="0"/>
              <a:t> </a:t>
            </a:r>
            <a:r>
              <a:rPr spc="-40" dirty="0"/>
              <a:t>Kafka</a:t>
            </a:r>
            <a:r>
              <a:rPr spc="-85" dirty="0"/>
              <a:t> </a:t>
            </a:r>
            <a:r>
              <a:rPr dirty="0"/>
              <a:t>и</a:t>
            </a:r>
            <a:r>
              <a:rPr spc="-114" dirty="0"/>
              <a:t> </a:t>
            </a:r>
            <a:r>
              <a:rPr spc="-10" dirty="0"/>
              <a:t>приложения.</a:t>
            </a:r>
          </a:p>
          <a:p>
            <a:pPr marL="12700" marR="3018790">
              <a:lnSpc>
                <a:spcPct val="100000"/>
              </a:lnSpc>
            </a:pPr>
            <a:r>
              <a:rPr dirty="0" err="1"/>
              <a:t>Минимизация</a:t>
            </a:r>
            <a:r>
              <a:rPr spc="-114" dirty="0"/>
              <a:t> </a:t>
            </a:r>
            <a:r>
              <a:rPr spc="-20" dirty="0" err="1" smtClean="0"/>
              <a:t>поверхности</a:t>
            </a:r>
            <a:r>
              <a:rPr lang="ru-RU" spc="-120" dirty="0"/>
              <a:t> </a:t>
            </a:r>
            <a:r>
              <a:rPr spc="-40" dirty="0" err="1" smtClean="0"/>
              <a:t>атаки</a:t>
            </a:r>
            <a:r>
              <a:rPr spc="-40" dirty="0"/>
              <a:t>:</a:t>
            </a:r>
            <a:r>
              <a:rPr spc="-85" dirty="0"/>
              <a:t> </a:t>
            </a:r>
            <a:r>
              <a:rPr spc="-30" dirty="0" err="1"/>
              <a:t>наружу</a:t>
            </a:r>
            <a:r>
              <a:rPr spc="-100" dirty="0"/>
              <a:t> </a:t>
            </a:r>
            <a:r>
              <a:rPr spc="-20" dirty="0" err="1" smtClean="0"/>
              <a:t>вынесены</a:t>
            </a:r>
            <a:r>
              <a:rPr lang="ru-RU" spc="-95" dirty="0"/>
              <a:t> </a:t>
            </a:r>
            <a:r>
              <a:rPr spc="-30" dirty="0" err="1" smtClean="0"/>
              <a:t>только</a:t>
            </a:r>
            <a:r>
              <a:rPr spc="-95" dirty="0" smtClean="0"/>
              <a:t> </a:t>
            </a:r>
            <a:r>
              <a:rPr spc="-35" dirty="0"/>
              <a:t>нужные</a:t>
            </a:r>
            <a:r>
              <a:rPr spc="-100" dirty="0"/>
              <a:t> </a:t>
            </a:r>
            <a:r>
              <a:rPr spc="-20" dirty="0"/>
              <a:t>порты</a:t>
            </a:r>
            <a:r>
              <a:rPr spc="-114" dirty="0"/>
              <a:t> </a:t>
            </a:r>
            <a:r>
              <a:rPr dirty="0"/>
              <a:t>и</a:t>
            </a:r>
            <a:r>
              <a:rPr spc="-95" dirty="0"/>
              <a:t> </a:t>
            </a:r>
            <a:r>
              <a:rPr spc="-60" dirty="0" smtClean="0"/>
              <a:t>HTTP</a:t>
            </a:r>
            <a:r>
              <a:rPr spc="-20" dirty="0" smtClean="0"/>
              <a:t>API</a:t>
            </a:r>
            <a:r>
              <a:rPr spc="-20" dirty="0"/>
              <a:t>. </a:t>
            </a:r>
            <a:r>
              <a:rPr dirty="0"/>
              <a:t>Наблюдаемость</a:t>
            </a:r>
            <a:r>
              <a:rPr spc="-114" dirty="0"/>
              <a:t> </a:t>
            </a:r>
            <a:r>
              <a:rPr dirty="0"/>
              <a:t>и</a:t>
            </a:r>
            <a:r>
              <a:rPr spc="-95" dirty="0"/>
              <a:t> </a:t>
            </a:r>
            <a:r>
              <a:rPr spc="-50" dirty="0"/>
              <a:t>аудит:</a:t>
            </a:r>
            <a:r>
              <a:rPr spc="-100" dirty="0"/>
              <a:t> </a:t>
            </a:r>
            <a:r>
              <a:rPr dirty="0"/>
              <a:t>JSONL-</a:t>
            </a:r>
            <a:r>
              <a:rPr spc="-40" dirty="0"/>
              <a:t>логи</a:t>
            </a:r>
            <a:r>
              <a:rPr spc="-130" dirty="0"/>
              <a:t> </a:t>
            </a:r>
            <a:r>
              <a:rPr spc="-20" dirty="0"/>
              <a:t>криптоконтейнеров</a:t>
            </a:r>
            <a:r>
              <a:rPr spc="-125" dirty="0"/>
              <a:t> </a:t>
            </a:r>
            <a:r>
              <a:rPr spc="-25" dirty="0"/>
              <a:t>доступны</a:t>
            </a:r>
            <a:r>
              <a:rPr spc="-100" dirty="0"/>
              <a:t> </a:t>
            </a:r>
            <a:r>
              <a:rPr dirty="0"/>
              <a:t>через</a:t>
            </a:r>
            <a:r>
              <a:rPr spc="-120" dirty="0"/>
              <a:t> </a:t>
            </a:r>
            <a:r>
              <a:rPr spc="-25" dirty="0"/>
              <a:t>Loki/Grafana.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21871" y="6408012"/>
            <a:ext cx="1600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0</a:t>
            </a:r>
            <a:r>
              <a:rPr lang="ru-RU" sz="1000" spc="-25" dirty="0" smtClean="0">
                <a:solidFill>
                  <a:srgbClr val="A9B5C2"/>
                </a:solidFill>
                <a:latin typeface="Trebuchet MS"/>
                <a:cs typeface="Trebuchet MS"/>
              </a:rPr>
              <a:t>8</a:t>
            </a:r>
            <a:endParaRPr sz="10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1" y="-33821"/>
            <a:ext cx="12193702" cy="692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2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59944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70" dirty="0">
                <a:solidFill>
                  <a:srgbClr val="1F9BD1"/>
                </a:solidFill>
                <a:latin typeface="Tahoma"/>
                <a:cs typeface="Tahoma"/>
              </a:rPr>
              <a:t>PATTERNS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Паттерны</a:t>
            </a:r>
            <a:r>
              <a:rPr spc="-160" dirty="0"/>
              <a:t> проектирования</a:t>
            </a:r>
            <a:r>
              <a:rPr spc="-180" dirty="0"/>
              <a:t> </a:t>
            </a:r>
            <a:r>
              <a:rPr spc="-25" dirty="0"/>
              <a:t>ПО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7240" y="1627632"/>
            <a:ext cx="4800600" cy="942340"/>
          </a:xfrm>
          <a:prstGeom prst="rect">
            <a:avLst/>
          </a:prstGeom>
          <a:solidFill>
            <a:srgbClr val="151D27"/>
          </a:solidFill>
          <a:ln w="15240">
            <a:solidFill>
              <a:srgbClr val="304355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Facade</a:t>
            </a:r>
            <a:endParaRPr sz="1200">
              <a:latin typeface="Tahoma"/>
              <a:cs typeface="Tahoma"/>
            </a:endParaRPr>
          </a:p>
          <a:p>
            <a:pPr marL="219075" marR="1184275">
              <a:lnSpc>
                <a:spcPct val="101699"/>
              </a:lnSpc>
              <a:spcBef>
                <a:spcPts val="5"/>
              </a:spcBef>
            </a:pPr>
            <a:r>
              <a:rPr sz="1200" b="1" spc="-140" dirty="0">
                <a:solidFill>
                  <a:srgbClr val="F5F8FA"/>
                </a:solidFill>
                <a:latin typeface="Tahoma"/>
                <a:cs typeface="Tahoma"/>
              </a:rPr>
              <a:t>UI</a:t>
            </a:r>
            <a:r>
              <a:rPr sz="1200" b="1" spc="-8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5" dirty="0">
                <a:solidFill>
                  <a:srgbClr val="F5F8FA"/>
                </a:solidFill>
                <a:latin typeface="Tahoma"/>
                <a:cs typeface="Tahoma"/>
              </a:rPr>
              <a:t>работает</a:t>
            </a:r>
            <a:r>
              <a:rPr sz="1200" b="1" spc="-10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35" dirty="0">
                <a:solidFill>
                  <a:srgbClr val="F5F8FA"/>
                </a:solidFill>
                <a:latin typeface="Tahoma"/>
                <a:cs typeface="Tahoma"/>
              </a:rPr>
              <a:t>через</a:t>
            </a:r>
            <a:r>
              <a:rPr sz="1200" b="1" spc="-10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90" dirty="0">
                <a:solidFill>
                  <a:srgbClr val="F5F8FA"/>
                </a:solidFill>
                <a:latin typeface="Tahoma"/>
                <a:cs typeface="Tahoma"/>
              </a:rPr>
              <a:t>REST</a:t>
            </a:r>
            <a:r>
              <a:rPr sz="12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114" dirty="0">
                <a:solidFill>
                  <a:srgbClr val="F5F8FA"/>
                </a:solidFill>
                <a:latin typeface="Tahoma"/>
                <a:cs typeface="Tahoma"/>
              </a:rPr>
              <a:t>API</a:t>
            </a:r>
            <a:r>
              <a:rPr sz="1200" b="1" spc="-8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и</a:t>
            </a:r>
            <a:r>
              <a:rPr sz="12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F5F8FA"/>
                </a:solidFill>
                <a:latin typeface="Tahoma"/>
                <a:cs typeface="Tahoma"/>
              </a:rPr>
              <a:t>не</a:t>
            </a:r>
            <a:r>
              <a:rPr sz="12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F5F8FA"/>
                </a:solidFill>
                <a:latin typeface="Tahoma"/>
                <a:cs typeface="Tahoma"/>
              </a:rPr>
              <a:t>знает</a:t>
            </a:r>
            <a:r>
              <a:rPr sz="1200" b="1" spc="-9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35" dirty="0">
                <a:solidFill>
                  <a:srgbClr val="F5F8FA"/>
                </a:solidFill>
                <a:latin typeface="Tahoma"/>
                <a:cs typeface="Tahoma"/>
              </a:rPr>
              <a:t>деталей </a:t>
            </a:r>
            <a:r>
              <a:rPr sz="1200" b="1" spc="-90" dirty="0">
                <a:solidFill>
                  <a:srgbClr val="F5F8FA"/>
                </a:solidFill>
                <a:latin typeface="Tahoma"/>
                <a:cs typeface="Tahoma"/>
              </a:rPr>
              <a:t>Kafka/локальная</a:t>
            </a:r>
            <a:r>
              <a:rPr sz="1200" b="1" spc="1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F5F8FA"/>
                </a:solidFill>
                <a:latin typeface="Tahoma"/>
                <a:cs typeface="Tahoma"/>
              </a:rPr>
              <a:t>БД.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396471" y="6408012"/>
            <a:ext cx="2235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lang="ru-RU" spc="-25" dirty="0" smtClean="0"/>
              <a:t>09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172200" y="1627632"/>
            <a:ext cx="4800600" cy="942340"/>
          </a:xfrm>
          <a:prstGeom prst="rect">
            <a:avLst/>
          </a:prstGeom>
          <a:solidFill>
            <a:srgbClr val="162A31"/>
          </a:solidFill>
          <a:ln w="15240">
            <a:solidFill>
              <a:srgbClr val="304355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Strategy</a:t>
            </a:r>
            <a:endParaRPr sz="1200">
              <a:latin typeface="Tahoma"/>
              <a:cs typeface="Tahoma"/>
            </a:endParaRPr>
          </a:p>
          <a:p>
            <a:pPr marL="220345" marR="858519">
              <a:lnSpc>
                <a:spcPct val="101699"/>
              </a:lnSpc>
              <a:spcBef>
                <a:spcPts val="5"/>
              </a:spcBef>
            </a:pPr>
            <a:r>
              <a:rPr sz="1200" b="1" spc="-70" dirty="0">
                <a:solidFill>
                  <a:srgbClr val="F5F8FA"/>
                </a:solidFill>
                <a:latin typeface="Tahoma"/>
                <a:cs typeface="Tahoma"/>
              </a:rPr>
              <a:t>Криптографический</a:t>
            </a:r>
            <a:r>
              <a:rPr sz="12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5" dirty="0">
                <a:solidFill>
                  <a:srgbClr val="F5F8FA"/>
                </a:solidFill>
                <a:latin typeface="Tahoma"/>
                <a:cs typeface="Tahoma"/>
              </a:rPr>
              <a:t>слой</a:t>
            </a:r>
            <a:r>
              <a:rPr sz="1200" b="1" spc="-3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70" dirty="0">
                <a:solidFill>
                  <a:srgbClr val="F5F8FA"/>
                </a:solidFill>
                <a:latin typeface="Tahoma"/>
                <a:cs typeface="Tahoma"/>
              </a:rPr>
              <a:t>можно</a:t>
            </a:r>
            <a:r>
              <a:rPr sz="1200" b="1" spc="-3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5" dirty="0">
                <a:solidFill>
                  <a:srgbClr val="F5F8FA"/>
                </a:solidFill>
                <a:latin typeface="Tahoma"/>
                <a:cs typeface="Tahoma"/>
              </a:rPr>
              <a:t>заменить</a:t>
            </a:r>
            <a:r>
              <a:rPr sz="1200" b="1" spc="-4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30" dirty="0">
                <a:solidFill>
                  <a:srgbClr val="F5F8FA"/>
                </a:solidFill>
                <a:latin typeface="Tahoma"/>
                <a:cs typeface="Tahoma"/>
              </a:rPr>
              <a:t>другим </a:t>
            </a: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алгоритмом.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" y="2862072"/>
            <a:ext cx="4800600" cy="942340"/>
          </a:xfrm>
          <a:prstGeom prst="rect">
            <a:avLst/>
          </a:prstGeom>
          <a:solidFill>
            <a:srgbClr val="151D27"/>
          </a:solidFill>
          <a:ln w="15240">
            <a:solidFill>
              <a:srgbClr val="304355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Mediator</a:t>
            </a:r>
            <a:endParaRPr sz="1200">
              <a:latin typeface="Tahoma"/>
              <a:cs typeface="Tahoma"/>
            </a:endParaRPr>
          </a:p>
          <a:p>
            <a:pPr marL="219075" marR="234315">
              <a:lnSpc>
                <a:spcPct val="101699"/>
              </a:lnSpc>
            </a:pPr>
            <a:r>
              <a:rPr sz="1200" b="1" spc="-70" dirty="0">
                <a:solidFill>
                  <a:srgbClr val="F5F8FA"/>
                </a:solidFill>
                <a:latin typeface="Tahoma"/>
                <a:cs typeface="Tahoma"/>
              </a:rPr>
              <a:t>Kafka</a:t>
            </a:r>
            <a:r>
              <a:rPr sz="1200" b="1" spc="-6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75" dirty="0">
                <a:solidFill>
                  <a:srgbClr val="F5F8FA"/>
                </a:solidFill>
                <a:latin typeface="Tahoma"/>
                <a:cs typeface="Tahoma"/>
              </a:rPr>
              <a:t>выступает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F5F8FA"/>
                </a:solidFill>
                <a:latin typeface="Tahoma"/>
                <a:cs typeface="Tahoma"/>
              </a:rPr>
              <a:t>посредником</a:t>
            </a:r>
            <a:r>
              <a:rPr sz="120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между</a:t>
            </a:r>
            <a:r>
              <a:rPr sz="1200" b="1" spc="-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F5F8FA"/>
                </a:solidFill>
                <a:latin typeface="Tahoma"/>
                <a:cs typeface="Tahoma"/>
              </a:rPr>
              <a:t>доменами</a:t>
            </a:r>
            <a:r>
              <a:rPr sz="1200" b="1" spc="-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и </a:t>
            </a:r>
            <a:r>
              <a:rPr sz="1200" b="1" spc="-20" dirty="0">
                <a:solidFill>
                  <a:srgbClr val="F5F8FA"/>
                </a:solidFill>
                <a:latin typeface="Tahoma"/>
                <a:cs typeface="Tahoma"/>
              </a:rPr>
              <a:t>снижает </a:t>
            </a: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связность.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2200" y="2862072"/>
            <a:ext cx="4800600" cy="942340"/>
          </a:xfrm>
          <a:prstGeom prst="rect">
            <a:avLst/>
          </a:prstGeom>
          <a:solidFill>
            <a:srgbClr val="162A31"/>
          </a:solidFill>
          <a:ln w="15240">
            <a:solidFill>
              <a:srgbClr val="304355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Observer</a:t>
            </a:r>
            <a:endParaRPr sz="1200">
              <a:latin typeface="Tahoma"/>
              <a:cs typeface="Tahoma"/>
            </a:endParaRPr>
          </a:p>
          <a:p>
            <a:pPr marL="220345" marR="927735">
              <a:lnSpc>
                <a:spcPct val="101699"/>
              </a:lnSpc>
            </a:pPr>
            <a:r>
              <a:rPr sz="1200" b="1" spc="-55" dirty="0">
                <a:solidFill>
                  <a:srgbClr val="F5F8FA"/>
                </a:solidFill>
                <a:latin typeface="Tahoma"/>
                <a:cs typeface="Tahoma"/>
              </a:rPr>
              <a:t>Prometheus,</a:t>
            </a:r>
            <a:r>
              <a:rPr sz="1200" b="1" spc="-11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Loki</a:t>
            </a:r>
            <a:r>
              <a:rPr sz="1200" b="1" spc="-5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и </a:t>
            </a:r>
            <a:r>
              <a:rPr sz="1200" b="1" spc="-70" dirty="0">
                <a:solidFill>
                  <a:srgbClr val="F5F8FA"/>
                </a:solidFill>
                <a:latin typeface="Tahoma"/>
                <a:cs typeface="Tahoma"/>
              </a:rPr>
              <a:t>Kafka</a:t>
            </a:r>
            <a:r>
              <a:rPr sz="1200" b="1" spc="-6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140" dirty="0">
                <a:solidFill>
                  <a:srgbClr val="F5F8FA"/>
                </a:solidFill>
                <a:latin typeface="Tahoma"/>
                <a:cs typeface="Tahoma"/>
              </a:rPr>
              <a:t>UI</a:t>
            </a:r>
            <a:r>
              <a:rPr sz="1200" b="1" spc="-6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80" dirty="0">
                <a:solidFill>
                  <a:srgbClr val="F5F8FA"/>
                </a:solidFill>
                <a:latin typeface="Tahoma"/>
                <a:cs typeface="Tahoma"/>
              </a:rPr>
              <a:t>наблюдают</a:t>
            </a:r>
            <a:r>
              <a:rPr sz="1200" b="1" spc="-70" dirty="0">
                <a:solidFill>
                  <a:srgbClr val="F5F8FA"/>
                </a:solidFill>
                <a:latin typeface="Tahoma"/>
                <a:cs typeface="Tahoma"/>
              </a:rPr>
              <a:t> события</a:t>
            </a:r>
            <a:r>
              <a:rPr sz="12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F5F8FA"/>
                </a:solidFill>
                <a:latin typeface="Tahoma"/>
                <a:cs typeface="Tahoma"/>
              </a:rPr>
              <a:t>и </a:t>
            </a: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состояние.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7240" y="4096511"/>
            <a:ext cx="4800600" cy="942340"/>
          </a:xfrm>
          <a:prstGeom prst="rect">
            <a:avLst/>
          </a:prstGeom>
          <a:solidFill>
            <a:srgbClr val="151D27"/>
          </a:solidFill>
          <a:ln w="15240">
            <a:solidFill>
              <a:srgbClr val="304355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sz="1200" b="1" spc="-75" dirty="0">
                <a:solidFill>
                  <a:srgbClr val="F5F8FA"/>
                </a:solidFill>
                <a:latin typeface="Tahoma"/>
                <a:cs typeface="Tahoma"/>
              </a:rPr>
              <a:t>Template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Method</a:t>
            </a:r>
            <a:endParaRPr sz="1200">
              <a:latin typeface="Tahoma"/>
              <a:cs typeface="Tahoma"/>
            </a:endParaRPr>
          </a:p>
          <a:p>
            <a:pPr marL="219075">
              <a:lnSpc>
                <a:spcPct val="100000"/>
              </a:lnSpc>
              <a:spcBef>
                <a:spcPts val="25"/>
              </a:spcBef>
            </a:pPr>
            <a:r>
              <a:rPr sz="1200" b="1" spc="-60" dirty="0">
                <a:solidFill>
                  <a:srgbClr val="F5F8FA"/>
                </a:solidFill>
                <a:latin typeface="Tahoma"/>
                <a:cs typeface="Tahoma"/>
              </a:rPr>
              <a:t>Единый</a:t>
            </a:r>
            <a:r>
              <a:rPr sz="1200" b="1" spc="-9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F5F8FA"/>
                </a:solidFill>
                <a:latin typeface="Tahoma"/>
                <a:cs typeface="Tahoma"/>
              </a:rPr>
              <a:t>pipeline</a:t>
            </a:r>
            <a:r>
              <a:rPr sz="12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F5F8FA"/>
                </a:solidFill>
                <a:latin typeface="Tahoma"/>
                <a:cs typeface="Tahoma"/>
              </a:rPr>
              <a:t>сообщения:</a:t>
            </a:r>
            <a:r>
              <a:rPr sz="120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60" dirty="0">
                <a:solidFill>
                  <a:srgbClr val="F5F8FA"/>
                </a:solidFill>
                <a:latin typeface="Tahoma"/>
                <a:cs typeface="Tahoma"/>
              </a:rPr>
              <a:t>validate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470" dirty="0">
                <a:solidFill>
                  <a:srgbClr val="F5F8FA"/>
                </a:solidFill>
                <a:latin typeface="Tahoma"/>
                <a:cs typeface="Tahoma"/>
              </a:rPr>
              <a:t>→</a:t>
            </a:r>
            <a:r>
              <a:rPr sz="1200" b="1" spc="-6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5" dirty="0">
                <a:solidFill>
                  <a:srgbClr val="F5F8FA"/>
                </a:solidFill>
                <a:latin typeface="Tahoma"/>
                <a:cs typeface="Tahoma"/>
              </a:rPr>
              <a:t>encrypt</a:t>
            </a:r>
            <a:r>
              <a:rPr sz="1200" b="1" spc="-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470" dirty="0">
                <a:solidFill>
                  <a:srgbClr val="F5F8FA"/>
                </a:solidFill>
                <a:latin typeface="Tahoma"/>
                <a:cs typeface="Tahoma"/>
              </a:rPr>
              <a:t>→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F5F8FA"/>
                </a:solidFill>
                <a:latin typeface="Tahoma"/>
                <a:cs typeface="Tahoma"/>
              </a:rPr>
              <a:t>save</a:t>
            </a:r>
            <a:r>
              <a:rPr sz="12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20" dirty="0">
                <a:solidFill>
                  <a:srgbClr val="F5F8FA"/>
                </a:solidFill>
                <a:latin typeface="Tahoma"/>
                <a:cs typeface="Tahoma"/>
              </a:rPr>
              <a:t>→</a:t>
            </a:r>
            <a:endParaRPr sz="1200">
              <a:latin typeface="Tahoma"/>
              <a:cs typeface="Tahoma"/>
            </a:endParaRPr>
          </a:p>
          <a:p>
            <a:pPr marL="219075">
              <a:lnSpc>
                <a:spcPct val="100000"/>
              </a:lnSpc>
              <a:spcBef>
                <a:spcPts val="25"/>
              </a:spcBef>
            </a:pP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publish.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2200" y="4096511"/>
            <a:ext cx="4800600" cy="942340"/>
          </a:xfrm>
          <a:prstGeom prst="rect">
            <a:avLst/>
          </a:prstGeom>
          <a:solidFill>
            <a:srgbClr val="162A31"/>
          </a:solidFill>
          <a:ln w="15240">
            <a:solidFill>
              <a:srgbClr val="304355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</a:pPr>
            <a:r>
              <a:rPr sz="1200" b="1" spc="-60" dirty="0">
                <a:solidFill>
                  <a:srgbClr val="F5F8FA"/>
                </a:solidFill>
                <a:latin typeface="Tahoma"/>
                <a:cs typeface="Tahoma"/>
              </a:rPr>
              <a:t>Factory</a:t>
            </a:r>
            <a:r>
              <a:rPr sz="1200" b="1" spc="-5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Method</a:t>
            </a:r>
            <a:endParaRPr sz="1200">
              <a:latin typeface="Tahoma"/>
              <a:cs typeface="Tahoma"/>
            </a:endParaRPr>
          </a:p>
          <a:p>
            <a:pPr marL="220345">
              <a:lnSpc>
                <a:spcPct val="100000"/>
              </a:lnSpc>
              <a:spcBef>
                <a:spcPts val="25"/>
              </a:spcBef>
            </a:pPr>
            <a:r>
              <a:rPr sz="1200" b="1" spc="-30" dirty="0">
                <a:solidFill>
                  <a:srgbClr val="F5F8FA"/>
                </a:solidFill>
                <a:latin typeface="Tahoma"/>
                <a:cs typeface="Tahoma"/>
              </a:rPr>
              <a:t>Создание</a:t>
            </a:r>
            <a:r>
              <a:rPr sz="1200" b="1" spc="-6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5" dirty="0">
                <a:solidFill>
                  <a:srgbClr val="F5F8FA"/>
                </a:solidFill>
                <a:latin typeface="Tahoma"/>
                <a:cs typeface="Tahoma"/>
              </a:rPr>
              <a:t>crypto</a:t>
            </a:r>
            <a:r>
              <a:rPr sz="1200" b="1" spc="-6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55" dirty="0">
                <a:solidFill>
                  <a:srgbClr val="F5F8FA"/>
                </a:solidFill>
                <a:latin typeface="Tahoma"/>
                <a:cs typeface="Tahoma"/>
              </a:rPr>
              <a:t>container</a:t>
            </a:r>
            <a:r>
              <a:rPr sz="1200" b="1" spc="-3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75" dirty="0">
                <a:solidFill>
                  <a:srgbClr val="F5F8FA"/>
                </a:solidFill>
                <a:latin typeface="Tahoma"/>
                <a:cs typeface="Tahoma"/>
              </a:rPr>
              <a:t>как</a:t>
            </a:r>
            <a:r>
              <a:rPr sz="1200" b="1" spc="-3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75" dirty="0">
                <a:solidFill>
                  <a:srgbClr val="F5F8FA"/>
                </a:solidFill>
                <a:latin typeface="Tahoma"/>
                <a:cs typeface="Tahoma"/>
              </a:rPr>
              <a:t>отдельная</a:t>
            </a:r>
            <a:r>
              <a:rPr sz="1200" b="1" spc="-9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фабрика</a:t>
            </a:r>
            <a:endParaRPr sz="1200">
              <a:latin typeface="Tahoma"/>
              <a:cs typeface="Tahoma"/>
            </a:endParaRPr>
          </a:p>
          <a:p>
            <a:pPr marL="220345">
              <a:lnSpc>
                <a:spcPct val="100000"/>
              </a:lnSpc>
              <a:spcBef>
                <a:spcPts val="25"/>
              </a:spcBef>
            </a:pPr>
            <a:r>
              <a:rPr sz="1200" b="1" spc="-75" dirty="0">
                <a:solidFill>
                  <a:srgbClr val="F5F8FA"/>
                </a:solidFill>
                <a:latin typeface="Tahoma"/>
                <a:cs typeface="Tahoma"/>
              </a:rPr>
              <a:t>структуры</a:t>
            </a:r>
            <a:r>
              <a:rPr sz="1200" b="1" spc="-4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5F8FA"/>
                </a:solidFill>
                <a:latin typeface="Tahoma"/>
                <a:cs typeface="Tahoma"/>
              </a:rPr>
              <a:t>события.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889" y="242875"/>
            <a:ext cx="136144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dirty="0">
                <a:solidFill>
                  <a:srgbClr val="111111"/>
                </a:solidFill>
                <a:latin typeface="Arial MT"/>
                <a:cs typeface="Arial MT"/>
              </a:rPr>
              <a:t>LiteBroker</a:t>
            </a:r>
            <a:r>
              <a:rPr sz="750" spc="1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11111"/>
                </a:solidFill>
                <a:latin typeface="Arial MT"/>
                <a:cs typeface="Arial MT"/>
              </a:rPr>
              <a:t>UML</a:t>
            </a:r>
            <a:r>
              <a:rPr sz="75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11111"/>
                </a:solidFill>
                <a:latin typeface="Arial MT"/>
                <a:cs typeface="Arial MT"/>
              </a:rPr>
              <a:t>class</a:t>
            </a:r>
            <a:r>
              <a:rPr sz="750" spc="1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diagram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9352" y="242875"/>
            <a:ext cx="212598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dirty="0">
                <a:solidFill>
                  <a:srgbClr val="494949"/>
                </a:solidFill>
                <a:latin typeface="Arial MT"/>
                <a:cs typeface="Arial MT"/>
              </a:rPr>
              <a:t>Kafka</a:t>
            </a:r>
            <a:r>
              <a:rPr sz="750" spc="7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494949"/>
                </a:solidFill>
                <a:latin typeface="Arial MT"/>
                <a:cs typeface="Arial MT"/>
              </a:rPr>
              <a:t>chat</a:t>
            </a:r>
            <a:r>
              <a:rPr sz="750" spc="11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494949"/>
                </a:solidFill>
                <a:latin typeface="Arial MT"/>
                <a:cs typeface="Arial MT"/>
              </a:rPr>
              <a:t>+</a:t>
            </a:r>
            <a:r>
              <a:rPr sz="750" spc="9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494949"/>
                </a:solidFill>
                <a:latin typeface="Arial MT"/>
                <a:cs typeface="Arial MT"/>
              </a:rPr>
              <a:t>crypto</a:t>
            </a:r>
            <a:r>
              <a:rPr sz="750" spc="7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494949"/>
                </a:solidFill>
                <a:latin typeface="Arial MT"/>
                <a:cs typeface="Arial MT"/>
              </a:rPr>
              <a:t>containers</a:t>
            </a:r>
            <a:r>
              <a:rPr sz="750" spc="13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494949"/>
                </a:solidFill>
                <a:latin typeface="Arial MT"/>
                <a:cs typeface="Arial MT"/>
              </a:rPr>
              <a:t>+</a:t>
            </a:r>
            <a:r>
              <a:rPr sz="750" spc="6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494949"/>
                </a:solidFill>
                <a:latin typeface="Arial MT"/>
                <a:cs typeface="Arial MT"/>
              </a:rPr>
              <a:t>sensor</a:t>
            </a:r>
            <a:r>
              <a:rPr sz="750" spc="5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494949"/>
                </a:solidFill>
                <a:latin typeface="Arial MT"/>
                <a:cs typeface="Arial MT"/>
              </a:rPr>
              <a:t>stream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3267" y="1249432"/>
            <a:ext cx="1773555" cy="1522095"/>
            <a:chOff x="823267" y="1249432"/>
            <a:chExt cx="1773555" cy="1522095"/>
          </a:xfrm>
        </p:grpSpPr>
        <p:sp>
          <p:nvSpPr>
            <p:cNvPr id="5" name="object 5"/>
            <p:cNvSpPr/>
            <p:nvPr/>
          </p:nvSpPr>
          <p:spPr>
            <a:xfrm>
              <a:off x="832474" y="1258639"/>
              <a:ext cx="1755139" cy="1503680"/>
            </a:xfrm>
            <a:custGeom>
              <a:avLst/>
              <a:gdLst/>
              <a:ahLst/>
              <a:cxnLst/>
              <a:rect l="l" t="t" r="r" b="b"/>
              <a:pathLst>
                <a:path w="1755139" h="1503680">
                  <a:moveTo>
                    <a:pt x="1721426" y="0"/>
                  </a:moveTo>
                  <a:lnTo>
                    <a:pt x="33425" y="0"/>
                  </a:lnTo>
                  <a:lnTo>
                    <a:pt x="20414" y="2626"/>
                  </a:lnTo>
                  <a:lnTo>
                    <a:pt x="9790" y="9786"/>
                  </a:lnTo>
                  <a:lnTo>
                    <a:pt x="2626" y="20405"/>
                  </a:lnTo>
                  <a:lnTo>
                    <a:pt x="0" y="33405"/>
                  </a:lnTo>
                  <a:lnTo>
                    <a:pt x="0" y="1469834"/>
                  </a:lnTo>
                  <a:lnTo>
                    <a:pt x="2626" y="1482834"/>
                  </a:lnTo>
                  <a:lnTo>
                    <a:pt x="9790" y="1493452"/>
                  </a:lnTo>
                  <a:lnTo>
                    <a:pt x="20414" y="1500613"/>
                  </a:lnTo>
                  <a:lnTo>
                    <a:pt x="33425" y="1503239"/>
                  </a:lnTo>
                  <a:lnTo>
                    <a:pt x="1721426" y="1503239"/>
                  </a:lnTo>
                  <a:lnTo>
                    <a:pt x="1734434" y="1500613"/>
                  </a:lnTo>
                  <a:lnTo>
                    <a:pt x="1745059" y="1493452"/>
                  </a:lnTo>
                  <a:lnTo>
                    <a:pt x="1752224" y="1482834"/>
                  </a:lnTo>
                  <a:lnTo>
                    <a:pt x="1754852" y="1469834"/>
                  </a:lnTo>
                  <a:lnTo>
                    <a:pt x="1754852" y="33405"/>
                  </a:lnTo>
                  <a:lnTo>
                    <a:pt x="1752224" y="20405"/>
                  </a:lnTo>
                  <a:lnTo>
                    <a:pt x="1745059" y="9786"/>
                  </a:lnTo>
                  <a:lnTo>
                    <a:pt x="1734434" y="2626"/>
                  </a:lnTo>
                  <a:lnTo>
                    <a:pt x="1721426" y="0"/>
                  </a:lnTo>
                  <a:close/>
                </a:path>
              </a:pathLst>
            </a:custGeom>
            <a:solidFill>
              <a:srgbClr val="8EF5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2474" y="1258639"/>
              <a:ext cx="1755139" cy="1503680"/>
            </a:xfrm>
            <a:custGeom>
              <a:avLst/>
              <a:gdLst/>
              <a:ahLst/>
              <a:cxnLst/>
              <a:rect l="l" t="t" r="r" b="b"/>
              <a:pathLst>
                <a:path w="1755139" h="1503680">
                  <a:moveTo>
                    <a:pt x="1721426" y="0"/>
                  </a:moveTo>
                  <a:lnTo>
                    <a:pt x="1754852" y="33405"/>
                  </a:lnTo>
                  <a:lnTo>
                    <a:pt x="1754852" y="1469834"/>
                  </a:lnTo>
                  <a:lnTo>
                    <a:pt x="1752224" y="1482834"/>
                  </a:lnTo>
                  <a:lnTo>
                    <a:pt x="1745059" y="1493452"/>
                  </a:lnTo>
                  <a:lnTo>
                    <a:pt x="1734434" y="1500613"/>
                  </a:lnTo>
                  <a:lnTo>
                    <a:pt x="1721426" y="1503239"/>
                  </a:lnTo>
                  <a:lnTo>
                    <a:pt x="33425" y="1503239"/>
                  </a:lnTo>
                  <a:lnTo>
                    <a:pt x="0" y="1469834"/>
                  </a:lnTo>
                  <a:lnTo>
                    <a:pt x="0" y="33405"/>
                  </a:lnTo>
                  <a:lnTo>
                    <a:pt x="2626" y="20405"/>
                  </a:lnTo>
                  <a:lnTo>
                    <a:pt x="9790" y="9786"/>
                  </a:lnTo>
                  <a:lnTo>
                    <a:pt x="20414" y="2626"/>
                  </a:lnTo>
                  <a:lnTo>
                    <a:pt x="33425" y="0"/>
                  </a:lnTo>
                  <a:lnTo>
                    <a:pt x="1721426" y="0"/>
                  </a:lnTo>
                  <a:close/>
                </a:path>
              </a:pathLst>
            </a:custGeom>
            <a:ln w="1837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2474" y="1258639"/>
              <a:ext cx="1755139" cy="351155"/>
            </a:xfrm>
            <a:custGeom>
              <a:avLst/>
              <a:gdLst/>
              <a:ahLst/>
              <a:cxnLst/>
              <a:rect l="l" t="t" r="r" b="b"/>
              <a:pathLst>
                <a:path w="1755139" h="351155">
                  <a:moveTo>
                    <a:pt x="1721426" y="0"/>
                  </a:moveTo>
                  <a:lnTo>
                    <a:pt x="33425" y="0"/>
                  </a:lnTo>
                  <a:lnTo>
                    <a:pt x="20414" y="2626"/>
                  </a:lnTo>
                  <a:lnTo>
                    <a:pt x="9790" y="9786"/>
                  </a:lnTo>
                  <a:lnTo>
                    <a:pt x="2626" y="20405"/>
                  </a:lnTo>
                  <a:lnTo>
                    <a:pt x="0" y="33405"/>
                  </a:lnTo>
                  <a:lnTo>
                    <a:pt x="0" y="317350"/>
                  </a:lnTo>
                  <a:lnTo>
                    <a:pt x="2626" y="330350"/>
                  </a:lnTo>
                  <a:lnTo>
                    <a:pt x="9790" y="340969"/>
                  </a:lnTo>
                  <a:lnTo>
                    <a:pt x="20414" y="348129"/>
                  </a:lnTo>
                  <a:lnTo>
                    <a:pt x="33425" y="350755"/>
                  </a:lnTo>
                  <a:lnTo>
                    <a:pt x="1721426" y="350755"/>
                  </a:lnTo>
                  <a:lnTo>
                    <a:pt x="1734434" y="348129"/>
                  </a:lnTo>
                  <a:lnTo>
                    <a:pt x="1745059" y="340969"/>
                  </a:lnTo>
                  <a:lnTo>
                    <a:pt x="1752224" y="330350"/>
                  </a:lnTo>
                  <a:lnTo>
                    <a:pt x="1754852" y="317350"/>
                  </a:lnTo>
                  <a:lnTo>
                    <a:pt x="1754852" y="33405"/>
                  </a:lnTo>
                  <a:lnTo>
                    <a:pt x="1752224" y="20405"/>
                  </a:lnTo>
                  <a:lnTo>
                    <a:pt x="1745059" y="9786"/>
                  </a:lnTo>
                  <a:lnTo>
                    <a:pt x="1734434" y="2626"/>
                  </a:lnTo>
                  <a:lnTo>
                    <a:pt x="1721426" y="0"/>
                  </a:lnTo>
                  <a:close/>
                </a:path>
              </a:pathLst>
            </a:custGeom>
            <a:solidFill>
              <a:srgbClr val="7DE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2474" y="1258639"/>
              <a:ext cx="1755139" cy="918844"/>
            </a:xfrm>
            <a:custGeom>
              <a:avLst/>
              <a:gdLst/>
              <a:ahLst/>
              <a:cxnLst/>
              <a:rect l="l" t="t" r="r" b="b"/>
              <a:pathLst>
                <a:path w="1755139" h="918844">
                  <a:moveTo>
                    <a:pt x="1721426" y="0"/>
                  </a:moveTo>
                  <a:lnTo>
                    <a:pt x="1754852" y="33405"/>
                  </a:lnTo>
                  <a:lnTo>
                    <a:pt x="1754852" y="317350"/>
                  </a:lnTo>
                  <a:lnTo>
                    <a:pt x="1752224" y="330350"/>
                  </a:lnTo>
                  <a:lnTo>
                    <a:pt x="1745059" y="340969"/>
                  </a:lnTo>
                  <a:lnTo>
                    <a:pt x="1734434" y="348129"/>
                  </a:lnTo>
                  <a:lnTo>
                    <a:pt x="1721426" y="350755"/>
                  </a:lnTo>
                  <a:lnTo>
                    <a:pt x="33425" y="350755"/>
                  </a:lnTo>
                  <a:lnTo>
                    <a:pt x="0" y="317350"/>
                  </a:lnTo>
                  <a:lnTo>
                    <a:pt x="0" y="33405"/>
                  </a:lnTo>
                  <a:lnTo>
                    <a:pt x="2626" y="20405"/>
                  </a:lnTo>
                  <a:lnTo>
                    <a:pt x="9790" y="9786"/>
                  </a:lnTo>
                  <a:lnTo>
                    <a:pt x="20414" y="2626"/>
                  </a:lnTo>
                  <a:lnTo>
                    <a:pt x="33425" y="0"/>
                  </a:lnTo>
                  <a:lnTo>
                    <a:pt x="1721426" y="0"/>
                  </a:lnTo>
                  <a:close/>
                </a:path>
                <a:path w="1755139" h="918844">
                  <a:moveTo>
                    <a:pt x="0" y="918646"/>
                  </a:moveTo>
                  <a:lnTo>
                    <a:pt x="1754852" y="918646"/>
                  </a:lnTo>
                </a:path>
              </a:pathLst>
            </a:custGeom>
            <a:ln w="1670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17190" y="1368634"/>
            <a:ext cx="5803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111111"/>
                </a:solidFill>
                <a:latin typeface="Arial MT"/>
                <a:cs typeface="Arial MT"/>
              </a:rPr>
              <a:t>LiteBrokerUl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4216" y="1642558"/>
            <a:ext cx="668655" cy="5270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+token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+selectedPeer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+messages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4216" y="2227151"/>
            <a:ext cx="819785" cy="5270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+selectPeer()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+sendMessage()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+showContainer()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80893" y="831865"/>
            <a:ext cx="1940560" cy="1814195"/>
            <a:chOff x="3580893" y="831865"/>
            <a:chExt cx="1940560" cy="1814195"/>
          </a:xfrm>
        </p:grpSpPr>
        <p:sp>
          <p:nvSpPr>
            <p:cNvPr id="13" name="object 13"/>
            <p:cNvSpPr/>
            <p:nvPr/>
          </p:nvSpPr>
          <p:spPr>
            <a:xfrm>
              <a:off x="3590100" y="841073"/>
              <a:ext cx="1922145" cy="1795780"/>
            </a:xfrm>
            <a:custGeom>
              <a:avLst/>
              <a:gdLst/>
              <a:ahLst/>
              <a:cxnLst/>
              <a:rect l="l" t="t" r="r" b="b"/>
              <a:pathLst>
                <a:path w="1922145" h="1795780">
                  <a:moveTo>
                    <a:pt x="1888555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1762130"/>
                  </a:lnTo>
                  <a:lnTo>
                    <a:pt x="2627" y="1775130"/>
                  </a:lnTo>
                  <a:lnTo>
                    <a:pt x="9792" y="1785749"/>
                  </a:lnTo>
                  <a:lnTo>
                    <a:pt x="20417" y="1792909"/>
                  </a:lnTo>
                  <a:lnTo>
                    <a:pt x="33425" y="1795535"/>
                  </a:lnTo>
                  <a:lnTo>
                    <a:pt x="1888555" y="1795535"/>
                  </a:lnTo>
                  <a:lnTo>
                    <a:pt x="1901563" y="1792909"/>
                  </a:lnTo>
                  <a:lnTo>
                    <a:pt x="1912188" y="1785749"/>
                  </a:lnTo>
                  <a:lnTo>
                    <a:pt x="1919353" y="1775130"/>
                  </a:lnTo>
                  <a:lnTo>
                    <a:pt x="1921981" y="1762130"/>
                  </a:lnTo>
                  <a:lnTo>
                    <a:pt x="1921981" y="33405"/>
                  </a:lnTo>
                  <a:lnTo>
                    <a:pt x="1919353" y="20405"/>
                  </a:lnTo>
                  <a:lnTo>
                    <a:pt x="1912188" y="9786"/>
                  </a:lnTo>
                  <a:lnTo>
                    <a:pt x="1901563" y="2626"/>
                  </a:lnTo>
                  <a:lnTo>
                    <a:pt x="1888555" y="0"/>
                  </a:lnTo>
                  <a:close/>
                </a:path>
              </a:pathLst>
            </a:custGeom>
            <a:solidFill>
              <a:srgbClr val="8EF5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90100" y="841073"/>
              <a:ext cx="1922145" cy="1795780"/>
            </a:xfrm>
            <a:custGeom>
              <a:avLst/>
              <a:gdLst/>
              <a:ahLst/>
              <a:cxnLst/>
              <a:rect l="l" t="t" r="r" b="b"/>
              <a:pathLst>
                <a:path w="1922145" h="1795780">
                  <a:moveTo>
                    <a:pt x="1888555" y="0"/>
                  </a:moveTo>
                  <a:lnTo>
                    <a:pt x="1921981" y="33405"/>
                  </a:lnTo>
                  <a:lnTo>
                    <a:pt x="1921981" y="1762130"/>
                  </a:lnTo>
                  <a:lnTo>
                    <a:pt x="1919353" y="1775130"/>
                  </a:lnTo>
                  <a:lnTo>
                    <a:pt x="1912188" y="1785749"/>
                  </a:lnTo>
                  <a:lnTo>
                    <a:pt x="1901563" y="1792909"/>
                  </a:lnTo>
                  <a:lnTo>
                    <a:pt x="1888555" y="1795535"/>
                  </a:lnTo>
                  <a:lnTo>
                    <a:pt x="33425" y="1795535"/>
                  </a:lnTo>
                  <a:lnTo>
                    <a:pt x="0" y="1762130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888555" y="0"/>
                  </a:lnTo>
                  <a:close/>
                </a:path>
              </a:pathLst>
            </a:custGeom>
            <a:ln w="18378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90100" y="841073"/>
              <a:ext cx="1922145" cy="351155"/>
            </a:xfrm>
            <a:custGeom>
              <a:avLst/>
              <a:gdLst/>
              <a:ahLst/>
              <a:cxnLst/>
              <a:rect l="l" t="t" r="r" b="b"/>
              <a:pathLst>
                <a:path w="1922145" h="351155">
                  <a:moveTo>
                    <a:pt x="1888555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317350"/>
                  </a:lnTo>
                  <a:lnTo>
                    <a:pt x="2627" y="330350"/>
                  </a:lnTo>
                  <a:lnTo>
                    <a:pt x="9792" y="340969"/>
                  </a:lnTo>
                  <a:lnTo>
                    <a:pt x="20417" y="348129"/>
                  </a:lnTo>
                  <a:lnTo>
                    <a:pt x="33425" y="350755"/>
                  </a:lnTo>
                  <a:lnTo>
                    <a:pt x="1888555" y="350755"/>
                  </a:lnTo>
                  <a:lnTo>
                    <a:pt x="1901563" y="348129"/>
                  </a:lnTo>
                  <a:lnTo>
                    <a:pt x="1912188" y="340969"/>
                  </a:lnTo>
                  <a:lnTo>
                    <a:pt x="1919353" y="330350"/>
                  </a:lnTo>
                  <a:lnTo>
                    <a:pt x="1921981" y="317350"/>
                  </a:lnTo>
                  <a:lnTo>
                    <a:pt x="1921981" y="33405"/>
                  </a:lnTo>
                  <a:lnTo>
                    <a:pt x="1919353" y="20405"/>
                  </a:lnTo>
                  <a:lnTo>
                    <a:pt x="1912188" y="9786"/>
                  </a:lnTo>
                  <a:lnTo>
                    <a:pt x="1901563" y="2626"/>
                  </a:lnTo>
                  <a:lnTo>
                    <a:pt x="1888555" y="0"/>
                  </a:lnTo>
                  <a:close/>
                </a:path>
              </a:pathLst>
            </a:custGeom>
            <a:solidFill>
              <a:srgbClr val="7DE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90100" y="841073"/>
              <a:ext cx="1922145" cy="1002665"/>
            </a:xfrm>
            <a:custGeom>
              <a:avLst/>
              <a:gdLst/>
              <a:ahLst/>
              <a:cxnLst/>
              <a:rect l="l" t="t" r="r" b="b"/>
              <a:pathLst>
                <a:path w="1922145" h="1002664">
                  <a:moveTo>
                    <a:pt x="1888555" y="0"/>
                  </a:moveTo>
                  <a:lnTo>
                    <a:pt x="1921981" y="33405"/>
                  </a:lnTo>
                  <a:lnTo>
                    <a:pt x="1921981" y="317350"/>
                  </a:lnTo>
                  <a:lnTo>
                    <a:pt x="1919353" y="330350"/>
                  </a:lnTo>
                  <a:lnTo>
                    <a:pt x="1912188" y="340969"/>
                  </a:lnTo>
                  <a:lnTo>
                    <a:pt x="1901563" y="348129"/>
                  </a:lnTo>
                  <a:lnTo>
                    <a:pt x="1888555" y="350755"/>
                  </a:lnTo>
                  <a:lnTo>
                    <a:pt x="33425" y="350755"/>
                  </a:lnTo>
                  <a:lnTo>
                    <a:pt x="0" y="317350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888555" y="0"/>
                  </a:lnTo>
                  <a:close/>
                </a:path>
                <a:path w="1922145" h="1002664">
                  <a:moveTo>
                    <a:pt x="0" y="1002159"/>
                  </a:moveTo>
                  <a:lnTo>
                    <a:pt x="1921981" y="1002159"/>
                  </a:lnTo>
                </a:path>
              </a:pathLst>
            </a:custGeom>
            <a:ln w="1670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318546" y="952738"/>
            <a:ext cx="467995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ApiServer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03513" y="1225731"/>
            <a:ext cx="610870" cy="5257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+routes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800" spc="-10" dirty="0">
                <a:solidFill>
                  <a:srgbClr val="111111"/>
                </a:solidFill>
                <a:latin typeface="Arial MT"/>
                <a:cs typeface="Arial MT"/>
              </a:rPr>
              <a:t>+currentUser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+policy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03513" y="1893098"/>
            <a:ext cx="747395" cy="5270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+login()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+register()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+postMessage()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39157" y="1893098"/>
            <a:ext cx="659130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+getSensors()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+metrics()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80893" y="3671318"/>
            <a:ext cx="1940560" cy="1480185"/>
            <a:chOff x="3580893" y="3671318"/>
            <a:chExt cx="1940560" cy="1480185"/>
          </a:xfrm>
        </p:grpSpPr>
        <p:sp>
          <p:nvSpPr>
            <p:cNvPr id="22" name="object 22"/>
            <p:cNvSpPr/>
            <p:nvPr/>
          </p:nvSpPr>
          <p:spPr>
            <a:xfrm>
              <a:off x="3590100" y="3680525"/>
              <a:ext cx="1922145" cy="1461770"/>
            </a:xfrm>
            <a:custGeom>
              <a:avLst/>
              <a:gdLst/>
              <a:ahLst/>
              <a:cxnLst/>
              <a:rect l="l" t="t" r="r" b="b"/>
              <a:pathLst>
                <a:path w="1922145" h="1461770">
                  <a:moveTo>
                    <a:pt x="1888555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1428077"/>
                  </a:lnTo>
                  <a:lnTo>
                    <a:pt x="2627" y="1441077"/>
                  </a:lnTo>
                  <a:lnTo>
                    <a:pt x="9792" y="1451695"/>
                  </a:lnTo>
                  <a:lnTo>
                    <a:pt x="20417" y="1458856"/>
                  </a:lnTo>
                  <a:lnTo>
                    <a:pt x="33425" y="1461482"/>
                  </a:lnTo>
                  <a:lnTo>
                    <a:pt x="1888555" y="1461482"/>
                  </a:lnTo>
                  <a:lnTo>
                    <a:pt x="1901563" y="1458856"/>
                  </a:lnTo>
                  <a:lnTo>
                    <a:pt x="1912188" y="1451695"/>
                  </a:lnTo>
                  <a:lnTo>
                    <a:pt x="1919353" y="1441077"/>
                  </a:lnTo>
                  <a:lnTo>
                    <a:pt x="1921981" y="1428077"/>
                  </a:lnTo>
                  <a:lnTo>
                    <a:pt x="1921981" y="33405"/>
                  </a:lnTo>
                  <a:lnTo>
                    <a:pt x="1919353" y="20405"/>
                  </a:lnTo>
                  <a:lnTo>
                    <a:pt x="1912188" y="9786"/>
                  </a:lnTo>
                  <a:lnTo>
                    <a:pt x="1901563" y="2626"/>
                  </a:lnTo>
                  <a:lnTo>
                    <a:pt x="1888555" y="0"/>
                  </a:lnTo>
                  <a:close/>
                </a:path>
              </a:pathLst>
            </a:custGeom>
            <a:solidFill>
              <a:srgbClr val="8EF5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90100" y="3680525"/>
              <a:ext cx="1922145" cy="1461770"/>
            </a:xfrm>
            <a:custGeom>
              <a:avLst/>
              <a:gdLst/>
              <a:ahLst/>
              <a:cxnLst/>
              <a:rect l="l" t="t" r="r" b="b"/>
              <a:pathLst>
                <a:path w="1922145" h="1461770">
                  <a:moveTo>
                    <a:pt x="1888555" y="0"/>
                  </a:moveTo>
                  <a:lnTo>
                    <a:pt x="1921981" y="33405"/>
                  </a:lnTo>
                  <a:lnTo>
                    <a:pt x="1921981" y="1428077"/>
                  </a:lnTo>
                  <a:lnTo>
                    <a:pt x="1919353" y="1441077"/>
                  </a:lnTo>
                  <a:lnTo>
                    <a:pt x="1912188" y="1451695"/>
                  </a:lnTo>
                  <a:lnTo>
                    <a:pt x="1901563" y="1458856"/>
                  </a:lnTo>
                  <a:lnTo>
                    <a:pt x="1888555" y="1461482"/>
                  </a:lnTo>
                  <a:lnTo>
                    <a:pt x="33425" y="1461482"/>
                  </a:lnTo>
                  <a:lnTo>
                    <a:pt x="0" y="1428077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888555" y="0"/>
                  </a:lnTo>
                  <a:close/>
                </a:path>
              </a:pathLst>
            </a:custGeom>
            <a:ln w="1837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90100" y="3680525"/>
              <a:ext cx="1922145" cy="351155"/>
            </a:xfrm>
            <a:custGeom>
              <a:avLst/>
              <a:gdLst/>
              <a:ahLst/>
              <a:cxnLst/>
              <a:rect l="l" t="t" r="r" b="b"/>
              <a:pathLst>
                <a:path w="1922145" h="351154">
                  <a:moveTo>
                    <a:pt x="1888555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317350"/>
                  </a:lnTo>
                  <a:lnTo>
                    <a:pt x="2627" y="330350"/>
                  </a:lnTo>
                  <a:lnTo>
                    <a:pt x="9792" y="340969"/>
                  </a:lnTo>
                  <a:lnTo>
                    <a:pt x="20417" y="348129"/>
                  </a:lnTo>
                  <a:lnTo>
                    <a:pt x="33425" y="350755"/>
                  </a:lnTo>
                  <a:lnTo>
                    <a:pt x="1888555" y="350755"/>
                  </a:lnTo>
                  <a:lnTo>
                    <a:pt x="1901563" y="348129"/>
                  </a:lnTo>
                  <a:lnTo>
                    <a:pt x="1912188" y="340969"/>
                  </a:lnTo>
                  <a:lnTo>
                    <a:pt x="1919353" y="330350"/>
                  </a:lnTo>
                  <a:lnTo>
                    <a:pt x="1921981" y="317350"/>
                  </a:lnTo>
                  <a:lnTo>
                    <a:pt x="1921981" y="33405"/>
                  </a:lnTo>
                  <a:lnTo>
                    <a:pt x="1919353" y="20405"/>
                  </a:lnTo>
                  <a:lnTo>
                    <a:pt x="1912188" y="9786"/>
                  </a:lnTo>
                  <a:lnTo>
                    <a:pt x="1901563" y="2626"/>
                  </a:lnTo>
                  <a:lnTo>
                    <a:pt x="1888555" y="0"/>
                  </a:lnTo>
                  <a:close/>
                </a:path>
              </a:pathLst>
            </a:custGeom>
            <a:solidFill>
              <a:srgbClr val="7DE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90100" y="3680525"/>
              <a:ext cx="1922145" cy="793750"/>
            </a:xfrm>
            <a:custGeom>
              <a:avLst/>
              <a:gdLst/>
              <a:ahLst/>
              <a:cxnLst/>
              <a:rect l="l" t="t" r="r" b="b"/>
              <a:pathLst>
                <a:path w="1922145" h="793750">
                  <a:moveTo>
                    <a:pt x="1888555" y="0"/>
                  </a:moveTo>
                  <a:lnTo>
                    <a:pt x="1921981" y="33405"/>
                  </a:lnTo>
                  <a:lnTo>
                    <a:pt x="1921981" y="317350"/>
                  </a:lnTo>
                  <a:lnTo>
                    <a:pt x="1919353" y="330350"/>
                  </a:lnTo>
                  <a:lnTo>
                    <a:pt x="1912188" y="340969"/>
                  </a:lnTo>
                  <a:lnTo>
                    <a:pt x="1901563" y="348129"/>
                  </a:lnTo>
                  <a:lnTo>
                    <a:pt x="1888555" y="350755"/>
                  </a:lnTo>
                  <a:lnTo>
                    <a:pt x="33425" y="350755"/>
                  </a:lnTo>
                  <a:lnTo>
                    <a:pt x="0" y="317350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888555" y="0"/>
                  </a:lnTo>
                  <a:close/>
                </a:path>
                <a:path w="1922145" h="793750">
                  <a:moveTo>
                    <a:pt x="0" y="793376"/>
                  </a:moveTo>
                  <a:lnTo>
                    <a:pt x="1921981" y="793376"/>
                  </a:lnTo>
                </a:path>
              </a:pathLst>
            </a:custGeom>
            <a:ln w="1670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224954" y="3795531"/>
            <a:ext cx="657225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CryptoService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03513" y="4066114"/>
            <a:ext cx="1192530" cy="98806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+algorithm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764540" algn="l"/>
              </a:tabLst>
            </a:pPr>
            <a:r>
              <a:rPr sz="750" spc="-25" dirty="0">
                <a:solidFill>
                  <a:srgbClr val="111111"/>
                </a:solidFill>
                <a:latin typeface="Arial MT"/>
                <a:cs typeface="Arial MT"/>
              </a:rPr>
              <a:t>+iv</a:t>
            </a:r>
            <a:r>
              <a:rPr sz="750" dirty="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+authTag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+encryptMessage()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800" spc="-10" dirty="0">
                <a:solidFill>
                  <a:srgbClr val="111111"/>
                </a:solidFill>
                <a:latin typeface="Arial MT"/>
                <a:cs typeface="Arial MT"/>
              </a:rPr>
              <a:t>+decryptMessage()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+cryptoKey()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57524" y="5216314"/>
            <a:ext cx="1940560" cy="1271270"/>
            <a:chOff x="1157524" y="5216314"/>
            <a:chExt cx="1940560" cy="1271270"/>
          </a:xfrm>
        </p:grpSpPr>
        <p:sp>
          <p:nvSpPr>
            <p:cNvPr id="29" name="object 29"/>
            <p:cNvSpPr/>
            <p:nvPr/>
          </p:nvSpPr>
          <p:spPr>
            <a:xfrm>
              <a:off x="1166732" y="5225521"/>
              <a:ext cx="1922145" cy="1252855"/>
            </a:xfrm>
            <a:custGeom>
              <a:avLst/>
              <a:gdLst/>
              <a:ahLst/>
              <a:cxnLst/>
              <a:rect l="l" t="t" r="r" b="b"/>
              <a:pathLst>
                <a:path w="1922145" h="1252854">
                  <a:moveTo>
                    <a:pt x="1888555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1219266"/>
                  </a:lnTo>
                  <a:lnTo>
                    <a:pt x="2627" y="1232269"/>
                  </a:lnTo>
                  <a:lnTo>
                    <a:pt x="9792" y="1242887"/>
                  </a:lnTo>
                  <a:lnTo>
                    <a:pt x="20417" y="1250046"/>
                  </a:lnTo>
                  <a:lnTo>
                    <a:pt x="33425" y="1252671"/>
                  </a:lnTo>
                  <a:lnTo>
                    <a:pt x="1888555" y="1252671"/>
                  </a:lnTo>
                  <a:lnTo>
                    <a:pt x="1901563" y="1250046"/>
                  </a:lnTo>
                  <a:lnTo>
                    <a:pt x="1912188" y="1242887"/>
                  </a:lnTo>
                  <a:lnTo>
                    <a:pt x="1919353" y="1232269"/>
                  </a:lnTo>
                  <a:lnTo>
                    <a:pt x="1921981" y="1219266"/>
                  </a:lnTo>
                  <a:lnTo>
                    <a:pt x="1921981" y="33405"/>
                  </a:lnTo>
                  <a:lnTo>
                    <a:pt x="1919353" y="20405"/>
                  </a:lnTo>
                  <a:lnTo>
                    <a:pt x="1912188" y="9786"/>
                  </a:lnTo>
                  <a:lnTo>
                    <a:pt x="1901563" y="2626"/>
                  </a:lnTo>
                  <a:lnTo>
                    <a:pt x="1888555" y="0"/>
                  </a:lnTo>
                  <a:close/>
                </a:path>
              </a:pathLst>
            </a:custGeom>
            <a:solidFill>
              <a:srgbClr val="8EF5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66732" y="5225521"/>
              <a:ext cx="1922145" cy="1252855"/>
            </a:xfrm>
            <a:custGeom>
              <a:avLst/>
              <a:gdLst/>
              <a:ahLst/>
              <a:cxnLst/>
              <a:rect l="l" t="t" r="r" b="b"/>
              <a:pathLst>
                <a:path w="1922145" h="1252854">
                  <a:moveTo>
                    <a:pt x="1888555" y="0"/>
                  </a:moveTo>
                  <a:lnTo>
                    <a:pt x="1921981" y="33405"/>
                  </a:lnTo>
                  <a:lnTo>
                    <a:pt x="1921981" y="1219266"/>
                  </a:lnTo>
                  <a:lnTo>
                    <a:pt x="1919353" y="1232269"/>
                  </a:lnTo>
                  <a:lnTo>
                    <a:pt x="1912188" y="1242887"/>
                  </a:lnTo>
                  <a:lnTo>
                    <a:pt x="1901563" y="1250046"/>
                  </a:lnTo>
                  <a:lnTo>
                    <a:pt x="1888555" y="1252671"/>
                  </a:lnTo>
                  <a:lnTo>
                    <a:pt x="33425" y="1252671"/>
                  </a:lnTo>
                  <a:lnTo>
                    <a:pt x="0" y="1219266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888555" y="0"/>
                  </a:lnTo>
                  <a:close/>
                </a:path>
              </a:pathLst>
            </a:custGeom>
            <a:ln w="18376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66732" y="5225521"/>
              <a:ext cx="1922145" cy="351155"/>
            </a:xfrm>
            <a:custGeom>
              <a:avLst/>
              <a:gdLst/>
              <a:ahLst/>
              <a:cxnLst/>
              <a:rect l="l" t="t" r="r" b="b"/>
              <a:pathLst>
                <a:path w="1922145" h="351154">
                  <a:moveTo>
                    <a:pt x="1888555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317350"/>
                  </a:lnTo>
                  <a:lnTo>
                    <a:pt x="2627" y="330350"/>
                  </a:lnTo>
                  <a:lnTo>
                    <a:pt x="9792" y="340969"/>
                  </a:lnTo>
                  <a:lnTo>
                    <a:pt x="20417" y="348129"/>
                  </a:lnTo>
                  <a:lnTo>
                    <a:pt x="33425" y="350755"/>
                  </a:lnTo>
                  <a:lnTo>
                    <a:pt x="1888555" y="350755"/>
                  </a:lnTo>
                  <a:lnTo>
                    <a:pt x="1901563" y="348129"/>
                  </a:lnTo>
                  <a:lnTo>
                    <a:pt x="1912188" y="340969"/>
                  </a:lnTo>
                  <a:lnTo>
                    <a:pt x="1919353" y="330350"/>
                  </a:lnTo>
                  <a:lnTo>
                    <a:pt x="1921981" y="317350"/>
                  </a:lnTo>
                  <a:lnTo>
                    <a:pt x="1921981" y="33405"/>
                  </a:lnTo>
                  <a:lnTo>
                    <a:pt x="1919353" y="20405"/>
                  </a:lnTo>
                  <a:lnTo>
                    <a:pt x="1912188" y="9786"/>
                  </a:lnTo>
                  <a:lnTo>
                    <a:pt x="1901563" y="2626"/>
                  </a:lnTo>
                  <a:lnTo>
                    <a:pt x="1888555" y="0"/>
                  </a:lnTo>
                  <a:close/>
                </a:path>
              </a:pathLst>
            </a:custGeom>
            <a:solidFill>
              <a:srgbClr val="7DE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66732" y="5225521"/>
              <a:ext cx="1922145" cy="793750"/>
            </a:xfrm>
            <a:custGeom>
              <a:avLst/>
              <a:gdLst/>
              <a:ahLst/>
              <a:cxnLst/>
              <a:rect l="l" t="t" r="r" b="b"/>
              <a:pathLst>
                <a:path w="1922145" h="793750">
                  <a:moveTo>
                    <a:pt x="1888555" y="0"/>
                  </a:moveTo>
                  <a:lnTo>
                    <a:pt x="1921981" y="33405"/>
                  </a:lnTo>
                  <a:lnTo>
                    <a:pt x="1921981" y="317350"/>
                  </a:lnTo>
                  <a:lnTo>
                    <a:pt x="1919353" y="330350"/>
                  </a:lnTo>
                  <a:lnTo>
                    <a:pt x="1912188" y="340969"/>
                  </a:lnTo>
                  <a:lnTo>
                    <a:pt x="1901563" y="348129"/>
                  </a:lnTo>
                  <a:lnTo>
                    <a:pt x="1888555" y="350755"/>
                  </a:lnTo>
                  <a:lnTo>
                    <a:pt x="33425" y="350755"/>
                  </a:lnTo>
                  <a:lnTo>
                    <a:pt x="0" y="317350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888555" y="0"/>
                  </a:lnTo>
                  <a:close/>
                </a:path>
                <a:path w="1922145" h="793750">
                  <a:moveTo>
                    <a:pt x="0" y="793376"/>
                  </a:moveTo>
                  <a:lnTo>
                    <a:pt x="1921981" y="793376"/>
                  </a:lnTo>
                </a:path>
              </a:pathLst>
            </a:custGeom>
            <a:ln w="1670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749777" y="5342197"/>
            <a:ext cx="75184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CryptoContainer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78473" y="5612780"/>
            <a:ext cx="493395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+version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+algorithm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97682" y="5612780"/>
            <a:ext cx="521334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+ciphertext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+metadata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78473" y="6160599"/>
            <a:ext cx="75946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+verifyAuthTag()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589211" y="1207675"/>
            <a:ext cx="2024380" cy="1689100"/>
            <a:chOff x="6589211" y="1207675"/>
            <a:chExt cx="2024380" cy="1689100"/>
          </a:xfrm>
        </p:grpSpPr>
        <p:sp>
          <p:nvSpPr>
            <p:cNvPr id="38" name="object 38"/>
            <p:cNvSpPr/>
            <p:nvPr/>
          </p:nvSpPr>
          <p:spPr>
            <a:xfrm>
              <a:off x="6598419" y="1216883"/>
              <a:ext cx="2005964" cy="1670685"/>
            </a:xfrm>
            <a:custGeom>
              <a:avLst/>
              <a:gdLst/>
              <a:ahLst/>
              <a:cxnLst/>
              <a:rect l="l" t="t" r="r" b="b"/>
              <a:pathLst>
                <a:path w="2005965" h="1670685">
                  <a:moveTo>
                    <a:pt x="1972468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1636860"/>
                  </a:lnTo>
                  <a:lnTo>
                    <a:pt x="2627" y="1649860"/>
                  </a:lnTo>
                  <a:lnTo>
                    <a:pt x="9792" y="1660479"/>
                  </a:lnTo>
                  <a:lnTo>
                    <a:pt x="20417" y="1667639"/>
                  </a:lnTo>
                  <a:lnTo>
                    <a:pt x="33425" y="1670265"/>
                  </a:lnTo>
                  <a:lnTo>
                    <a:pt x="1972468" y="1670265"/>
                  </a:lnTo>
                  <a:lnTo>
                    <a:pt x="1985329" y="1667639"/>
                  </a:lnTo>
                  <a:lnTo>
                    <a:pt x="1995970" y="1660479"/>
                  </a:lnTo>
                  <a:lnTo>
                    <a:pt x="2003217" y="1649860"/>
                  </a:lnTo>
                  <a:lnTo>
                    <a:pt x="2005894" y="1636860"/>
                  </a:lnTo>
                  <a:lnTo>
                    <a:pt x="2005894" y="33405"/>
                  </a:lnTo>
                  <a:lnTo>
                    <a:pt x="2003217" y="20405"/>
                  </a:lnTo>
                  <a:lnTo>
                    <a:pt x="1995970" y="9786"/>
                  </a:lnTo>
                  <a:lnTo>
                    <a:pt x="1985329" y="2626"/>
                  </a:lnTo>
                  <a:lnTo>
                    <a:pt x="1972468" y="0"/>
                  </a:lnTo>
                  <a:close/>
                </a:path>
              </a:pathLst>
            </a:custGeom>
            <a:solidFill>
              <a:srgbClr val="8EF5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98419" y="1216883"/>
              <a:ext cx="2005964" cy="1670685"/>
            </a:xfrm>
            <a:custGeom>
              <a:avLst/>
              <a:gdLst/>
              <a:ahLst/>
              <a:cxnLst/>
              <a:rect l="l" t="t" r="r" b="b"/>
              <a:pathLst>
                <a:path w="2005965" h="1670685">
                  <a:moveTo>
                    <a:pt x="1972468" y="0"/>
                  </a:moveTo>
                  <a:lnTo>
                    <a:pt x="2005894" y="33405"/>
                  </a:lnTo>
                  <a:lnTo>
                    <a:pt x="2005894" y="1636860"/>
                  </a:lnTo>
                  <a:lnTo>
                    <a:pt x="2003217" y="1649860"/>
                  </a:lnTo>
                  <a:lnTo>
                    <a:pt x="1995970" y="1660479"/>
                  </a:lnTo>
                  <a:lnTo>
                    <a:pt x="1985329" y="1667639"/>
                  </a:lnTo>
                  <a:lnTo>
                    <a:pt x="1972468" y="1670265"/>
                  </a:lnTo>
                  <a:lnTo>
                    <a:pt x="33425" y="1670265"/>
                  </a:lnTo>
                  <a:lnTo>
                    <a:pt x="0" y="1636860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972468" y="0"/>
                  </a:lnTo>
                  <a:close/>
                </a:path>
              </a:pathLst>
            </a:custGeom>
            <a:ln w="1837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98419" y="1216883"/>
              <a:ext cx="2005964" cy="351155"/>
            </a:xfrm>
            <a:custGeom>
              <a:avLst/>
              <a:gdLst/>
              <a:ahLst/>
              <a:cxnLst/>
              <a:rect l="l" t="t" r="r" b="b"/>
              <a:pathLst>
                <a:path w="2005965" h="351155">
                  <a:moveTo>
                    <a:pt x="1972468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317350"/>
                  </a:lnTo>
                  <a:lnTo>
                    <a:pt x="2627" y="330350"/>
                  </a:lnTo>
                  <a:lnTo>
                    <a:pt x="9792" y="340969"/>
                  </a:lnTo>
                  <a:lnTo>
                    <a:pt x="20417" y="348129"/>
                  </a:lnTo>
                  <a:lnTo>
                    <a:pt x="33425" y="350755"/>
                  </a:lnTo>
                  <a:lnTo>
                    <a:pt x="1972468" y="350755"/>
                  </a:lnTo>
                  <a:lnTo>
                    <a:pt x="1985329" y="348129"/>
                  </a:lnTo>
                  <a:lnTo>
                    <a:pt x="1995970" y="340969"/>
                  </a:lnTo>
                  <a:lnTo>
                    <a:pt x="2003217" y="330350"/>
                  </a:lnTo>
                  <a:lnTo>
                    <a:pt x="2005894" y="317350"/>
                  </a:lnTo>
                  <a:lnTo>
                    <a:pt x="2005894" y="33405"/>
                  </a:lnTo>
                  <a:lnTo>
                    <a:pt x="2003217" y="20405"/>
                  </a:lnTo>
                  <a:lnTo>
                    <a:pt x="1995970" y="9786"/>
                  </a:lnTo>
                  <a:lnTo>
                    <a:pt x="1985329" y="2626"/>
                  </a:lnTo>
                  <a:lnTo>
                    <a:pt x="1972468" y="0"/>
                  </a:lnTo>
                  <a:close/>
                </a:path>
              </a:pathLst>
            </a:custGeom>
            <a:solidFill>
              <a:srgbClr val="7DE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98419" y="1216883"/>
              <a:ext cx="2005964" cy="1043940"/>
            </a:xfrm>
            <a:custGeom>
              <a:avLst/>
              <a:gdLst/>
              <a:ahLst/>
              <a:cxnLst/>
              <a:rect l="l" t="t" r="r" b="b"/>
              <a:pathLst>
                <a:path w="2005965" h="1043939">
                  <a:moveTo>
                    <a:pt x="1972468" y="0"/>
                  </a:moveTo>
                  <a:lnTo>
                    <a:pt x="2005894" y="33405"/>
                  </a:lnTo>
                  <a:lnTo>
                    <a:pt x="2005894" y="317350"/>
                  </a:lnTo>
                  <a:lnTo>
                    <a:pt x="2003217" y="330350"/>
                  </a:lnTo>
                  <a:lnTo>
                    <a:pt x="1995970" y="340969"/>
                  </a:lnTo>
                  <a:lnTo>
                    <a:pt x="1985329" y="348129"/>
                  </a:lnTo>
                  <a:lnTo>
                    <a:pt x="1972468" y="350755"/>
                  </a:lnTo>
                  <a:lnTo>
                    <a:pt x="33425" y="350755"/>
                  </a:lnTo>
                  <a:lnTo>
                    <a:pt x="0" y="317350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972468" y="0"/>
                  </a:lnTo>
                  <a:close/>
                </a:path>
                <a:path w="2005965" h="1043939">
                  <a:moveTo>
                    <a:pt x="0" y="1043916"/>
                  </a:moveTo>
                  <a:lnTo>
                    <a:pt x="2005894" y="1043916"/>
                  </a:lnTo>
                </a:path>
              </a:pathLst>
            </a:custGeom>
            <a:ln w="1670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377143" y="1328548"/>
            <a:ext cx="45720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Database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13502" y="1600801"/>
            <a:ext cx="543560" cy="5270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+users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+sessions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+messages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49146" y="1981622"/>
            <a:ext cx="81788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+sensor_samples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13502" y="2310664"/>
            <a:ext cx="630555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+openDb()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+seedUsers()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49146" y="2524459"/>
            <a:ext cx="804545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+userMessages()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514314" y="1207675"/>
            <a:ext cx="1982470" cy="1522095"/>
            <a:chOff x="9514314" y="1207675"/>
            <a:chExt cx="1982470" cy="1522095"/>
          </a:xfrm>
        </p:grpSpPr>
        <p:sp>
          <p:nvSpPr>
            <p:cNvPr id="48" name="object 48"/>
            <p:cNvSpPr/>
            <p:nvPr/>
          </p:nvSpPr>
          <p:spPr>
            <a:xfrm>
              <a:off x="9523522" y="1216883"/>
              <a:ext cx="1964055" cy="1503680"/>
            </a:xfrm>
            <a:custGeom>
              <a:avLst/>
              <a:gdLst/>
              <a:ahLst/>
              <a:cxnLst/>
              <a:rect l="l" t="t" r="r" b="b"/>
              <a:pathLst>
                <a:path w="1964054" h="1503680">
                  <a:moveTo>
                    <a:pt x="1930337" y="0"/>
                  </a:moveTo>
                  <a:lnTo>
                    <a:pt x="33425" y="0"/>
                  </a:lnTo>
                  <a:lnTo>
                    <a:pt x="20270" y="2626"/>
                  </a:lnTo>
                  <a:lnTo>
                    <a:pt x="9662" y="9786"/>
                  </a:lnTo>
                  <a:lnTo>
                    <a:pt x="2578" y="20405"/>
                  </a:lnTo>
                  <a:lnTo>
                    <a:pt x="0" y="33405"/>
                  </a:lnTo>
                  <a:lnTo>
                    <a:pt x="0" y="1469834"/>
                  </a:lnTo>
                  <a:lnTo>
                    <a:pt x="2578" y="1482834"/>
                  </a:lnTo>
                  <a:lnTo>
                    <a:pt x="9662" y="1493452"/>
                  </a:lnTo>
                  <a:lnTo>
                    <a:pt x="20270" y="1500613"/>
                  </a:lnTo>
                  <a:lnTo>
                    <a:pt x="33425" y="1503239"/>
                  </a:lnTo>
                  <a:lnTo>
                    <a:pt x="1930337" y="1503239"/>
                  </a:lnTo>
                  <a:lnTo>
                    <a:pt x="1943199" y="1500613"/>
                  </a:lnTo>
                  <a:lnTo>
                    <a:pt x="1953840" y="1493452"/>
                  </a:lnTo>
                  <a:lnTo>
                    <a:pt x="1961087" y="1482834"/>
                  </a:lnTo>
                  <a:lnTo>
                    <a:pt x="1963763" y="1469834"/>
                  </a:lnTo>
                  <a:lnTo>
                    <a:pt x="1963763" y="33405"/>
                  </a:lnTo>
                  <a:lnTo>
                    <a:pt x="1961087" y="20405"/>
                  </a:lnTo>
                  <a:lnTo>
                    <a:pt x="1953840" y="9786"/>
                  </a:lnTo>
                  <a:lnTo>
                    <a:pt x="1943199" y="2626"/>
                  </a:lnTo>
                  <a:lnTo>
                    <a:pt x="1930337" y="0"/>
                  </a:lnTo>
                  <a:close/>
                </a:path>
              </a:pathLst>
            </a:custGeom>
            <a:solidFill>
              <a:srgbClr val="8EF5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523522" y="1216883"/>
              <a:ext cx="1964055" cy="1503680"/>
            </a:xfrm>
            <a:custGeom>
              <a:avLst/>
              <a:gdLst/>
              <a:ahLst/>
              <a:cxnLst/>
              <a:rect l="l" t="t" r="r" b="b"/>
              <a:pathLst>
                <a:path w="1964054" h="1503680">
                  <a:moveTo>
                    <a:pt x="1930337" y="0"/>
                  </a:moveTo>
                  <a:lnTo>
                    <a:pt x="1963763" y="33405"/>
                  </a:lnTo>
                  <a:lnTo>
                    <a:pt x="1963763" y="1469834"/>
                  </a:lnTo>
                  <a:lnTo>
                    <a:pt x="1961087" y="1482834"/>
                  </a:lnTo>
                  <a:lnTo>
                    <a:pt x="1953840" y="1493452"/>
                  </a:lnTo>
                  <a:lnTo>
                    <a:pt x="1943199" y="1500613"/>
                  </a:lnTo>
                  <a:lnTo>
                    <a:pt x="1930337" y="1503239"/>
                  </a:lnTo>
                  <a:lnTo>
                    <a:pt x="33425" y="1503239"/>
                  </a:lnTo>
                  <a:lnTo>
                    <a:pt x="0" y="1469834"/>
                  </a:lnTo>
                  <a:lnTo>
                    <a:pt x="0" y="33405"/>
                  </a:lnTo>
                  <a:lnTo>
                    <a:pt x="2578" y="20405"/>
                  </a:lnTo>
                  <a:lnTo>
                    <a:pt x="9662" y="9786"/>
                  </a:lnTo>
                  <a:lnTo>
                    <a:pt x="20270" y="2626"/>
                  </a:lnTo>
                  <a:lnTo>
                    <a:pt x="33425" y="0"/>
                  </a:lnTo>
                  <a:lnTo>
                    <a:pt x="1930337" y="0"/>
                  </a:lnTo>
                  <a:close/>
                </a:path>
              </a:pathLst>
            </a:custGeom>
            <a:ln w="1837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523522" y="1216883"/>
              <a:ext cx="1964055" cy="351155"/>
            </a:xfrm>
            <a:custGeom>
              <a:avLst/>
              <a:gdLst/>
              <a:ahLst/>
              <a:cxnLst/>
              <a:rect l="l" t="t" r="r" b="b"/>
              <a:pathLst>
                <a:path w="1964054" h="351155">
                  <a:moveTo>
                    <a:pt x="1930337" y="0"/>
                  </a:moveTo>
                  <a:lnTo>
                    <a:pt x="33425" y="0"/>
                  </a:lnTo>
                  <a:lnTo>
                    <a:pt x="20270" y="2626"/>
                  </a:lnTo>
                  <a:lnTo>
                    <a:pt x="9662" y="9786"/>
                  </a:lnTo>
                  <a:lnTo>
                    <a:pt x="2578" y="20405"/>
                  </a:lnTo>
                  <a:lnTo>
                    <a:pt x="0" y="33405"/>
                  </a:lnTo>
                  <a:lnTo>
                    <a:pt x="0" y="317350"/>
                  </a:lnTo>
                  <a:lnTo>
                    <a:pt x="2578" y="330350"/>
                  </a:lnTo>
                  <a:lnTo>
                    <a:pt x="9662" y="340969"/>
                  </a:lnTo>
                  <a:lnTo>
                    <a:pt x="20270" y="348129"/>
                  </a:lnTo>
                  <a:lnTo>
                    <a:pt x="33425" y="350755"/>
                  </a:lnTo>
                  <a:lnTo>
                    <a:pt x="1930337" y="350755"/>
                  </a:lnTo>
                  <a:lnTo>
                    <a:pt x="1943199" y="348129"/>
                  </a:lnTo>
                  <a:lnTo>
                    <a:pt x="1953840" y="340969"/>
                  </a:lnTo>
                  <a:lnTo>
                    <a:pt x="1961087" y="330350"/>
                  </a:lnTo>
                  <a:lnTo>
                    <a:pt x="1963763" y="317350"/>
                  </a:lnTo>
                  <a:lnTo>
                    <a:pt x="1963763" y="33405"/>
                  </a:lnTo>
                  <a:lnTo>
                    <a:pt x="1961087" y="20405"/>
                  </a:lnTo>
                  <a:lnTo>
                    <a:pt x="1953840" y="9786"/>
                  </a:lnTo>
                  <a:lnTo>
                    <a:pt x="1943199" y="2626"/>
                  </a:lnTo>
                  <a:lnTo>
                    <a:pt x="1930337" y="0"/>
                  </a:lnTo>
                  <a:close/>
                </a:path>
              </a:pathLst>
            </a:custGeom>
            <a:solidFill>
              <a:srgbClr val="7DE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23522" y="1216883"/>
              <a:ext cx="1964055" cy="918844"/>
            </a:xfrm>
            <a:custGeom>
              <a:avLst/>
              <a:gdLst/>
              <a:ahLst/>
              <a:cxnLst/>
              <a:rect l="l" t="t" r="r" b="b"/>
              <a:pathLst>
                <a:path w="1964054" h="918844">
                  <a:moveTo>
                    <a:pt x="1930337" y="0"/>
                  </a:moveTo>
                  <a:lnTo>
                    <a:pt x="1963763" y="33405"/>
                  </a:lnTo>
                  <a:lnTo>
                    <a:pt x="1963763" y="317350"/>
                  </a:lnTo>
                  <a:lnTo>
                    <a:pt x="1961087" y="330350"/>
                  </a:lnTo>
                  <a:lnTo>
                    <a:pt x="1953840" y="340969"/>
                  </a:lnTo>
                  <a:lnTo>
                    <a:pt x="1943199" y="348129"/>
                  </a:lnTo>
                  <a:lnTo>
                    <a:pt x="1930337" y="350755"/>
                  </a:lnTo>
                  <a:lnTo>
                    <a:pt x="33425" y="350755"/>
                  </a:lnTo>
                  <a:lnTo>
                    <a:pt x="0" y="317350"/>
                  </a:lnTo>
                  <a:lnTo>
                    <a:pt x="0" y="33405"/>
                  </a:lnTo>
                  <a:lnTo>
                    <a:pt x="2578" y="20405"/>
                  </a:lnTo>
                  <a:lnTo>
                    <a:pt x="9662" y="9786"/>
                  </a:lnTo>
                  <a:lnTo>
                    <a:pt x="20270" y="2626"/>
                  </a:lnTo>
                  <a:lnTo>
                    <a:pt x="33425" y="0"/>
                  </a:lnTo>
                  <a:lnTo>
                    <a:pt x="1930337" y="0"/>
                  </a:lnTo>
                  <a:close/>
                </a:path>
                <a:path w="1964054" h="918844">
                  <a:moveTo>
                    <a:pt x="0" y="918646"/>
                  </a:moveTo>
                  <a:lnTo>
                    <a:pt x="1963763" y="918646"/>
                  </a:lnTo>
                </a:path>
              </a:pathLst>
            </a:custGeom>
            <a:ln w="1670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164712" y="1328548"/>
            <a:ext cx="685165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KafkaProducer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639649" y="1600801"/>
            <a:ext cx="760730" cy="5270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+brokers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+chatTopicPrefix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+sensorTopic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639649" y="2227151"/>
            <a:ext cx="726440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+publishKafka()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+chatTopic()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589211" y="4464694"/>
            <a:ext cx="2024380" cy="1522095"/>
            <a:chOff x="6589211" y="4464694"/>
            <a:chExt cx="2024380" cy="1522095"/>
          </a:xfrm>
        </p:grpSpPr>
        <p:sp>
          <p:nvSpPr>
            <p:cNvPr id="56" name="object 56"/>
            <p:cNvSpPr/>
            <p:nvPr/>
          </p:nvSpPr>
          <p:spPr>
            <a:xfrm>
              <a:off x="6598419" y="4473902"/>
              <a:ext cx="2005964" cy="1503680"/>
            </a:xfrm>
            <a:custGeom>
              <a:avLst/>
              <a:gdLst/>
              <a:ahLst/>
              <a:cxnLst/>
              <a:rect l="l" t="t" r="r" b="b"/>
              <a:pathLst>
                <a:path w="2005965" h="1503679">
                  <a:moveTo>
                    <a:pt x="1972468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1469834"/>
                  </a:lnTo>
                  <a:lnTo>
                    <a:pt x="2627" y="1482834"/>
                  </a:lnTo>
                  <a:lnTo>
                    <a:pt x="9792" y="1493452"/>
                  </a:lnTo>
                  <a:lnTo>
                    <a:pt x="20417" y="1500613"/>
                  </a:lnTo>
                  <a:lnTo>
                    <a:pt x="33425" y="1503239"/>
                  </a:lnTo>
                  <a:lnTo>
                    <a:pt x="1972468" y="1503239"/>
                  </a:lnTo>
                  <a:lnTo>
                    <a:pt x="1985329" y="1500613"/>
                  </a:lnTo>
                  <a:lnTo>
                    <a:pt x="1995970" y="1493452"/>
                  </a:lnTo>
                  <a:lnTo>
                    <a:pt x="2003217" y="1482834"/>
                  </a:lnTo>
                  <a:lnTo>
                    <a:pt x="2005894" y="1469834"/>
                  </a:lnTo>
                  <a:lnTo>
                    <a:pt x="2005894" y="33405"/>
                  </a:lnTo>
                  <a:lnTo>
                    <a:pt x="2003217" y="20405"/>
                  </a:lnTo>
                  <a:lnTo>
                    <a:pt x="1995970" y="9786"/>
                  </a:lnTo>
                  <a:lnTo>
                    <a:pt x="1985329" y="2626"/>
                  </a:lnTo>
                  <a:lnTo>
                    <a:pt x="1972468" y="0"/>
                  </a:lnTo>
                  <a:close/>
                </a:path>
              </a:pathLst>
            </a:custGeom>
            <a:solidFill>
              <a:srgbClr val="8EF5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98419" y="4473902"/>
              <a:ext cx="2005964" cy="1503680"/>
            </a:xfrm>
            <a:custGeom>
              <a:avLst/>
              <a:gdLst/>
              <a:ahLst/>
              <a:cxnLst/>
              <a:rect l="l" t="t" r="r" b="b"/>
              <a:pathLst>
                <a:path w="2005965" h="1503679">
                  <a:moveTo>
                    <a:pt x="1972468" y="0"/>
                  </a:moveTo>
                  <a:lnTo>
                    <a:pt x="2005894" y="33405"/>
                  </a:lnTo>
                  <a:lnTo>
                    <a:pt x="2005894" y="1469834"/>
                  </a:lnTo>
                  <a:lnTo>
                    <a:pt x="2003217" y="1482834"/>
                  </a:lnTo>
                  <a:lnTo>
                    <a:pt x="1995970" y="1493452"/>
                  </a:lnTo>
                  <a:lnTo>
                    <a:pt x="1985329" y="1500613"/>
                  </a:lnTo>
                  <a:lnTo>
                    <a:pt x="1972468" y="1503239"/>
                  </a:lnTo>
                  <a:lnTo>
                    <a:pt x="33425" y="1503239"/>
                  </a:lnTo>
                  <a:lnTo>
                    <a:pt x="0" y="1469834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972468" y="0"/>
                  </a:lnTo>
                  <a:close/>
                </a:path>
              </a:pathLst>
            </a:custGeom>
            <a:ln w="18376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98419" y="4473902"/>
              <a:ext cx="2005964" cy="351155"/>
            </a:xfrm>
            <a:custGeom>
              <a:avLst/>
              <a:gdLst/>
              <a:ahLst/>
              <a:cxnLst/>
              <a:rect l="l" t="t" r="r" b="b"/>
              <a:pathLst>
                <a:path w="2005965" h="351154">
                  <a:moveTo>
                    <a:pt x="1972468" y="0"/>
                  </a:moveTo>
                  <a:lnTo>
                    <a:pt x="33425" y="0"/>
                  </a:lnTo>
                  <a:lnTo>
                    <a:pt x="20417" y="2626"/>
                  </a:lnTo>
                  <a:lnTo>
                    <a:pt x="9792" y="9786"/>
                  </a:lnTo>
                  <a:lnTo>
                    <a:pt x="2627" y="20405"/>
                  </a:lnTo>
                  <a:lnTo>
                    <a:pt x="0" y="33405"/>
                  </a:lnTo>
                  <a:lnTo>
                    <a:pt x="0" y="317350"/>
                  </a:lnTo>
                  <a:lnTo>
                    <a:pt x="2627" y="330350"/>
                  </a:lnTo>
                  <a:lnTo>
                    <a:pt x="9792" y="340969"/>
                  </a:lnTo>
                  <a:lnTo>
                    <a:pt x="20417" y="348129"/>
                  </a:lnTo>
                  <a:lnTo>
                    <a:pt x="33425" y="350755"/>
                  </a:lnTo>
                  <a:lnTo>
                    <a:pt x="1972468" y="350755"/>
                  </a:lnTo>
                  <a:lnTo>
                    <a:pt x="1985329" y="348129"/>
                  </a:lnTo>
                  <a:lnTo>
                    <a:pt x="1995970" y="340969"/>
                  </a:lnTo>
                  <a:lnTo>
                    <a:pt x="2003217" y="330350"/>
                  </a:lnTo>
                  <a:lnTo>
                    <a:pt x="2005894" y="317350"/>
                  </a:lnTo>
                  <a:lnTo>
                    <a:pt x="2005894" y="33405"/>
                  </a:lnTo>
                  <a:lnTo>
                    <a:pt x="2003217" y="20405"/>
                  </a:lnTo>
                  <a:lnTo>
                    <a:pt x="1995970" y="9786"/>
                  </a:lnTo>
                  <a:lnTo>
                    <a:pt x="1985329" y="2626"/>
                  </a:lnTo>
                  <a:lnTo>
                    <a:pt x="1972468" y="0"/>
                  </a:lnTo>
                  <a:close/>
                </a:path>
              </a:pathLst>
            </a:custGeom>
            <a:solidFill>
              <a:srgbClr val="7DE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598419" y="4473902"/>
              <a:ext cx="2005964" cy="918844"/>
            </a:xfrm>
            <a:custGeom>
              <a:avLst/>
              <a:gdLst/>
              <a:ahLst/>
              <a:cxnLst/>
              <a:rect l="l" t="t" r="r" b="b"/>
              <a:pathLst>
                <a:path w="2005965" h="918845">
                  <a:moveTo>
                    <a:pt x="1972468" y="0"/>
                  </a:moveTo>
                  <a:lnTo>
                    <a:pt x="2005894" y="33405"/>
                  </a:lnTo>
                  <a:lnTo>
                    <a:pt x="2005894" y="317350"/>
                  </a:lnTo>
                  <a:lnTo>
                    <a:pt x="2003217" y="330350"/>
                  </a:lnTo>
                  <a:lnTo>
                    <a:pt x="1995970" y="340969"/>
                  </a:lnTo>
                  <a:lnTo>
                    <a:pt x="1985329" y="348129"/>
                  </a:lnTo>
                  <a:lnTo>
                    <a:pt x="1972468" y="350755"/>
                  </a:lnTo>
                  <a:lnTo>
                    <a:pt x="33425" y="350755"/>
                  </a:lnTo>
                  <a:lnTo>
                    <a:pt x="0" y="317350"/>
                  </a:lnTo>
                  <a:lnTo>
                    <a:pt x="0" y="33405"/>
                  </a:lnTo>
                  <a:lnTo>
                    <a:pt x="2627" y="20405"/>
                  </a:lnTo>
                  <a:lnTo>
                    <a:pt x="9792" y="9786"/>
                  </a:lnTo>
                  <a:lnTo>
                    <a:pt x="20417" y="2626"/>
                  </a:lnTo>
                  <a:lnTo>
                    <a:pt x="33425" y="0"/>
                  </a:lnTo>
                  <a:lnTo>
                    <a:pt x="1972468" y="0"/>
                  </a:lnTo>
                  <a:close/>
                </a:path>
                <a:path w="2005965" h="918845">
                  <a:moveTo>
                    <a:pt x="0" y="918646"/>
                  </a:moveTo>
                  <a:lnTo>
                    <a:pt x="2005894" y="918646"/>
                  </a:lnTo>
                </a:path>
              </a:pathLst>
            </a:custGeom>
            <a:ln w="1670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206532" y="4588907"/>
            <a:ext cx="79375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SensorGenerator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13502" y="4861161"/>
            <a:ext cx="624205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+intervalMs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+temperature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632711" y="5028187"/>
            <a:ext cx="473709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+humidity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+pressure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13502" y="5445754"/>
            <a:ext cx="798195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+createSample()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+startGenerator()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9514314" y="4422937"/>
            <a:ext cx="1982470" cy="1438275"/>
            <a:chOff x="9514314" y="4422937"/>
            <a:chExt cx="1982470" cy="1438275"/>
          </a:xfrm>
        </p:grpSpPr>
        <p:sp>
          <p:nvSpPr>
            <p:cNvPr id="65" name="object 65"/>
            <p:cNvSpPr/>
            <p:nvPr/>
          </p:nvSpPr>
          <p:spPr>
            <a:xfrm>
              <a:off x="9523522" y="4432145"/>
              <a:ext cx="1964055" cy="1419860"/>
            </a:xfrm>
            <a:custGeom>
              <a:avLst/>
              <a:gdLst/>
              <a:ahLst/>
              <a:cxnLst/>
              <a:rect l="l" t="t" r="r" b="b"/>
              <a:pathLst>
                <a:path w="1964054" h="1419860">
                  <a:moveTo>
                    <a:pt x="1930337" y="0"/>
                  </a:moveTo>
                  <a:lnTo>
                    <a:pt x="33425" y="0"/>
                  </a:lnTo>
                  <a:lnTo>
                    <a:pt x="20270" y="2626"/>
                  </a:lnTo>
                  <a:lnTo>
                    <a:pt x="9662" y="9786"/>
                  </a:lnTo>
                  <a:lnTo>
                    <a:pt x="2578" y="20405"/>
                  </a:lnTo>
                  <a:lnTo>
                    <a:pt x="0" y="33405"/>
                  </a:lnTo>
                  <a:lnTo>
                    <a:pt x="0" y="1386320"/>
                  </a:lnTo>
                  <a:lnTo>
                    <a:pt x="2578" y="1399320"/>
                  </a:lnTo>
                  <a:lnTo>
                    <a:pt x="9662" y="1409939"/>
                  </a:lnTo>
                  <a:lnTo>
                    <a:pt x="20270" y="1417099"/>
                  </a:lnTo>
                  <a:lnTo>
                    <a:pt x="33425" y="1419726"/>
                  </a:lnTo>
                  <a:lnTo>
                    <a:pt x="1930337" y="1419726"/>
                  </a:lnTo>
                  <a:lnTo>
                    <a:pt x="1943199" y="1417099"/>
                  </a:lnTo>
                  <a:lnTo>
                    <a:pt x="1953840" y="1409939"/>
                  </a:lnTo>
                  <a:lnTo>
                    <a:pt x="1961087" y="1399320"/>
                  </a:lnTo>
                  <a:lnTo>
                    <a:pt x="1963763" y="1386320"/>
                  </a:lnTo>
                  <a:lnTo>
                    <a:pt x="1963763" y="33405"/>
                  </a:lnTo>
                  <a:lnTo>
                    <a:pt x="1961087" y="20405"/>
                  </a:lnTo>
                  <a:lnTo>
                    <a:pt x="1953840" y="9786"/>
                  </a:lnTo>
                  <a:lnTo>
                    <a:pt x="1943199" y="2626"/>
                  </a:lnTo>
                  <a:lnTo>
                    <a:pt x="1930337" y="0"/>
                  </a:lnTo>
                  <a:close/>
                </a:path>
              </a:pathLst>
            </a:custGeom>
            <a:solidFill>
              <a:srgbClr val="8EF5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523522" y="4432145"/>
              <a:ext cx="1964055" cy="1419860"/>
            </a:xfrm>
            <a:custGeom>
              <a:avLst/>
              <a:gdLst/>
              <a:ahLst/>
              <a:cxnLst/>
              <a:rect l="l" t="t" r="r" b="b"/>
              <a:pathLst>
                <a:path w="1964054" h="1419860">
                  <a:moveTo>
                    <a:pt x="1930337" y="0"/>
                  </a:moveTo>
                  <a:lnTo>
                    <a:pt x="1963763" y="33405"/>
                  </a:lnTo>
                  <a:lnTo>
                    <a:pt x="1963763" y="1386320"/>
                  </a:lnTo>
                  <a:lnTo>
                    <a:pt x="1961087" y="1399320"/>
                  </a:lnTo>
                  <a:lnTo>
                    <a:pt x="1953840" y="1409939"/>
                  </a:lnTo>
                  <a:lnTo>
                    <a:pt x="1943199" y="1417099"/>
                  </a:lnTo>
                  <a:lnTo>
                    <a:pt x="1930337" y="1419726"/>
                  </a:lnTo>
                  <a:lnTo>
                    <a:pt x="33425" y="1419726"/>
                  </a:lnTo>
                  <a:lnTo>
                    <a:pt x="0" y="1386320"/>
                  </a:lnTo>
                  <a:lnTo>
                    <a:pt x="0" y="33405"/>
                  </a:lnTo>
                  <a:lnTo>
                    <a:pt x="2578" y="20405"/>
                  </a:lnTo>
                  <a:lnTo>
                    <a:pt x="9662" y="9786"/>
                  </a:lnTo>
                  <a:lnTo>
                    <a:pt x="20270" y="2626"/>
                  </a:lnTo>
                  <a:lnTo>
                    <a:pt x="33425" y="0"/>
                  </a:lnTo>
                  <a:lnTo>
                    <a:pt x="1930337" y="0"/>
                  </a:lnTo>
                  <a:close/>
                </a:path>
              </a:pathLst>
            </a:custGeom>
            <a:ln w="18376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523522" y="4432145"/>
              <a:ext cx="1964055" cy="351155"/>
            </a:xfrm>
            <a:custGeom>
              <a:avLst/>
              <a:gdLst/>
              <a:ahLst/>
              <a:cxnLst/>
              <a:rect l="l" t="t" r="r" b="b"/>
              <a:pathLst>
                <a:path w="1964054" h="351154">
                  <a:moveTo>
                    <a:pt x="1930337" y="0"/>
                  </a:moveTo>
                  <a:lnTo>
                    <a:pt x="33425" y="0"/>
                  </a:lnTo>
                  <a:lnTo>
                    <a:pt x="20270" y="2626"/>
                  </a:lnTo>
                  <a:lnTo>
                    <a:pt x="9662" y="9786"/>
                  </a:lnTo>
                  <a:lnTo>
                    <a:pt x="2578" y="20405"/>
                  </a:lnTo>
                  <a:lnTo>
                    <a:pt x="0" y="33405"/>
                  </a:lnTo>
                  <a:lnTo>
                    <a:pt x="0" y="317350"/>
                  </a:lnTo>
                  <a:lnTo>
                    <a:pt x="2578" y="330350"/>
                  </a:lnTo>
                  <a:lnTo>
                    <a:pt x="9662" y="340969"/>
                  </a:lnTo>
                  <a:lnTo>
                    <a:pt x="20270" y="348129"/>
                  </a:lnTo>
                  <a:lnTo>
                    <a:pt x="33425" y="350755"/>
                  </a:lnTo>
                  <a:lnTo>
                    <a:pt x="1930337" y="350755"/>
                  </a:lnTo>
                  <a:lnTo>
                    <a:pt x="1943199" y="348129"/>
                  </a:lnTo>
                  <a:lnTo>
                    <a:pt x="1953840" y="340969"/>
                  </a:lnTo>
                  <a:lnTo>
                    <a:pt x="1961087" y="330350"/>
                  </a:lnTo>
                  <a:lnTo>
                    <a:pt x="1963763" y="317350"/>
                  </a:lnTo>
                  <a:lnTo>
                    <a:pt x="1963763" y="33405"/>
                  </a:lnTo>
                  <a:lnTo>
                    <a:pt x="1961087" y="20405"/>
                  </a:lnTo>
                  <a:lnTo>
                    <a:pt x="1953840" y="9786"/>
                  </a:lnTo>
                  <a:lnTo>
                    <a:pt x="1943199" y="2626"/>
                  </a:lnTo>
                  <a:lnTo>
                    <a:pt x="1930337" y="0"/>
                  </a:lnTo>
                  <a:close/>
                </a:path>
              </a:pathLst>
            </a:custGeom>
            <a:solidFill>
              <a:srgbClr val="7DE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523522" y="4432145"/>
              <a:ext cx="1964055" cy="835660"/>
            </a:xfrm>
            <a:custGeom>
              <a:avLst/>
              <a:gdLst/>
              <a:ahLst/>
              <a:cxnLst/>
              <a:rect l="l" t="t" r="r" b="b"/>
              <a:pathLst>
                <a:path w="1964054" h="835660">
                  <a:moveTo>
                    <a:pt x="1930337" y="0"/>
                  </a:moveTo>
                  <a:lnTo>
                    <a:pt x="1963763" y="33405"/>
                  </a:lnTo>
                  <a:lnTo>
                    <a:pt x="1963763" y="317350"/>
                  </a:lnTo>
                  <a:lnTo>
                    <a:pt x="1961087" y="330350"/>
                  </a:lnTo>
                  <a:lnTo>
                    <a:pt x="1953840" y="340969"/>
                  </a:lnTo>
                  <a:lnTo>
                    <a:pt x="1943199" y="348129"/>
                  </a:lnTo>
                  <a:lnTo>
                    <a:pt x="1930337" y="350755"/>
                  </a:lnTo>
                  <a:lnTo>
                    <a:pt x="33425" y="350755"/>
                  </a:lnTo>
                  <a:lnTo>
                    <a:pt x="0" y="317350"/>
                  </a:lnTo>
                  <a:lnTo>
                    <a:pt x="0" y="33405"/>
                  </a:lnTo>
                  <a:lnTo>
                    <a:pt x="2578" y="20405"/>
                  </a:lnTo>
                  <a:lnTo>
                    <a:pt x="9662" y="9786"/>
                  </a:lnTo>
                  <a:lnTo>
                    <a:pt x="20270" y="2626"/>
                  </a:lnTo>
                  <a:lnTo>
                    <a:pt x="33425" y="0"/>
                  </a:lnTo>
                  <a:lnTo>
                    <a:pt x="1930337" y="0"/>
                  </a:lnTo>
                  <a:close/>
                </a:path>
                <a:path w="1964054" h="835660">
                  <a:moveTo>
                    <a:pt x="0" y="835132"/>
                  </a:moveTo>
                  <a:lnTo>
                    <a:pt x="1963763" y="835132"/>
                  </a:lnTo>
                </a:path>
              </a:pathLst>
            </a:custGeom>
            <a:ln w="16707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0147999" y="4547151"/>
            <a:ext cx="71882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GrafanaMonitor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639649" y="4819404"/>
            <a:ext cx="1145540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+dashboards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889635" algn="l"/>
              </a:tabLst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+datasources</a:t>
            </a:r>
            <a:r>
              <a:rPr sz="750" dirty="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sz="750" spc="-20" dirty="0">
                <a:solidFill>
                  <a:srgbClr val="111111"/>
                </a:solidFill>
                <a:latin typeface="Arial MT"/>
                <a:cs typeface="Arial MT"/>
              </a:rPr>
              <a:t>+logs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39649" y="5362240"/>
            <a:ext cx="869950" cy="3600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+showSensors()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750" spc="-10" dirty="0">
                <a:solidFill>
                  <a:srgbClr val="111111"/>
                </a:solidFill>
                <a:latin typeface="Arial MT"/>
                <a:cs typeface="Arial MT"/>
              </a:rPr>
              <a:t>+showContainers()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587327" y="1717963"/>
            <a:ext cx="1003300" cy="292735"/>
          </a:xfrm>
          <a:custGeom>
            <a:avLst/>
            <a:gdLst/>
            <a:ahLst/>
            <a:cxnLst/>
            <a:rect l="l" t="t" r="r" b="b"/>
            <a:pathLst>
              <a:path w="1003300" h="292735">
                <a:moveTo>
                  <a:pt x="0" y="292296"/>
                </a:moveTo>
                <a:lnTo>
                  <a:pt x="543168" y="292296"/>
                </a:lnTo>
                <a:lnTo>
                  <a:pt x="543168" y="0"/>
                </a:lnTo>
                <a:lnTo>
                  <a:pt x="1002772" y="0"/>
                </a:lnTo>
              </a:path>
            </a:pathLst>
          </a:custGeom>
          <a:ln w="20044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2799345" y="1689325"/>
            <a:ext cx="47117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dirty="0">
                <a:solidFill>
                  <a:srgbClr val="2C2C2C"/>
                </a:solidFill>
                <a:latin typeface="Arial MT"/>
                <a:cs typeface="Arial MT"/>
              </a:rPr>
              <a:t>HTTP</a:t>
            </a:r>
            <a:r>
              <a:rPr sz="750" spc="45" dirty="0">
                <a:solidFill>
                  <a:srgbClr val="2C2C2C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2C2C2C"/>
                </a:solidFill>
                <a:latin typeface="Arial MT"/>
                <a:cs typeface="Arial MT"/>
              </a:rPr>
              <a:t>APl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754456" y="799316"/>
            <a:ext cx="7755710" cy="4426430"/>
            <a:chOff x="2754456" y="799316"/>
            <a:chExt cx="7755710" cy="4426430"/>
          </a:xfrm>
        </p:grpSpPr>
        <p:sp>
          <p:nvSpPr>
            <p:cNvPr id="75" name="object 75"/>
            <p:cNvSpPr/>
            <p:nvPr/>
          </p:nvSpPr>
          <p:spPr>
            <a:xfrm>
              <a:off x="4551091" y="2636609"/>
              <a:ext cx="0" cy="1043940"/>
            </a:xfrm>
            <a:custGeom>
              <a:avLst/>
              <a:gdLst/>
              <a:ahLst/>
              <a:cxnLst/>
              <a:rect l="l" t="t" r="r" b="b"/>
              <a:pathLst>
                <a:path h="1043939">
                  <a:moveTo>
                    <a:pt x="0" y="0"/>
                  </a:moveTo>
                  <a:lnTo>
                    <a:pt x="0" y="1043916"/>
                  </a:lnTo>
                </a:path>
              </a:pathLst>
            </a:custGeom>
            <a:ln w="20055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2459" y="2628255"/>
              <a:ext cx="217262" cy="21713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512081" y="1717963"/>
              <a:ext cx="1086485" cy="334645"/>
            </a:xfrm>
            <a:custGeom>
              <a:avLst/>
              <a:gdLst/>
              <a:ahLst/>
              <a:cxnLst/>
              <a:rect l="l" t="t" r="r" b="b"/>
              <a:pathLst>
                <a:path w="1086484" h="334644">
                  <a:moveTo>
                    <a:pt x="0" y="0"/>
                  </a:moveTo>
                  <a:lnTo>
                    <a:pt x="584950" y="0"/>
                  </a:lnTo>
                  <a:lnTo>
                    <a:pt x="584950" y="334053"/>
                  </a:lnTo>
                  <a:lnTo>
                    <a:pt x="1086337" y="334053"/>
                  </a:lnTo>
                </a:path>
              </a:pathLst>
            </a:custGeom>
            <a:ln w="20044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3450" y="1600200"/>
              <a:ext cx="217262" cy="21713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512081" y="799316"/>
              <a:ext cx="4998085" cy="417830"/>
            </a:xfrm>
            <a:custGeom>
              <a:avLst/>
              <a:gdLst/>
              <a:ahLst/>
              <a:cxnLst/>
              <a:rect l="l" t="t" r="r" b="b"/>
              <a:pathLst>
                <a:path w="4998084" h="417830">
                  <a:moveTo>
                    <a:pt x="0" y="375809"/>
                  </a:moveTo>
                  <a:lnTo>
                    <a:pt x="960990" y="375809"/>
                  </a:lnTo>
                  <a:lnTo>
                    <a:pt x="960990" y="0"/>
                  </a:lnTo>
                  <a:lnTo>
                    <a:pt x="4997500" y="0"/>
                  </a:lnTo>
                  <a:lnTo>
                    <a:pt x="4997500" y="417566"/>
                  </a:lnTo>
                </a:path>
              </a:pathLst>
            </a:custGeom>
            <a:ln w="20043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3450" y="1078261"/>
              <a:ext cx="217262" cy="217139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754456" y="2052016"/>
              <a:ext cx="6769100" cy="3173730"/>
            </a:xfrm>
            <a:custGeom>
              <a:avLst/>
              <a:gdLst/>
              <a:ahLst/>
              <a:cxnLst/>
              <a:rect l="l" t="t" r="r" b="b"/>
              <a:pathLst>
                <a:path w="6769100" h="3173729">
                  <a:moveTo>
                    <a:pt x="835644" y="2839452"/>
                  </a:moveTo>
                  <a:lnTo>
                    <a:pt x="0" y="2839452"/>
                  </a:lnTo>
                  <a:lnTo>
                    <a:pt x="0" y="3173505"/>
                  </a:lnTo>
                </a:path>
                <a:path w="6769100" h="3173729">
                  <a:moveTo>
                    <a:pt x="4847084" y="2421885"/>
                  </a:moveTo>
                  <a:lnTo>
                    <a:pt x="4847084" y="835132"/>
                  </a:lnTo>
                </a:path>
                <a:path w="6769100" h="3173729">
                  <a:moveTo>
                    <a:pt x="5849857" y="3173505"/>
                  </a:moveTo>
                  <a:lnTo>
                    <a:pt x="6351243" y="3173505"/>
                  </a:lnTo>
                  <a:lnTo>
                    <a:pt x="6351243" y="0"/>
                  </a:lnTo>
                  <a:lnTo>
                    <a:pt x="6769065" y="0"/>
                  </a:lnTo>
                </a:path>
              </a:pathLst>
            </a:custGeom>
            <a:ln w="20049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4706285" y="3082327"/>
            <a:ext cx="2355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2C2C2C"/>
                </a:solidFill>
                <a:latin typeface="Arial MT"/>
                <a:cs typeface="Arial MT"/>
              </a:rPr>
              <a:t>uses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836076" y="1480542"/>
            <a:ext cx="30099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2C2C2C"/>
                </a:solidFill>
                <a:latin typeface="Arial MT"/>
                <a:cs typeface="Arial MT"/>
              </a:rPr>
              <a:t>stores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256671" y="560226"/>
            <a:ext cx="90170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dirty="0">
                <a:solidFill>
                  <a:srgbClr val="2C2C2C"/>
                </a:solidFill>
                <a:latin typeface="Arial MT"/>
                <a:cs typeface="Arial MT"/>
              </a:rPr>
              <a:t>publishes</a:t>
            </a:r>
            <a:r>
              <a:rPr sz="750" spc="85" dirty="0">
                <a:solidFill>
                  <a:srgbClr val="2C2C2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2C2C2C"/>
                </a:solidFill>
                <a:latin typeface="Arial MT"/>
                <a:cs typeface="Arial MT"/>
              </a:rPr>
              <a:t>chat</a:t>
            </a:r>
            <a:r>
              <a:rPr sz="750" spc="155" dirty="0">
                <a:solidFill>
                  <a:srgbClr val="2C2C2C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2C2C2C"/>
                </a:solidFill>
                <a:latin typeface="Arial MT"/>
                <a:cs typeface="Arial MT"/>
              </a:rPr>
              <a:t>topic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866197" y="4655718"/>
            <a:ext cx="351155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2C2C2C"/>
                </a:solidFill>
                <a:latin typeface="Arial MT"/>
                <a:cs typeface="Arial MT"/>
              </a:rPr>
              <a:t>creates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758058" y="3611802"/>
            <a:ext cx="28448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2C2C2C"/>
                </a:solidFill>
                <a:latin typeface="Arial MT"/>
                <a:cs typeface="Arial MT"/>
              </a:rPr>
              <a:t>writes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180045" y="3486532"/>
            <a:ext cx="568325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dirty="0">
                <a:solidFill>
                  <a:srgbClr val="2C2C2C"/>
                </a:solidFill>
                <a:latin typeface="Arial MT"/>
                <a:cs typeface="Arial MT"/>
              </a:rPr>
              <a:t>sensor</a:t>
            </a:r>
            <a:r>
              <a:rPr sz="750" spc="85" dirty="0">
                <a:solidFill>
                  <a:srgbClr val="2C2C2C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2C2C2C"/>
                </a:solidFill>
                <a:latin typeface="Arial MT"/>
                <a:cs typeface="Arial MT"/>
              </a:rPr>
              <a:t>topic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604313" y="2720122"/>
            <a:ext cx="1905635" cy="2672715"/>
          </a:xfrm>
          <a:custGeom>
            <a:avLst/>
            <a:gdLst/>
            <a:ahLst/>
            <a:cxnLst/>
            <a:rect l="l" t="t" r="r" b="b"/>
            <a:pathLst>
              <a:path w="1905634" h="2672715">
                <a:moveTo>
                  <a:pt x="1905268" y="0"/>
                </a:moveTo>
                <a:lnTo>
                  <a:pt x="1905268" y="1712022"/>
                </a:lnTo>
              </a:path>
              <a:path w="1905634" h="2672715">
                <a:moveTo>
                  <a:pt x="0" y="2672425"/>
                </a:moveTo>
                <a:lnTo>
                  <a:pt x="919208" y="2672425"/>
                </a:lnTo>
              </a:path>
            </a:pathLst>
          </a:custGeom>
          <a:ln w="20049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10667492" y="3486532"/>
            <a:ext cx="61849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dirty="0">
                <a:solidFill>
                  <a:srgbClr val="2C2C2C"/>
                </a:solidFill>
                <a:latin typeface="Arial MT"/>
                <a:cs typeface="Arial MT"/>
              </a:rPr>
              <a:t>logs</a:t>
            </a:r>
            <a:r>
              <a:rPr sz="750" spc="55" dirty="0">
                <a:solidFill>
                  <a:srgbClr val="2C2C2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2C2C2C"/>
                </a:solidFill>
                <a:latin typeface="Arial MT"/>
                <a:cs typeface="Arial MT"/>
              </a:rPr>
              <a:t>/</a:t>
            </a:r>
            <a:r>
              <a:rPr sz="750" spc="45" dirty="0">
                <a:solidFill>
                  <a:srgbClr val="2C2C2C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2C2C2C"/>
                </a:solidFill>
                <a:latin typeface="Arial MT"/>
                <a:cs typeface="Arial MT"/>
              </a:rPr>
              <a:t>metrics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845787" y="5158468"/>
            <a:ext cx="40132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10" dirty="0">
                <a:solidFill>
                  <a:srgbClr val="2C2C2C"/>
                </a:solidFill>
                <a:latin typeface="Arial MT"/>
                <a:cs typeface="Arial MT"/>
              </a:rPr>
              <a:t>samples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657286" y="1856352"/>
            <a:ext cx="8128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50" dirty="0">
                <a:solidFill>
                  <a:srgbClr val="111111"/>
                </a:solidFill>
                <a:latin typeface="Arial MT"/>
                <a:cs typeface="Arial MT"/>
              </a:rPr>
              <a:t>1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437740" y="1881406"/>
            <a:ext cx="64769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50" dirty="0">
                <a:solidFill>
                  <a:srgbClr val="111111"/>
                </a:solidFill>
                <a:latin typeface="Arial MT"/>
                <a:cs typeface="Arial MT"/>
              </a:rPr>
              <a:t>*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678659" y="5241981"/>
            <a:ext cx="8128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50" dirty="0">
                <a:solidFill>
                  <a:srgbClr val="111111"/>
                </a:solidFill>
                <a:latin typeface="Arial MT"/>
                <a:cs typeface="Arial MT"/>
              </a:rPr>
              <a:t>1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363887" y="5241981"/>
            <a:ext cx="64769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spc="-50" dirty="0">
                <a:solidFill>
                  <a:srgbClr val="111111"/>
                </a:solidFill>
                <a:latin typeface="Arial MT"/>
                <a:cs typeface="Arial MT"/>
              </a:rPr>
              <a:t>*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480059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5" dirty="0">
                <a:solidFill>
                  <a:srgbClr val="1F9BD1"/>
                </a:solidFill>
                <a:latin typeface="Tahoma"/>
                <a:cs typeface="Tahoma"/>
              </a:rPr>
              <a:t>CRYPTO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Как</a:t>
            </a:r>
            <a:r>
              <a:rPr spc="-195" dirty="0"/>
              <a:t> </a:t>
            </a:r>
            <a:r>
              <a:rPr spc="-150" dirty="0"/>
              <a:t>реализовано</a:t>
            </a:r>
            <a:r>
              <a:rPr spc="-195" dirty="0"/>
              <a:t> </a:t>
            </a:r>
            <a:r>
              <a:rPr spc="-155" dirty="0"/>
              <a:t>шифрование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25169" y="1593850"/>
            <a:ext cx="5041900" cy="4401820"/>
            <a:chOff x="725169" y="1593850"/>
            <a:chExt cx="5041900" cy="4401820"/>
          </a:xfrm>
        </p:grpSpPr>
        <p:sp>
          <p:nvSpPr>
            <p:cNvPr id="7" name="object 7"/>
            <p:cNvSpPr/>
            <p:nvPr/>
          </p:nvSpPr>
          <p:spPr>
            <a:xfrm>
              <a:off x="731519" y="1600200"/>
              <a:ext cx="5029200" cy="4389120"/>
            </a:xfrm>
            <a:custGeom>
              <a:avLst/>
              <a:gdLst/>
              <a:ahLst/>
              <a:cxnLst/>
              <a:rect l="l" t="t" r="r" b="b"/>
              <a:pathLst>
                <a:path w="5029200" h="4389120">
                  <a:moveTo>
                    <a:pt x="5029200" y="0"/>
                  </a:moveTo>
                  <a:lnTo>
                    <a:pt x="0" y="0"/>
                  </a:lnTo>
                  <a:lnTo>
                    <a:pt x="0" y="4389120"/>
                  </a:lnTo>
                  <a:lnTo>
                    <a:pt x="5029200" y="4389120"/>
                  </a:lnTo>
                  <a:lnTo>
                    <a:pt x="5029200" y="0"/>
                  </a:lnTo>
                  <a:close/>
                </a:path>
              </a:pathLst>
            </a:custGeom>
            <a:solidFill>
              <a:srgbClr val="040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1519" y="1600200"/>
              <a:ext cx="5029200" cy="4389120"/>
            </a:xfrm>
            <a:custGeom>
              <a:avLst/>
              <a:gdLst/>
              <a:ahLst/>
              <a:cxnLst/>
              <a:rect l="l" t="t" r="r" b="b"/>
              <a:pathLst>
                <a:path w="5029200" h="4389120">
                  <a:moveTo>
                    <a:pt x="0" y="4389120"/>
                  </a:moveTo>
                  <a:lnTo>
                    <a:pt x="5029200" y="438912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4389120"/>
                  </a:lnTo>
                  <a:close/>
                </a:path>
              </a:pathLst>
            </a:custGeom>
            <a:ln w="12700">
              <a:solidFill>
                <a:srgbClr val="3043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6403" y="2809366"/>
              <a:ext cx="42671" cy="1051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9847" y="2934335"/>
              <a:ext cx="955522" cy="1554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9847" y="3074238"/>
              <a:ext cx="1229918" cy="1557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37486" y="3136844"/>
              <a:ext cx="56388" cy="106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9969" y="3074238"/>
              <a:ext cx="270256" cy="15575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8758" y="3136844"/>
              <a:ext cx="56388" cy="106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71241" y="3074238"/>
              <a:ext cx="409651" cy="1557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9847" y="3215005"/>
              <a:ext cx="886917" cy="1554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9847" y="3355213"/>
              <a:ext cx="1432560" cy="1554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9847" y="3495420"/>
              <a:ext cx="1228305" cy="1554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9847" y="3635629"/>
              <a:ext cx="955522" cy="1554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7312" y="3775836"/>
              <a:ext cx="1363599" cy="1554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7312" y="3916045"/>
              <a:ext cx="1295019" cy="1554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07312" y="4056252"/>
              <a:ext cx="1499234" cy="1554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7312" y="4196460"/>
              <a:ext cx="2933699" cy="1554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7312" y="4336669"/>
              <a:ext cx="1295019" cy="15544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2180" y="4491842"/>
              <a:ext cx="43162" cy="10536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4879" y="4632705"/>
              <a:ext cx="42671" cy="10515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434709" y="2662554"/>
            <a:ext cx="4473575" cy="17818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735"/>
              </a:lnSpc>
              <a:spcBef>
                <a:spcPts val="90"/>
              </a:spcBef>
            </a:pPr>
            <a:r>
              <a:rPr sz="1450" spc="-50" dirty="0">
                <a:solidFill>
                  <a:srgbClr val="F5F8FA"/>
                </a:solidFill>
                <a:latin typeface="Trebuchet MS"/>
                <a:cs typeface="Trebuchet MS"/>
              </a:rPr>
              <a:t>`ciphertext`</a:t>
            </a:r>
            <a:r>
              <a:rPr sz="1450" spc="-4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F5F8FA"/>
                </a:solidFill>
                <a:latin typeface="Trebuchet MS"/>
                <a:cs typeface="Trebuchet MS"/>
              </a:rPr>
              <a:t>скрывает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55" dirty="0">
                <a:solidFill>
                  <a:srgbClr val="F5F8FA"/>
                </a:solidFill>
                <a:latin typeface="Trebuchet MS"/>
                <a:cs typeface="Trebuchet MS"/>
              </a:rPr>
              <a:t>текст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сообщения.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`iv`</a:t>
            </a:r>
            <a:r>
              <a:rPr sz="145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45" dirty="0">
                <a:solidFill>
                  <a:srgbClr val="F5F8FA"/>
                </a:solidFill>
                <a:latin typeface="Trebuchet MS"/>
                <a:cs typeface="Trebuchet MS"/>
              </a:rPr>
              <a:t>делает</a:t>
            </a:r>
            <a:r>
              <a:rPr sz="145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5F8FA"/>
                </a:solidFill>
                <a:latin typeface="Trebuchet MS"/>
                <a:cs typeface="Trebuchet MS"/>
              </a:rPr>
              <a:t>шифрование</a:t>
            </a:r>
            <a:r>
              <a:rPr sz="145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30" dirty="0">
                <a:solidFill>
                  <a:srgbClr val="F5F8FA"/>
                </a:solidFill>
                <a:latin typeface="Trebuchet MS"/>
                <a:cs typeface="Trebuchet MS"/>
              </a:rPr>
              <a:t>разных</a:t>
            </a:r>
            <a:r>
              <a:rPr sz="145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сообщений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уникальным.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sz="1450" spc="-55" dirty="0">
                <a:solidFill>
                  <a:srgbClr val="F5F8FA"/>
                </a:solidFill>
                <a:latin typeface="Trebuchet MS"/>
                <a:cs typeface="Trebuchet MS"/>
              </a:rPr>
              <a:t>`authTag`</a:t>
            </a:r>
            <a:r>
              <a:rPr sz="1450" spc="-6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35" dirty="0">
                <a:solidFill>
                  <a:srgbClr val="F5F8FA"/>
                </a:solidFill>
                <a:latin typeface="Trebuchet MS"/>
                <a:cs typeface="Trebuchet MS"/>
              </a:rPr>
              <a:t>проверяет</a:t>
            </a:r>
            <a:r>
              <a:rPr sz="1450" spc="-4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целостность</a:t>
            </a:r>
            <a:r>
              <a:rPr sz="1450" spc="-6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контейнера.</a:t>
            </a:r>
            <a:endParaRPr sz="1450">
              <a:latin typeface="Trebuchet MS"/>
              <a:cs typeface="Trebuchet MS"/>
            </a:endParaRPr>
          </a:p>
          <a:p>
            <a:pPr marL="12700" marR="135255">
              <a:lnSpc>
                <a:spcPts val="1730"/>
              </a:lnSpc>
              <a:spcBef>
                <a:spcPts val="60"/>
              </a:spcBef>
            </a:pPr>
            <a:r>
              <a:rPr sz="1450" spc="-30" dirty="0">
                <a:solidFill>
                  <a:srgbClr val="F5F8FA"/>
                </a:solidFill>
                <a:latin typeface="Trebuchet MS"/>
                <a:cs typeface="Trebuchet MS"/>
              </a:rPr>
              <a:t>`metadata`</a:t>
            </a:r>
            <a:r>
              <a:rPr sz="145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связывает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сообщение</a:t>
            </a:r>
            <a:r>
              <a:rPr sz="1450" spc="-6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с</a:t>
            </a:r>
            <a:r>
              <a:rPr sz="145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пользователем, </a:t>
            </a:r>
            <a:r>
              <a:rPr sz="1450" spc="-40" dirty="0">
                <a:solidFill>
                  <a:srgbClr val="F5F8FA"/>
                </a:solidFill>
                <a:latin typeface="Trebuchet MS"/>
                <a:cs typeface="Trebuchet MS"/>
              </a:rPr>
              <a:t>получателем</a:t>
            </a:r>
            <a:r>
              <a:rPr sz="145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450" spc="-10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50" dirty="0">
                <a:solidFill>
                  <a:srgbClr val="F5F8FA"/>
                </a:solidFill>
                <a:latin typeface="Trebuchet MS"/>
                <a:cs typeface="Trebuchet MS"/>
              </a:rPr>
              <a:t>Kafka</a:t>
            </a:r>
            <a:r>
              <a:rPr sz="145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topic.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Пароли</a:t>
            </a:r>
            <a:r>
              <a:rPr sz="145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F5F8FA"/>
                </a:solidFill>
                <a:latin typeface="Trebuchet MS"/>
                <a:cs typeface="Trebuchet MS"/>
              </a:rPr>
              <a:t>не</a:t>
            </a:r>
            <a:r>
              <a:rPr sz="145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F5F8FA"/>
                </a:solidFill>
                <a:latin typeface="Trebuchet MS"/>
                <a:cs typeface="Trebuchet MS"/>
              </a:rPr>
              <a:t>шифруются,</a:t>
            </a:r>
            <a:r>
              <a:rPr sz="145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а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30" dirty="0">
                <a:solidFill>
                  <a:srgbClr val="F5F8FA"/>
                </a:solidFill>
                <a:latin typeface="Trebuchet MS"/>
                <a:cs typeface="Trebuchet MS"/>
              </a:rPr>
              <a:t>хешируются</a:t>
            </a:r>
            <a:r>
              <a:rPr sz="145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F5F8FA"/>
                </a:solidFill>
                <a:latin typeface="Trebuchet MS"/>
                <a:cs typeface="Trebuchet MS"/>
              </a:rPr>
              <a:t>через</a:t>
            </a:r>
            <a:r>
              <a:rPr sz="145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F5F8FA"/>
                </a:solidFill>
                <a:latin typeface="Trebuchet MS"/>
                <a:cs typeface="Trebuchet MS"/>
              </a:rPr>
              <a:t>PBKDF2</a:t>
            </a:r>
            <a:r>
              <a:rPr sz="145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50" spc="-50" dirty="0">
                <a:solidFill>
                  <a:srgbClr val="F5F8FA"/>
                </a:solidFill>
                <a:latin typeface="Trebuchet MS"/>
                <a:cs typeface="Trebuchet MS"/>
              </a:rPr>
              <a:t>+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5"/>
              </a:lnSpc>
            </a:pPr>
            <a:r>
              <a:rPr sz="1450" spc="-10" dirty="0">
                <a:solidFill>
                  <a:srgbClr val="F5F8FA"/>
                </a:solidFill>
                <a:latin typeface="Trebuchet MS"/>
                <a:cs typeface="Trebuchet MS"/>
              </a:rPr>
              <a:t>salt.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11396471" y="6408012"/>
            <a:ext cx="2235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pc="-25" dirty="0" smtClean="0"/>
              <a:t>1</a:t>
            </a:r>
            <a:r>
              <a:rPr lang="ru-RU" spc="-25" dirty="0" smtClean="0"/>
              <a:t>0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1" y="-33821"/>
            <a:ext cx="12193702" cy="692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8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56388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5" dirty="0">
                <a:solidFill>
                  <a:srgbClr val="1F9BD1"/>
                </a:solidFill>
                <a:latin typeface="Tahoma"/>
                <a:cs typeface="Tahoma"/>
              </a:rPr>
              <a:t>GRAFANA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Наблюдаемость:</a:t>
            </a:r>
            <a:r>
              <a:rPr spc="-175" dirty="0"/>
              <a:t> </a:t>
            </a:r>
            <a:r>
              <a:rPr spc="-295" dirty="0"/>
              <a:t>2</a:t>
            </a:r>
            <a:r>
              <a:rPr spc="-175" dirty="0"/>
              <a:t> </a:t>
            </a:r>
            <a:r>
              <a:rPr spc="-85" dirty="0"/>
              <a:t>дашборда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8680" y="1828800"/>
            <a:ext cx="4754880" cy="1874520"/>
          </a:xfrm>
          <a:prstGeom prst="rect">
            <a:avLst/>
          </a:prstGeom>
          <a:solidFill>
            <a:srgbClr val="1F9BD1"/>
          </a:solidFill>
          <a:ln w="15240">
            <a:solidFill>
              <a:srgbClr val="30435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500">
              <a:latin typeface="Times New Roman"/>
              <a:cs typeface="Times New Roman"/>
            </a:endParaRPr>
          </a:p>
          <a:p>
            <a:pPr marL="219075" marR="2654300">
              <a:lnSpc>
                <a:spcPct val="100000"/>
              </a:lnSpc>
            </a:pPr>
            <a:r>
              <a:rPr sz="1500" b="1" spc="-85" dirty="0">
                <a:solidFill>
                  <a:srgbClr val="F5F8FA"/>
                </a:solidFill>
                <a:latin typeface="Tahoma"/>
                <a:cs typeface="Tahoma"/>
              </a:rPr>
              <a:t>Dashboard</a:t>
            </a:r>
            <a:r>
              <a:rPr sz="1500" b="1" spc="-10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F5F8FA"/>
                </a:solidFill>
                <a:latin typeface="Tahoma"/>
                <a:cs typeface="Tahoma"/>
              </a:rPr>
              <a:t>1 </a:t>
            </a:r>
            <a:r>
              <a:rPr sz="1500" b="1" spc="-85" dirty="0">
                <a:solidFill>
                  <a:srgbClr val="F5F8FA"/>
                </a:solidFill>
                <a:latin typeface="Tahoma"/>
                <a:cs typeface="Tahoma"/>
              </a:rPr>
              <a:t>Показания </a:t>
            </a:r>
            <a:r>
              <a:rPr sz="1500" b="1" spc="-80" dirty="0">
                <a:solidFill>
                  <a:srgbClr val="F5F8FA"/>
                </a:solidFill>
                <a:latin typeface="Tahoma"/>
                <a:cs typeface="Tahoma"/>
              </a:rPr>
              <a:t>датчиков </a:t>
            </a:r>
            <a:r>
              <a:rPr sz="1500" b="1" spc="-85" dirty="0">
                <a:solidFill>
                  <a:srgbClr val="F5F8FA"/>
                </a:solidFill>
                <a:latin typeface="Tahoma"/>
                <a:cs typeface="Tahoma"/>
              </a:rPr>
              <a:t>Prometheus</a:t>
            </a:r>
            <a:r>
              <a:rPr sz="1500" b="1" spc="-9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F5F8FA"/>
                </a:solidFill>
                <a:latin typeface="Tahoma"/>
                <a:cs typeface="Tahoma"/>
              </a:rPr>
              <a:t>metrics:</a:t>
            </a:r>
            <a:endParaRPr sz="1500">
              <a:latin typeface="Tahoma"/>
              <a:cs typeface="Tahoma"/>
            </a:endParaRPr>
          </a:p>
          <a:p>
            <a:pPr marL="219075">
              <a:lnSpc>
                <a:spcPct val="100000"/>
              </a:lnSpc>
            </a:pPr>
            <a:r>
              <a:rPr sz="1500" b="1" spc="-100" dirty="0">
                <a:solidFill>
                  <a:srgbClr val="F5F8FA"/>
                </a:solidFill>
                <a:latin typeface="Tahoma"/>
                <a:cs typeface="Tahoma"/>
              </a:rPr>
              <a:t>temperature</a:t>
            </a:r>
            <a:r>
              <a:rPr sz="1500" b="1" spc="-9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285" dirty="0">
                <a:solidFill>
                  <a:srgbClr val="F5F8FA"/>
                </a:solidFill>
                <a:latin typeface="Tahoma"/>
                <a:cs typeface="Tahoma"/>
              </a:rPr>
              <a:t>/</a:t>
            </a:r>
            <a:r>
              <a:rPr sz="1500" b="1" spc="-11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95" dirty="0">
                <a:solidFill>
                  <a:srgbClr val="F5F8FA"/>
                </a:solidFill>
                <a:latin typeface="Tahoma"/>
                <a:cs typeface="Tahoma"/>
              </a:rPr>
              <a:t>humidity</a:t>
            </a:r>
            <a:r>
              <a:rPr sz="1500" b="1" spc="-11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285" dirty="0">
                <a:solidFill>
                  <a:srgbClr val="F5F8FA"/>
                </a:solidFill>
                <a:latin typeface="Tahoma"/>
                <a:cs typeface="Tahoma"/>
              </a:rPr>
              <a:t>/</a:t>
            </a:r>
            <a:r>
              <a:rPr sz="1500" b="1" spc="-11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75" dirty="0">
                <a:solidFill>
                  <a:srgbClr val="F5F8FA"/>
                </a:solidFill>
                <a:latin typeface="Tahoma"/>
                <a:cs typeface="Tahoma"/>
              </a:rPr>
              <a:t>pressure</a:t>
            </a:r>
            <a:r>
              <a:rPr sz="1500" b="1" spc="-114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285" dirty="0">
                <a:solidFill>
                  <a:srgbClr val="F5F8FA"/>
                </a:solidFill>
                <a:latin typeface="Tahoma"/>
                <a:cs typeface="Tahoma"/>
              </a:rPr>
              <a:t>/</a:t>
            </a:r>
            <a:r>
              <a:rPr sz="1500" b="1" spc="-11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F5F8FA"/>
                </a:solidFill>
                <a:latin typeface="Tahoma"/>
                <a:cs typeface="Tahoma"/>
              </a:rPr>
              <a:t>total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396471" y="6408012"/>
            <a:ext cx="2235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pc="-25" dirty="0" smtClean="0"/>
              <a:t>1</a:t>
            </a:r>
            <a:r>
              <a:rPr lang="ru-RU" spc="-25" dirty="0" smtClean="0"/>
              <a:t>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309359" y="1828800"/>
            <a:ext cx="4754880" cy="1874520"/>
          </a:xfrm>
          <a:prstGeom prst="rect">
            <a:avLst/>
          </a:prstGeom>
          <a:solidFill>
            <a:srgbClr val="6E49A1"/>
          </a:solidFill>
          <a:ln w="15240">
            <a:solidFill>
              <a:srgbClr val="30435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500">
              <a:latin typeface="Times New Roman"/>
              <a:cs typeface="Times New Roman"/>
            </a:endParaRPr>
          </a:p>
          <a:p>
            <a:pPr marL="219710" marR="3435985">
              <a:lnSpc>
                <a:spcPct val="100000"/>
              </a:lnSpc>
            </a:pPr>
            <a:r>
              <a:rPr sz="1500" b="1" spc="-85" dirty="0">
                <a:solidFill>
                  <a:srgbClr val="F5F8FA"/>
                </a:solidFill>
                <a:latin typeface="Tahoma"/>
                <a:cs typeface="Tahoma"/>
              </a:rPr>
              <a:t>Dashboard </a:t>
            </a:r>
            <a:r>
              <a:rPr sz="1500" b="1" spc="-140" dirty="0">
                <a:solidFill>
                  <a:srgbClr val="F5F8FA"/>
                </a:solidFill>
                <a:latin typeface="Tahoma"/>
                <a:cs typeface="Tahoma"/>
              </a:rPr>
              <a:t>2 </a:t>
            </a:r>
            <a:r>
              <a:rPr sz="1500" b="1" spc="-110" dirty="0">
                <a:solidFill>
                  <a:srgbClr val="F5F8FA"/>
                </a:solidFill>
                <a:latin typeface="Tahoma"/>
                <a:cs typeface="Tahoma"/>
              </a:rPr>
              <a:t>Логи</a:t>
            </a:r>
            <a:r>
              <a:rPr sz="1500" b="1" spc="-12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F5F8FA"/>
                </a:solidFill>
                <a:latin typeface="Tahoma"/>
                <a:cs typeface="Tahoma"/>
              </a:rPr>
              <a:t>чата </a:t>
            </a:r>
            <a:r>
              <a:rPr sz="1500" b="1" spc="-85" dirty="0">
                <a:solidFill>
                  <a:srgbClr val="F5F8FA"/>
                </a:solidFill>
                <a:latin typeface="Tahoma"/>
                <a:cs typeface="Tahoma"/>
              </a:rPr>
              <a:t>Loki</a:t>
            </a:r>
            <a:r>
              <a:rPr sz="1500" b="1" spc="-13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F5F8FA"/>
                </a:solidFill>
                <a:latin typeface="Tahoma"/>
                <a:cs typeface="Tahoma"/>
              </a:rPr>
              <a:t>logs:</a:t>
            </a:r>
            <a:endParaRPr sz="1500">
              <a:latin typeface="Tahoma"/>
              <a:cs typeface="Tahoma"/>
            </a:endParaRPr>
          </a:p>
          <a:p>
            <a:pPr marL="219710">
              <a:lnSpc>
                <a:spcPct val="100000"/>
              </a:lnSpc>
            </a:pPr>
            <a:r>
              <a:rPr sz="1500" b="1" spc="-85" dirty="0">
                <a:solidFill>
                  <a:srgbClr val="F5F8FA"/>
                </a:solidFill>
                <a:latin typeface="Tahoma"/>
                <a:cs typeface="Tahoma"/>
              </a:rPr>
              <a:t>chat-</a:t>
            </a:r>
            <a:r>
              <a:rPr sz="1500" b="1" spc="-75" dirty="0">
                <a:solidFill>
                  <a:srgbClr val="F5F8FA"/>
                </a:solidFill>
                <a:latin typeface="Tahoma"/>
                <a:cs typeface="Tahoma"/>
              </a:rPr>
              <a:t>containers.jsonl</a:t>
            </a:r>
            <a:r>
              <a:rPr sz="1500" b="1" spc="-9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430" dirty="0">
                <a:solidFill>
                  <a:srgbClr val="F5F8FA"/>
                </a:solidFill>
                <a:latin typeface="Tahoma"/>
                <a:cs typeface="Tahoma"/>
              </a:rPr>
              <a:t>+</a:t>
            </a:r>
            <a:r>
              <a:rPr sz="1500" b="1" spc="-5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75" dirty="0">
                <a:solidFill>
                  <a:srgbClr val="F5F8FA"/>
                </a:solidFill>
                <a:latin typeface="Tahoma"/>
                <a:cs typeface="Tahoma"/>
              </a:rPr>
              <a:t>счетчики</a:t>
            </a:r>
            <a:r>
              <a:rPr sz="15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F5F8FA"/>
                </a:solidFill>
                <a:latin typeface="Tahoma"/>
                <a:cs typeface="Tahoma"/>
              </a:rPr>
              <a:t>topic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860" y="4523994"/>
            <a:ext cx="566864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Первый</a:t>
            </a:r>
            <a:r>
              <a:rPr sz="14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dashboard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подтверждает,</a:t>
            </a:r>
            <a:r>
              <a:rPr sz="1400" spc="-114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что</a:t>
            </a:r>
            <a:r>
              <a:rPr sz="1400" spc="-6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sensor</a:t>
            </a:r>
            <a:r>
              <a:rPr sz="14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topic</a:t>
            </a:r>
            <a:r>
              <a:rPr sz="140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живой.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Второй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dashboard</a:t>
            </a:r>
            <a:r>
              <a:rPr sz="140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показывает</a:t>
            </a:r>
            <a:r>
              <a:rPr sz="1400" spc="-7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криптоконтейнеры</a:t>
            </a:r>
            <a:r>
              <a:rPr sz="1400" spc="-12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5F8FA"/>
                </a:solidFill>
                <a:latin typeface="Trebuchet MS"/>
                <a:cs typeface="Trebuchet MS"/>
              </a:rPr>
              <a:t>и</a:t>
            </a:r>
            <a:r>
              <a:rPr sz="1400" spc="-10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F5F8FA"/>
                </a:solidFill>
                <a:latin typeface="Trebuchet MS"/>
                <a:cs typeface="Trebuchet MS"/>
              </a:rPr>
              <a:t>аудит</a:t>
            </a:r>
            <a:r>
              <a:rPr sz="1400" spc="-8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сообщений. </a:t>
            </a:r>
            <a:r>
              <a:rPr sz="1400" spc="-40" dirty="0">
                <a:solidFill>
                  <a:srgbClr val="F5F8FA"/>
                </a:solidFill>
                <a:latin typeface="Trebuchet MS"/>
                <a:cs typeface="Trebuchet MS"/>
              </a:rPr>
              <a:t>Promtail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читает</a:t>
            </a:r>
            <a:r>
              <a:rPr sz="1400" spc="-11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F5F8FA"/>
                </a:solidFill>
                <a:latin typeface="Trebuchet MS"/>
                <a:cs typeface="Trebuchet MS"/>
              </a:rPr>
              <a:t>только</a:t>
            </a:r>
            <a:r>
              <a:rPr sz="14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5F8FA"/>
                </a:solidFill>
                <a:latin typeface="Trebuchet MS"/>
                <a:cs typeface="Trebuchet MS"/>
              </a:rPr>
              <a:t>папку</a:t>
            </a:r>
            <a:r>
              <a:rPr sz="1400" spc="-90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5F8FA"/>
                </a:solidFill>
                <a:latin typeface="Trebuchet MS"/>
                <a:cs typeface="Trebuchet MS"/>
              </a:rPr>
              <a:t>логов</a:t>
            </a:r>
            <a:r>
              <a:rPr sz="1400" spc="-95" dirty="0">
                <a:solidFill>
                  <a:srgbClr val="F5F8FA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5F8FA"/>
                </a:solidFill>
                <a:latin typeface="Trebuchet MS"/>
                <a:cs typeface="Trebuchet MS"/>
              </a:rPr>
              <a:t>LiteBroker.</a:t>
            </a: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99" y="1828800"/>
            <a:ext cx="4759961" cy="238369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1828800"/>
            <a:ext cx="4763845" cy="2791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4965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80" dirty="0">
                <a:solidFill>
                  <a:srgbClr val="1F9BD1"/>
                </a:solidFill>
                <a:latin typeface="Tahoma"/>
                <a:cs typeface="Tahoma"/>
              </a:rPr>
              <a:t>TESTING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1659" y="661161"/>
            <a:ext cx="67271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Подход</a:t>
            </a:r>
            <a:r>
              <a:rPr spc="-200" dirty="0"/>
              <a:t> </a:t>
            </a:r>
            <a:r>
              <a:rPr spc="-195" dirty="0"/>
              <a:t>к</a:t>
            </a:r>
            <a:r>
              <a:rPr spc="-185" dirty="0"/>
              <a:t> </a:t>
            </a:r>
            <a:r>
              <a:rPr spc="-160" dirty="0"/>
              <a:t>тестированию</a:t>
            </a:r>
            <a:r>
              <a:rPr spc="-180" dirty="0"/>
              <a:t> </a:t>
            </a:r>
            <a:r>
              <a:rPr spc="-175" dirty="0"/>
              <a:t>проектного</a:t>
            </a:r>
            <a:r>
              <a:rPr spc="-190" dirty="0"/>
              <a:t> </a:t>
            </a:r>
            <a:r>
              <a:rPr spc="-30" dirty="0"/>
              <a:t>кода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96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/>
              <a:t>Статическая</a:t>
            </a:r>
            <a:r>
              <a:rPr sz="1350" spc="-125" dirty="0"/>
              <a:t> </a:t>
            </a:r>
            <a:r>
              <a:rPr sz="1350" spc="-20" dirty="0"/>
              <a:t>проверка:</a:t>
            </a:r>
            <a:r>
              <a:rPr sz="1350" spc="-95" dirty="0"/>
              <a:t> </a:t>
            </a:r>
            <a:r>
              <a:rPr sz="1350" dirty="0"/>
              <a:t>`node</a:t>
            </a:r>
            <a:r>
              <a:rPr sz="1350" spc="-45" dirty="0"/>
              <a:t> </a:t>
            </a:r>
            <a:r>
              <a:rPr sz="1350" spc="-50" dirty="0"/>
              <a:t>--</a:t>
            </a:r>
            <a:r>
              <a:rPr sz="1350" dirty="0"/>
              <a:t>check</a:t>
            </a:r>
            <a:r>
              <a:rPr sz="1350" spc="-75" dirty="0"/>
              <a:t> </a:t>
            </a:r>
            <a:r>
              <a:rPr sz="1350" spc="-60" dirty="0"/>
              <a:t>LiteBroker/server.mjs`</a:t>
            </a:r>
            <a:r>
              <a:rPr sz="1350" spc="-120" dirty="0"/>
              <a:t> </a:t>
            </a:r>
            <a:r>
              <a:rPr sz="1350" dirty="0"/>
              <a:t>и</a:t>
            </a:r>
            <a:r>
              <a:rPr sz="1350" spc="-95" dirty="0"/>
              <a:t> </a:t>
            </a:r>
            <a:r>
              <a:rPr sz="1350" dirty="0"/>
              <a:t>`node</a:t>
            </a:r>
            <a:r>
              <a:rPr sz="1350" spc="-45" dirty="0"/>
              <a:t> </a:t>
            </a:r>
            <a:r>
              <a:rPr sz="1350" spc="-50" dirty="0"/>
              <a:t>-</a:t>
            </a:r>
            <a:r>
              <a:rPr sz="1350" spc="-45" dirty="0"/>
              <a:t>-</a:t>
            </a:r>
            <a:r>
              <a:rPr sz="1350" dirty="0"/>
              <a:t>check</a:t>
            </a:r>
            <a:r>
              <a:rPr sz="1350" spc="-75" dirty="0"/>
              <a:t> </a:t>
            </a:r>
            <a:r>
              <a:rPr sz="1350" spc="-10" dirty="0"/>
              <a:t>LiteBroker/public/app.js`.</a:t>
            </a:r>
            <a:endParaRPr sz="1350" dirty="0"/>
          </a:p>
          <a:p>
            <a:pPr marL="12700">
              <a:lnSpc>
                <a:spcPct val="100000"/>
              </a:lnSpc>
            </a:pPr>
            <a:r>
              <a:rPr sz="1350" dirty="0"/>
              <a:t>Проверка</a:t>
            </a:r>
            <a:r>
              <a:rPr sz="1350" spc="-50" dirty="0"/>
              <a:t> </a:t>
            </a:r>
            <a:r>
              <a:rPr sz="1350" spc="-40" dirty="0"/>
              <a:t>инфраструктуры:</a:t>
            </a:r>
            <a:r>
              <a:rPr sz="1350" spc="-60" dirty="0"/>
              <a:t> </a:t>
            </a:r>
            <a:r>
              <a:rPr sz="1350" spc="-20" dirty="0"/>
              <a:t>`docker</a:t>
            </a:r>
            <a:r>
              <a:rPr sz="1350" spc="-30" dirty="0"/>
              <a:t> </a:t>
            </a:r>
            <a:r>
              <a:rPr sz="1350" dirty="0"/>
              <a:t>compose</a:t>
            </a:r>
            <a:r>
              <a:rPr sz="1350" spc="-40" dirty="0"/>
              <a:t> </a:t>
            </a:r>
            <a:r>
              <a:rPr sz="1350" spc="-30" dirty="0"/>
              <a:t>config</a:t>
            </a:r>
            <a:r>
              <a:rPr sz="1350" spc="-25" dirty="0"/>
              <a:t> </a:t>
            </a:r>
            <a:r>
              <a:rPr sz="1350" spc="-50" dirty="0"/>
              <a:t>--</a:t>
            </a:r>
            <a:r>
              <a:rPr sz="1350" spc="-10" dirty="0"/>
              <a:t>quiet`.</a:t>
            </a:r>
            <a:endParaRPr sz="1350" dirty="0"/>
          </a:p>
          <a:p>
            <a:pPr marL="12700">
              <a:lnSpc>
                <a:spcPct val="100000"/>
              </a:lnSpc>
            </a:pPr>
            <a:r>
              <a:rPr sz="1350" spc="-10" dirty="0"/>
              <a:t>Функциональный</a:t>
            </a:r>
            <a:r>
              <a:rPr sz="1350" spc="-150" dirty="0"/>
              <a:t> </a:t>
            </a:r>
            <a:r>
              <a:rPr sz="1350" spc="-55" dirty="0"/>
              <a:t>тест:</a:t>
            </a:r>
            <a:r>
              <a:rPr sz="1350" spc="-95" dirty="0"/>
              <a:t> </a:t>
            </a:r>
            <a:r>
              <a:rPr sz="1350" spc="-30" dirty="0"/>
              <a:t>регистрация,</a:t>
            </a:r>
            <a:r>
              <a:rPr sz="1350" spc="-120" dirty="0"/>
              <a:t> </a:t>
            </a:r>
            <a:r>
              <a:rPr sz="1350" spc="-10" dirty="0"/>
              <a:t>выбор</a:t>
            </a:r>
            <a:r>
              <a:rPr sz="1350" spc="-65" dirty="0"/>
              <a:t> </a:t>
            </a:r>
            <a:r>
              <a:rPr sz="1350" spc="-10" dirty="0"/>
              <a:t>собеседника,</a:t>
            </a:r>
            <a:r>
              <a:rPr sz="1350" spc="-105" dirty="0"/>
              <a:t> </a:t>
            </a:r>
            <a:r>
              <a:rPr sz="1350" spc="-10" dirty="0"/>
              <a:t>отправка</a:t>
            </a:r>
            <a:r>
              <a:rPr sz="1350" spc="-105" dirty="0"/>
              <a:t> </a:t>
            </a:r>
            <a:r>
              <a:rPr sz="1350" spc="-10" dirty="0"/>
              <a:t>сообщения.</a:t>
            </a:r>
            <a:endParaRPr sz="1350" dirty="0"/>
          </a:p>
          <a:p>
            <a:pPr marL="12700">
              <a:lnSpc>
                <a:spcPct val="100000"/>
              </a:lnSpc>
            </a:pPr>
            <a:r>
              <a:rPr sz="1350" spc="-40" dirty="0"/>
              <a:t>Kafka-</a:t>
            </a:r>
            <a:r>
              <a:rPr sz="1350" spc="-55" dirty="0"/>
              <a:t>тест:</a:t>
            </a:r>
            <a:r>
              <a:rPr sz="1350" spc="-110" dirty="0"/>
              <a:t> </a:t>
            </a:r>
            <a:r>
              <a:rPr sz="1350" spc="-20" dirty="0"/>
              <a:t>в</a:t>
            </a:r>
            <a:r>
              <a:rPr sz="1350" spc="-90" dirty="0"/>
              <a:t> </a:t>
            </a:r>
            <a:r>
              <a:rPr sz="1350" spc="-40" dirty="0"/>
              <a:t>Kafka</a:t>
            </a:r>
            <a:r>
              <a:rPr sz="1350" spc="-105" dirty="0"/>
              <a:t> </a:t>
            </a:r>
            <a:r>
              <a:rPr sz="1350" dirty="0"/>
              <a:t>UI</a:t>
            </a:r>
            <a:r>
              <a:rPr sz="1350" spc="-95" dirty="0"/>
              <a:t> </a:t>
            </a:r>
            <a:r>
              <a:rPr sz="1350" spc="-20" dirty="0"/>
              <a:t>появляются</a:t>
            </a:r>
            <a:r>
              <a:rPr sz="1350" spc="-130" dirty="0"/>
              <a:t> </a:t>
            </a:r>
            <a:r>
              <a:rPr sz="1350" spc="-25" dirty="0"/>
              <a:t>chat</a:t>
            </a:r>
            <a:r>
              <a:rPr sz="1350" spc="-85" dirty="0"/>
              <a:t> </a:t>
            </a:r>
            <a:r>
              <a:rPr sz="1350" spc="-30" dirty="0"/>
              <a:t>topic</a:t>
            </a:r>
            <a:r>
              <a:rPr sz="1350" spc="-85" dirty="0"/>
              <a:t> </a:t>
            </a:r>
            <a:r>
              <a:rPr sz="1350" dirty="0"/>
              <a:t>и</a:t>
            </a:r>
            <a:r>
              <a:rPr sz="1350" spc="-90" dirty="0"/>
              <a:t> </a:t>
            </a:r>
            <a:r>
              <a:rPr sz="1350" dirty="0"/>
              <a:t>sensor</a:t>
            </a:r>
            <a:r>
              <a:rPr sz="1350" spc="-114" dirty="0"/>
              <a:t> </a:t>
            </a:r>
            <a:r>
              <a:rPr sz="1350" spc="-10" dirty="0"/>
              <a:t>topic.</a:t>
            </a:r>
            <a:endParaRPr sz="1350" dirty="0"/>
          </a:p>
          <a:p>
            <a:pPr marL="12700">
              <a:lnSpc>
                <a:spcPct val="100000"/>
              </a:lnSpc>
            </a:pPr>
            <a:r>
              <a:rPr sz="1350" spc="-30" dirty="0"/>
              <a:t>Security-</a:t>
            </a:r>
            <a:r>
              <a:rPr sz="1350" spc="-55" dirty="0"/>
              <a:t>тест:</a:t>
            </a:r>
            <a:r>
              <a:rPr sz="1350" spc="-125" dirty="0"/>
              <a:t> </a:t>
            </a:r>
            <a:r>
              <a:rPr sz="1350" spc="-20" dirty="0"/>
              <a:t>в</a:t>
            </a:r>
            <a:r>
              <a:rPr sz="1350" spc="-90" dirty="0"/>
              <a:t> </a:t>
            </a:r>
            <a:r>
              <a:rPr sz="1350" spc="-45" dirty="0"/>
              <a:t>логах</a:t>
            </a:r>
            <a:r>
              <a:rPr sz="1350" spc="-105" dirty="0"/>
              <a:t> </a:t>
            </a:r>
            <a:r>
              <a:rPr sz="1350" dirty="0"/>
              <a:t>и</a:t>
            </a:r>
            <a:r>
              <a:rPr sz="1350" spc="-95" dirty="0"/>
              <a:t> </a:t>
            </a:r>
            <a:r>
              <a:rPr sz="1350" spc="-35" dirty="0"/>
              <a:t>Kafka</a:t>
            </a:r>
            <a:r>
              <a:rPr sz="1350" spc="-105" dirty="0"/>
              <a:t> </a:t>
            </a:r>
            <a:r>
              <a:rPr sz="1350" spc="-10" dirty="0"/>
              <a:t>виден</a:t>
            </a:r>
            <a:r>
              <a:rPr sz="1350" spc="-114" dirty="0"/>
              <a:t> </a:t>
            </a:r>
            <a:r>
              <a:rPr sz="1350" dirty="0"/>
              <a:t>JSON</a:t>
            </a:r>
            <a:r>
              <a:rPr sz="1350" spc="-110" dirty="0"/>
              <a:t> </a:t>
            </a:r>
            <a:r>
              <a:rPr sz="1350" spc="-35" dirty="0"/>
              <a:t>crypto</a:t>
            </a:r>
            <a:r>
              <a:rPr sz="1350" spc="-80" dirty="0"/>
              <a:t> </a:t>
            </a:r>
            <a:r>
              <a:rPr sz="1350" spc="-50" dirty="0"/>
              <a:t>container,</a:t>
            </a:r>
            <a:r>
              <a:rPr sz="1350" spc="-110" dirty="0"/>
              <a:t> </a:t>
            </a:r>
            <a:r>
              <a:rPr sz="1350" dirty="0"/>
              <a:t>а</a:t>
            </a:r>
            <a:r>
              <a:rPr sz="1350" spc="-105" dirty="0"/>
              <a:t> </a:t>
            </a:r>
            <a:r>
              <a:rPr sz="1350" spc="-10" dirty="0"/>
              <a:t>не</a:t>
            </a:r>
            <a:r>
              <a:rPr sz="1350" spc="-100" dirty="0"/>
              <a:t> </a:t>
            </a:r>
            <a:r>
              <a:rPr sz="1350" spc="-35" dirty="0"/>
              <a:t>открытый</a:t>
            </a:r>
            <a:r>
              <a:rPr sz="1350" spc="-80" dirty="0"/>
              <a:t> </a:t>
            </a:r>
            <a:r>
              <a:rPr sz="1350" spc="-10" dirty="0"/>
              <a:t>текст.</a:t>
            </a:r>
            <a:endParaRPr sz="1350" dirty="0"/>
          </a:p>
          <a:p>
            <a:pPr marL="12700">
              <a:lnSpc>
                <a:spcPct val="100000"/>
              </a:lnSpc>
            </a:pPr>
            <a:r>
              <a:rPr sz="1350" spc="-30" dirty="0"/>
              <a:t>Observability-</a:t>
            </a:r>
            <a:r>
              <a:rPr sz="1350" spc="-55" dirty="0"/>
              <a:t>тест:</a:t>
            </a:r>
            <a:r>
              <a:rPr sz="1350" spc="-130" dirty="0"/>
              <a:t> </a:t>
            </a:r>
            <a:r>
              <a:rPr sz="1350" spc="-30" dirty="0"/>
              <a:t>Grafana</a:t>
            </a:r>
            <a:r>
              <a:rPr sz="1350" spc="-110" dirty="0"/>
              <a:t> </a:t>
            </a:r>
            <a:r>
              <a:rPr sz="1350" spc="-10" dirty="0"/>
              <a:t>показывает</a:t>
            </a:r>
            <a:r>
              <a:rPr sz="1350" spc="-90" dirty="0"/>
              <a:t> </a:t>
            </a:r>
            <a:r>
              <a:rPr sz="1350" spc="-20" dirty="0"/>
              <a:t>датчики</a:t>
            </a:r>
            <a:r>
              <a:rPr sz="1350" spc="-125" dirty="0"/>
              <a:t> </a:t>
            </a:r>
            <a:r>
              <a:rPr sz="1350" dirty="0"/>
              <a:t>и</a:t>
            </a:r>
            <a:r>
              <a:rPr sz="1350" spc="-80" dirty="0"/>
              <a:t> </a:t>
            </a:r>
            <a:r>
              <a:rPr sz="1350" spc="-40" dirty="0"/>
              <a:t>логи</a:t>
            </a:r>
            <a:r>
              <a:rPr sz="1350" spc="-85" dirty="0"/>
              <a:t> </a:t>
            </a:r>
            <a:r>
              <a:rPr sz="1350" spc="-10" dirty="0"/>
              <a:t>криптоконтейнеров.</a:t>
            </a:r>
            <a:endParaRPr sz="1350" dirty="0"/>
          </a:p>
          <a:p>
            <a:pPr marL="12700">
              <a:lnSpc>
                <a:spcPct val="100000"/>
              </a:lnSpc>
            </a:pPr>
            <a:r>
              <a:rPr sz="1350" spc="-20" dirty="0"/>
              <a:t>Негативные</a:t>
            </a:r>
            <a:r>
              <a:rPr sz="1350" spc="-130" dirty="0"/>
              <a:t> </a:t>
            </a:r>
            <a:r>
              <a:rPr sz="1350" spc="-10" dirty="0"/>
              <a:t>сценарии:</a:t>
            </a:r>
            <a:r>
              <a:rPr sz="1350" spc="-114" dirty="0"/>
              <a:t> </a:t>
            </a:r>
            <a:r>
              <a:rPr sz="1350" spc="-20" dirty="0"/>
              <a:t>неверный</a:t>
            </a:r>
            <a:r>
              <a:rPr sz="1350" spc="-100" dirty="0"/>
              <a:t> </a:t>
            </a:r>
            <a:r>
              <a:rPr sz="1350" spc="-25" dirty="0"/>
              <a:t>пароль,</a:t>
            </a:r>
            <a:r>
              <a:rPr sz="1350" spc="-110" dirty="0"/>
              <a:t> </a:t>
            </a:r>
            <a:r>
              <a:rPr sz="1350" spc="-20" dirty="0"/>
              <a:t>пустое</a:t>
            </a:r>
            <a:r>
              <a:rPr sz="1350" spc="-85" dirty="0"/>
              <a:t> </a:t>
            </a:r>
            <a:r>
              <a:rPr sz="1350" dirty="0"/>
              <a:t>сообщение,</a:t>
            </a:r>
            <a:r>
              <a:rPr sz="1350" spc="-80" dirty="0"/>
              <a:t> </a:t>
            </a:r>
            <a:r>
              <a:rPr sz="1350" spc="-30" dirty="0"/>
              <a:t>отсутствие</a:t>
            </a:r>
            <a:r>
              <a:rPr sz="1350" spc="-85" dirty="0"/>
              <a:t> </a:t>
            </a:r>
            <a:r>
              <a:rPr sz="1350" spc="-40" dirty="0"/>
              <a:t>получателя,</a:t>
            </a:r>
            <a:r>
              <a:rPr sz="1350" spc="-130" dirty="0"/>
              <a:t> </a:t>
            </a:r>
            <a:r>
              <a:rPr sz="1350" spc="-10" dirty="0"/>
              <a:t>недоступность</a:t>
            </a:r>
            <a:r>
              <a:rPr sz="1350" spc="-100" dirty="0"/>
              <a:t> </a:t>
            </a:r>
            <a:r>
              <a:rPr sz="1350" spc="-10" dirty="0"/>
              <a:t>Kafka.</a:t>
            </a:r>
            <a:endParaRPr sz="135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396471" y="6408012"/>
            <a:ext cx="2235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pc="-25" dirty="0" smtClean="0"/>
              <a:t>1</a:t>
            </a:r>
            <a:r>
              <a:rPr lang="ru-RU" spc="-25" dirty="0" smtClean="0"/>
              <a:t>2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3162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65" dirty="0">
                <a:solidFill>
                  <a:srgbClr val="1F9BD1"/>
                </a:solidFill>
                <a:latin typeface="Tahoma"/>
                <a:cs typeface="Tahoma"/>
              </a:rPr>
              <a:t>NEAT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Соответствие</a:t>
            </a:r>
            <a:r>
              <a:rPr spc="-165" dirty="0"/>
              <a:t> </a:t>
            </a:r>
            <a:r>
              <a:rPr spc="-110" dirty="0"/>
              <a:t>идее</a:t>
            </a:r>
            <a:r>
              <a:rPr spc="-190" dirty="0"/>
              <a:t> </a:t>
            </a:r>
            <a:r>
              <a:rPr spc="-145" dirty="0"/>
              <a:t>монитора</a:t>
            </a:r>
            <a:r>
              <a:rPr spc="-175" dirty="0"/>
              <a:t> </a:t>
            </a:r>
            <a:r>
              <a:rPr spc="-75" dirty="0"/>
              <a:t>безопасности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2960" y="1737360"/>
            <a:ext cx="4663440" cy="100584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endParaRPr sz="14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spcBef>
                <a:spcPts val="5"/>
              </a:spcBef>
            </a:pPr>
            <a:r>
              <a:rPr sz="1400" b="1" spc="-90" dirty="0">
                <a:solidFill>
                  <a:srgbClr val="F5F8FA"/>
                </a:solidFill>
                <a:latin typeface="Tahoma"/>
                <a:cs typeface="Tahoma"/>
              </a:rPr>
              <a:t>Non-</a:t>
            </a:r>
            <a:r>
              <a:rPr sz="1400" b="1" spc="-10" dirty="0">
                <a:solidFill>
                  <a:srgbClr val="F5F8FA"/>
                </a:solidFill>
                <a:latin typeface="Tahoma"/>
                <a:cs typeface="Tahoma"/>
              </a:rPr>
              <a:t>bypassable</a:t>
            </a:r>
            <a:endParaRPr sz="1400">
              <a:latin typeface="Tahoma"/>
              <a:cs typeface="Tahoma"/>
            </a:endParaRPr>
          </a:p>
          <a:p>
            <a:pPr marL="219075">
              <a:lnSpc>
                <a:spcPct val="100000"/>
              </a:lnSpc>
              <a:spcBef>
                <a:spcPts val="20"/>
              </a:spcBef>
            </a:pPr>
            <a:r>
              <a:rPr sz="1400" b="1" spc="-45" dirty="0">
                <a:solidFill>
                  <a:srgbClr val="F5F8FA"/>
                </a:solidFill>
                <a:latin typeface="Tahoma"/>
                <a:cs typeface="Tahoma"/>
              </a:rPr>
              <a:t>все</a:t>
            </a:r>
            <a:r>
              <a:rPr sz="1400" b="1" spc="-8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F5F8FA"/>
                </a:solidFill>
                <a:latin typeface="Tahoma"/>
                <a:cs typeface="Tahoma"/>
              </a:rPr>
              <a:t>операции</a:t>
            </a:r>
            <a:r>
              <a:rPr sz="1400" b="1" spc="-5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F5F8FA"/>
                </a:solidFill>
                <a:latin typeface="Tahoma"/>
                <a:cs typeface="Tahoma"/>
              </a:rPr>
              <a:t>идут</a:t>
            </a:r>
            <a:r>
              <a:rPr sz="1400" b="1" spc="-6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55" dirty="0">
                <a:solidFill>
                  <a:srgbClr val="F5F8FA"/>
                </a:solidFill>
                <a:latin typeface="Tahoma"/>
                <a:cs typeface="Tahoma"/>
              </a:rPr>
              <a:t>через</a:t>
            </a:r>
            <a:r>
              <a:rPr sz="1400" b="1" spc="-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F5F8FA"/>
                </a:solidFill>
                <a:latin typeface="Tahoma"/>
                <a:cs typeface="Tahoma"/>
              </a:rPr>
              <a:t>LiteBroker</a:t>
            </a:r>
            <a:r>
              <a:rPr sz="1400" b="1" spc="-9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F5F8FA"/>
                </a:solidFill>
                <a:latin typeface="Tahoma"/>
                <a:cs typeface="Tahoma"/>
              </a:rPr>
              <a:t>API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396471" y="6408012"/>
            <a:ext cx="2235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pc="-25" dirty="0" smtClean="0"/>
              <a:t>1</a:t>
            </a:r>
            <a:r>
              <a:rPr lang="ru-RU" spc="-25" dirty="0" smtClean="0"/>
              <a:t>3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217920" y="1737360"/>
            <a:ext cx="4663440" cy="1005840"/>
          </a:xfrm>
          <a:prstGeom prst="rect">
            <a:avLst/>
          </a:prstGeom>
          <a:solidFill>
            <a:srgbClr val="318537"/>
          </a:solidFill>
          <a:ln w="15240">
            <a:solidFill>
              <a:srgbClr val="304355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315"/>
              </a:spcBef>
            </a:pPr>
            <a:r>
              <a:rPr sz="1400" b="1" spc="-10" dirty="0">
                <a:solidFill>
                  <a:srgbClr val="F5F8FA"/>
                </a:solidFill>
                <a:latin typeface="Tahoma"/>
                <a:cs typeface="Tahoma"/>
              </a:rPr>
              <a:t>Evaluatable</a:t>
            </a:r>
            <a:endParaRPr sz="1400">
              <a:latin typeface="Tahoma"/>
              <a:cs typeface="Tahoma"/>
            </a:endParaRPr>
          </a:p>
          <a:p>
            <a:pPr marL="219710" marR="222250">
              <a:lnSpc>
                <a:spcPct val="101400"/>
              </a:lnSpc>
            </a:pPr>
            <a:r>
              <a:rPr sz="1400" b="1" spc="-90" dirty="0">
                <a:solidFill>
                  <a:srgbClr val="F5F8FA"/>
                </a:solidFill>
                <a:latin typeface="Tahoma"/>
                <a:cs typeface="Tahoma"/>
              </a:rPr>
              <a:t>компоненты</a:t>
            </a:r>
            <a:r>
              <a:rPr sz="14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F5F8FA"/>
                </a:solidFill>
                <a:latin typeface="Tahoma"/>
                <a:cs typeface="Tahoma"/>
              </a:rPr>
              <a:t>маленькие:</a:t>
            </a:r>
            <a:r>
              <a:rPr sz="1400" b="1" spc="-6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120" dirty="0">
                <a:solidFill>
                  <a:srgbClr val="F5F8FA"/>
                </a:solidFill>
                <a:latin typeface="Tahoma"/>
                <a:cs typeface="Tahoma"/>
              </a:rPr>
              <a:t>UI,</a:t>
            </a:r>
            <a:r>
              <a:rPr sz="1400" b="1" spc="-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125" dirty="0">
                <a:solidFill>
                  <a:srgbClr val="F5F8FA"/>
                </a:solidFill>
                <a:latin typeface="Tahoma"/>
                <a:cs typeface="Tahoma"/>
              </a:rPr>
              <a:t>API,</a:t>
            </a:r>
            <a:r>
              <a:rPr sz="1400" b="1" spc="-8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5F8FA"/>
                </a:solidFill>
                <a:latin typeface="Tahoma"/>
                <a:cs typeface="Tahoma"/>
              </a:rPr>
              <a:t>crypto,</a:t>
            </a:r>
            <a:r>
              <a:rPr sz="1400" b="1" spc="-8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F5F8FA"/>
                </a:solidFill>
                <a:latin typeface="Tahoma"/>
                <a:cs typeface="Tahoma"/>
              </a:rPr>
              <a:t>DB,</a:t>
            </a:r>
            <a:r>
              <a:rPr sz="1400" b="1" spc="-7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F5F8FA"/>
                </a:solidFill>
                <a:latin typeface="Tahoma"/>
                <a:cs typeface="Tahoma"/>
              </a:rPr>
              <a:t>Kafka, </a:t>
            </a:r>
            <a:r>
              <a:rPr sz="1400" b="1" spc="-10" dirty="0">
                <a:solidFill>
                  <a:srgbClr val="F5F8FA"/>
                </a:solidFill>
                <a:latin typeface="Tahoma"/>
                <a:cs typeface="Tahoma"/>
              </a:rPr>
              <a:t>monitoring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2960" y="3291840"/>
            <a:ext cx="4663440" cy="1005840"/>
          </a:xfrm>
          <a:prstGeom prst="rect">
            <a:avLst/>
          </a:prstGeom>
          <a:solidFill>
            <a:srgbClr val="1F9BD1"/>
          </a:solidFill>
          <a:ln w="15240">
            <a:solidFill>
              <a:srgbClr val="304355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315"/>
              </a:spcBef>
            </a:pPr>
            <a:r>
              <a:rPr sz="1400" b="1" spc="-90" dirty="0">
                <a:solidFill>
                  <a:srgbClr val="F5F8FA"/>
                </a:solidFill>
                <a:latin typeface="Tahoma"/>
                <a:cs typeface="Tahoma"/>
              </a:rPr>
              <a:t>Always-</a:t>
            </a:r>
            <a:r>
              <a:rPr sz="1400" b="1" spc="-10" dirty="0">
                <a:solidFill>
                  <a:srgbClr val="F5F8FA"/>
                </a:solidFill>
                <a:latin typeface="Tahoma"/>
                <a:cs typeface="Tahoma"/>
              </a:rPr>
              <a:t>invoked</a:t>
            </a:r>
            <a:endParaRPr sz="1400">
              <a:latin typeface="Tahoma"/>
              <a:cs typeface="Tahoma"/>
            </a:endParaRPr>
          </a:p>
          <a:p>
            <a:pPr marL="219075" marR="1964689">
              <a:lnSpc>
                <a:spcPct val="101400"/>
              </a:lnSpc>
              <a:spcBef>
                <a:spcPts val="5"/>
              </a:spcBef>
            </a:pPr>
            <a:r>
              <a:rPr sz="1400" b="1" spc="-85" dirty="0">
                <a:solidFill>
                  <a:srgbClr val="F5F8FA"/>
                </a:solidFill>
                <a:latin typeface="Tahoma"/>
                <a:cs typeface="Tahoma"/>
              </a:rPr>
              <a:t>каждая</a:t>
            </a:r>
            <a:r>
              <a:rPr sz="1400" b="1" spc="-5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F5F8FA"/>
                </a:solidFill>
                <a:latin typeface="Tahoma"/>
                <a:cs typeface="Tahoma"/>
              </a:rPr>
              <a:t>отправка</a:t>
            </a:r>
            <a:r>
              <a:rPr sz="1400" b="1" spc="-3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5F8FA"/>
                </a:solidFill>
                <a:latin typeface="Tahoma"/>
                <a:cs typeface="Tahoma"/>
              </a:rPr>
              <a:t>проходит </a:t>
            </a:r>
            <a:r>
              <a:rPr sz="1400" b="1" spc="-90" dirty="0">
                <a:solidFill>
                  <a:srgbClr val="F5F8FA"/>
                </a:solidFill>
                <a:latin typeface="Tahoma"/>
                <a:cs typeface="Tahoma"/>
              </a:rPr>
              <a:t>validate/encrypt/save/publish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7920" y="3291840"/>
            <a:ext cx="4663440" cy="1005840"/>
          </a:xfrm>
          <a:prstGeom prst="rect">
            <a:avLst/>
          </a:prstGeom>
          <a:solidFill>
            <a:srgbClr val="1F9BD1"/>
          </a:solidFill>
          <a:ln w="15240">
            <a:solidFill>
              <a:srgbClr val="304355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315"/>
              </a:spcBef>
            </a:pPr>
            <a:r>
              <a:rPr sz="1400" b="1" spc="-10" dirty="0">
                <a:solidFill>
                  <a:srgbClr val="F5F8FA"/>
                </a:solidFill>
                <a:latin typeface="Tahoma"/>
                <a:cs typeface="Tahoma"/>
              </a:rPr>
              <a:t>Tamperproof</a:t>
            </a:r>
            <a:endParaRPr sz="1400">
              <a:latin typeface="Tahoma"/>
              <a:cs typeface="Tahoma"/>
            </a:endParaRPr>
          </a:p>
          <a:p>
            <a:pPr marL="219710" marR="1166495">
              <a:lnSpc>
                <a:spcPct val="101400"/>
              </a:lnSpc>
              <a:spcBef>
                <a:spcPts val="5"/>
              </a:spcBef>
            </a:pPr>
            <a:r>
              <a:rPr sz="1400" b="1" spc="-95" dirty="0">
                <a:solidFill>
                  <a:srgbClr val="F5F8FA"/>
                </a:solidFill>
                <a:latin typeface="Tahoma"/>
                <a:cs typeface="Tahoma"/>
              </a:rPr>
              <a:t>конфигурация</a:t>
            </a:r>
            <a:r>
              <a:rPr sz="1400" b="1" spc="-3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F5F8FA"/>
                </a:solidFill>
                <a:latin typeface="Tahoma"/>
                <a:cs typeface="Tahoma"/>
              </a:rPr>
              <a:t>вынесена</a:t>
            </a:r>
            <a:r>
              <a:rPr sz="1400" b="1" spc="-110" dirty="0">
                <a:solidFill>
                  <a:srgbClr val="F5F8FA"/>
                </a:solidFill>
                <a:latin typeface="Tahoma"/>
                <a:cs typeface="Tahoma"/>
              </a:rPr>
              <a:t> в</a:t>
            </a:r>
            <a:r>
              <a:rPr sz="1400" b="1" spc="-80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F5F8FA"/>
                </a:solidFill>
                <a:latin typeface="Tahoma"/>
                <a:cs typeface="Tahoma"/>
              </a:rPr>
              <a:t>Docker/env; </a:t>
            </a:r>
            <a:r>
              <a:rPr sz="1400" b="1" spc="-85" dirty="0">
                <a:solidFill>
                  <a:srgbClr val="F5F8FA"/>
                </a:solidFill>
                <a:latin typeface="Tahoma"/>
                <a:cs typeface="Tahoma"/>
              </a:rPr>
              <a:t>мониторинг</a:t>
            </a:r>
            <a:r>
              <a:rPr sz="1400" b="1" spc="25" dirty="0">
                <a:solidFill>
                  <a:srgbClr val="F5F8FA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F5F8FA"/>
                </a:solidFill>
                <a:latin typeface="Tahoma"/>
                <a:cs typeface="Tahoma"/>
              </a:rPr>
              <a:t>read-</a:t>
            </a:r>
            <a:r>
              <a:rPr sz="1400" b="1" spc="-20" dirty="0">
                <a:solidFill>
                  <a:srgbClr val="F5F8FA"/>
                </a:solidFill>
                <a:latin typeface="Tahoma"/>
                <a:cs typeface="Tahoma"/>
              </a:rPr>
              <a:t>only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32067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65" dirty="0">
                <a:solidFill>
                  <a:srgbClr val="1F9BD1"/>
                </a:solidFill>
                <a:latin typeface="Tahoma"/>
                <a:cs typeface="Tahoma"/>
              </a:rPr>
              <a:t>ИТОГ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50" dirty="0" smtClean="0"/>
              <a:t>Заключение</a:t>
            </a:r>
            <a:endParaRPr spc="-100" dirty="0"/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902334" y="1458223"/>
            <a:ext cx="10002520" cy="45390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4"/>
              </a:spcBef>
            </a:pPr>
            <a:r>
              <a:rPr lang="ru-RU" spc="-30" dirty="0"/>
              <a:t>В ходе работы над </a:t>
            </a:r>
            <a:r>
              <a:rPr lang="ru-RU" spc="-30" dirty="0" smtClean="0"/>
              <a:t>проектом успешно </a:t>
            </a:r>
            <a:r>
              <a:rPr lang="ru-RU" spc="-30" dirty="0"/>
              <a:t>реализована архитектура защищённого мессенджера, полностью соответствующая принципам </a:t>
            </a:r>
            <a:r>
              <a:rPr lang="ru-RU" spc="-30" dirty="0" err="1"/>
              <a:t>киберимунной</a:t>
            </a:r>
            <a:r>
              <a:rPr lang="ru-RU" spc="-30" dirty="0"/>
              <a:t> методологии разработки ПО. Система обеспечивает сквозную конфиденциальность и целостность данных за счёт применения аутентифицированного шифрования AES-256-GCM на прикладном уровне, строгой изоляции потоков через топики </a:t>
            </a:r>
            <a:r>
              <a:rPr lang="ru-RU" spc="-30" dirty="0" err="1"/>
              <a:t>Apache</a:t>
            </a:r>
            <a:r>
              <a:rPr lang="ru-RU" spc="-30" dirty="0"/>
              <a:t> </a:t>
            </a:r>
            <a:r>
              <a:rPr lang="ru-RU" spc="-30" dirty="0" err="1"/>
              <a:t>Kafka</a:t>
            </a:r>
            <a:r>
              <a:rPr lang="ru-RU" spc="-30" dirty="0"/>
              <a:t> и чёткого разделения точек принятия и применения решений безопасности (PDP/PEP). Внедрённые механизмы контроля, включая принцип `</a:t>
            </a:r>
            <a:r>
              <a:rPr lang="ru-RU" spc="-30" dirty="0" err="1"/>
              <a:t>deny-by-default</a:t>
            </a:r>
            <a:r>
              <a:rPr lang="ru-RU" spc="-30" dirty="0"/>
              <a:t>`, нормализацию входных данных и пассивную наблюдаемость через стек </a:t>
            </a:r>
            <a:r>
              <a:rPr lang="ru-RU" spc="-30" dirty="0" err="1"/>
              <a:t>Prometheus</a:t>
            </a:r>
            <a:r>
              <a:rPr lang="ru-RU" spc="-30" dirty="0"/>
              <a:t>/</a:t>
            </a:r>
            <a:r>
              <a:rPr lang="ru-RU" spc="-30" dirty="0" err="1"/>
              <a:t>Loki</a:t>
            </a:r>
            <a:r>
              <a:rPr lang="ru-RU" spc="-30" dirty="0"/>
              <a:t>/</a:t>
            </a:r>
            <a:r>
              <a:rPr lang="ru-RU" spc="-30" dirty="0" err="1"/>
              <a:t>Grafana</a:t>
            </a:r>
            <a:r>
              <a:rPr lang="ru-RU" spc="-30" dirty="0"/>
              <a:t>, гарантируют отсутствие открытого текста в любом компоненте инфраструктуры, что полностью исключает реализацию определённого неприемлемого события </a:t>
            </a:r>
            <a:r>
              <a:rPr lang="ru-RU" spc="-30" dirty="0" err="1"/>
              <a:t>безопасности.Несмотря</a:t>
            </a:r>
            <a:r>
              <a:rPr lang="ru-RU" spc="-30" dirty="0"/>
              <a:t> на учебный характер проекта и задокументированные допущения в части управления ключами и транспортной защиты, разработанная архитектура демонстрирует высокую степень готовности к адаптации для промышленной эксплуатации. Выделение криптографического слоя через паттерн </a:t>
            </a:r>
            <a:r>
              <a:rPr lang="ru-RU" spc="-30" dirty="0" err="1"/>
              <a:t>Strategy</a:t>
            </a:r>
            <a:r>
              <a:rPr lang="ru-RU" spc="-30" dirty="0"/>
              <a:t>, модульная изоляция компонентов в </a:t>
            </a:r>
            <a:r>
              <a:rPr lang="ru-RU" spc="-30" dirty="0" err="1"/>
              <a:t>Docker</a:t>
            </a:r>
            <a:r>
              <a:rPr lang="ru-RU" spc="-30" dirty="0"/>
              <a:t> и строгий </a:t>
            </a:r>
            <a:r>
              <a:rPr lang="ru-RU" spc="-30" dirty="0" err="1"/>
              <a:t>пайплайн</a:t>
            </a:r>
            <a:r>
              <a:rPr lang="ru-RU" spc="-30" dirty="0"/>
              <a:t> обработки сообщений позволяют </a:t>
            </a:r>
            <a:r>
              <a:rPr lang="ru-RU" spc="-30" dirty="0" err="1"/>
              <a:t>бесшовно</a:t>
            </a:r>
            <a:r>
              <a:rPr lang="ru-RU" spc="-30" dirty="0"/>
              <a:t> интегрировать внешние хранилища секретов, включить TLS/SASL и масштабировать систему без пересмотра бизнес-логики. Таким образом, </a:t>
            </a:r>
            <a:r>
              <a:rPr lang="ru-RU" spc="-30" dirty="0" smtClean="0"/>
              <a:t>проект </a:t>
            </a:r>
            <a:r>
              <a:rPr lang="ru-RU" spc="-30" dirty="0"/>
              <a:t>подтверждает ключевой тезис </a:t>
            </a:r>
            <a:r>
              <a:rPr lang="ru-RU" spc="-30" dirty="0" err="1"/>
              <a:t>security-by-design</a:t>
            </a:r>
            <a:r>
              <a:rPr lang="ru-RU" spc="-30" dirty="0"/>
              <a:t>: безопасность должна закладываться на этапе проектирования архитектуры, обеспечивая при этом прозрачный аудит, устойчивость к несанкционированной модификации и структурную гарантию выполнения политик защиты.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396471" y="6408012"/>
            <a:ext cx="2235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pc="-25" dirty="0" smtClean="0"/>
              <a:t>1</a:t>
            </a:r>
            <a:r>
              <a:rPr lang="ru-RU" spc="-25" dirty="0" smtClean="0"/>
              <a:t>4</a:t>
            </a:r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331088"/>
            <a:ext cx="32067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65" dirty="0">
                <a:solidFill>
                  <a:srgbClr val="1F9BD1"/>
                </a:solidFill>
                <a:latin typeface="Tahoma"/>
                <a:cs typeface="Tahoma"/>
              </a:rPr>
              <a:t>ИТОГ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Почему</a:t>
            </a:r>
            <a:r>
              <a:rPr spc="-210" dirty="0"/>
              <a:t> </a:t>
            </a:r>
            <a:r>
              <a:rPr spc="-220" dirty="0"/>
              <a:t>выбраны</a:t>
            </a:r>
            <a:r>
              <a:rPr spc="-185" dirty="0"/>
              <a:t> </a:t>
            </a:r>
            <a:r>
              <a:rPr spc="-145" dirty="0"/>
              <a:t>именно</a:t>
            </a:r>
            <a:r>
              <a:rPr spc="-220" dirty="0"/>
              <a:t> </a:t>
            </a:r>
            <a:r>
              <a:rPr spc="-114" dirty="0"/>
              <a:t>эти</a:t>
            </a:r>
            <a:r>
              <a:rPr spc="-200" dirty="0"/>
              <a:t> </a:t>
            </a:r>
            <a:r>
              <a:rPr spc="-100" dirty="0"/>
              <a:t>решения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1397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6336791"/>
            <a:ext cx="11155680" cy="0"/>
          </a:xfrm>
          <a:custGeom>
            <a:avLst/>
            <a:gdLst/>
            <a:ahLst/>
            <a:cxnLst/>
            <a:rect l="l" t="t" r="r" b="b"/>
            <a:pathLst>
              <a:path w="11155680">
                <a:moveTo>
                  <a:pt x="0" y="0"/>
                </a:moveTo>
                <a:lnTo>
                  <a:pt x="11155680" y="0"/>
                </a:lnTo>
              </a:path>
            </a:pathLst>
          </a:custGeom>
          <a:ln w="8890">
            <a:solidFill>
              <a:srgbClr val="3043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30" dirty="0"/>
              <a:t>Kafka</a:t>
            </a:r>
            <a:r>
              <a:rPr spc="-95" dirty="0"/>
              <a:t> </a:t>
            </a:r>
            <a:r>
              <a:rPr dirty="0"/>
              <a:t>выбрана</a:t>
            </a:r>
            <a:r>
              <a:rPr spc="-65" dirty="0"/>
              <a:t> </a:t>
            </a:r>
            <a:r>
              <a:rPr spc="-25" dirty="0"/>
              <a:t>как</a:t>
            </a:r>
            <a:r>
              <a:rPr spc="-85" dirty="0"/>
              <a:t> </a:t>
            </a:r>
            <a:r>
              <a:rPr spc="-10" dirty="0"/>
              <a:t>брокер</a:t>
            </a:r>
            <a:r>
              <a:rPr spc="-50" dirty="0"/>
              <a:t> </a:t>
            </a:r>
            <a:r>
              <a:rPr dirty="0"/>
              <a:t>сообщений:</a:t>
            </a:r>
            <a:r>
              <a:rPr spc="-40" dirty="0"/>
              <a:t> </a:t>
            </a:r>
            <a:r>
              <a:rPr dirty="0"/>
              <a:t>она</a:t>
            </a:r>
            <a:r>
              <a:rPr spc="-95" dirty="0"/>
              <a:t> </a:t>
            </a:r>
            <a:r>
              <a:rPr spc="-10" dirty="0"/>
              <a:t>естественно</a:t>
            </a:r>
            <a:r>
              <a:rPr spc="-40" dirty="0"/>
              <a:t> </a:t>
            </a:r>
            <a:r>
              <a:rPr spc="-10" dirty="0"/>
              <a:t>показывает</a:t>
            </a:r>
            <a:r>
              <a:rPr spc="-85" dirty="0"/>
              <a:t> </a:t>
            </a:r>
            <a:r>
              <a:rPr dirty="0"/>
              <a:t>изолированные</a:t>
            </a:r>
            <a:r>
              <a:rPr spc="-80" dirty="0"/>
              <a:t> </a:t>
            </a:r>
            <a:r>
              <a:rPr spc="-10" dirty="0"/>
              <a:t>домены</a:t>
            </a:r>
            <a:r>
              <a:rPr spc="-70" dirty="0"/>
              <a:t> </a:t>
            </a:r>
            <a:r>
              <a:rPr dirty="0"/>
              <a:t>и</a:t>
            </a:r>
            <a:r>
              <a:rPr spc="-85" dirty="0"/>
              <a:t> </a:t>
            </a:r>
            <a:r>
              <a:rPr spc="-25" dirty="0"/>
              <a:t>политику</a:t>
            </a:r>
            <a:r>
              <a:rPr spc="-85" dirty="0"/>
              <a:t> </a:t>
            </a:r>
            <a:r>
              <a:rPr spc="-10" dirty="0"/>
              <a:t>взаимодействия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через</a:t>
            </a:r>
            <a:r>
              <a:rPr spc="-85" dirty="0"/>
              <a:t> </a:t>
            </a:r>
            <a:r>
              <a:rPr spc="-10" dirty="0"/>
              <a:t>topics.</a:t>
            </a:r>
          </a:p>
          <a:p>
            <a:pPr marL="12700" marR="1193165">
              <a:lnSpc>
                <a:spcPct val="101400"/>
              </a:lnSpc>
            </a:pPr>
            <a:r>
              <a:rPr dirty="0"/>
              <a:t>AES-</a:t>
            </a:r>
            <a:r>
              <a:rPr spc="-10" dirty="0"/>
              <a:t>256-</a:t>
            </a:r>
            <a:r>
              <a:rPr spc="105" dirty="0"/>
              <a:t>GCM</a:t>
            </a:r>
            <a:r>
              <a:rPr spc="-65" dirty="0"/>
              <a:t> </a:t>
            </a:r>
            <a:r>
              <a:rPr dirty="0"/>
              <a:t>выбран</a:t>
            </a:r>
            <a:r>
              <a:rPr spc="-70" dirty="0"/>
              <a:t> </a:t>
            </a:r>
            <a:r>
              <a:rPr spc="-45" dirty="0"/>
              <a:t>потому,</a:t>
            </a:r>
            <a:r>
              <a:rPr spc="-70" dirty="0"/>
              <a:t> </a:t>
            </a:r>
            <a:r>
              <a:rPr spc="-10" dirty="0"/>
              <a:t>что</a:t>
            </a:r>
            <a:r>
              <a:rPr spc="-80" dirty="0"/>
              <a:t> </a:t>
            </a:r>
            <a:r>
              <a:rPr spc="-25" dirty="0"/>
              <a:t>дает</a:t>
            </a:r>
            <a:r>
              <a:rPr spc="-85" dirty="0"/>
              <a:t> </a:t>
            </a:r>
            <a:r>
              <a:rPr spc="-10" dirty="0"/>
              <a:t>конфиденциальность</a:t>
            </a:r>
            <a:r>
              <a:rPr spc="-60" dirty="0"/>
              <a:t> </a:t>
            </a:r>
            <a:r>
              <a:rPr dirty="0"/>
              <a:t>и</a:t>
            </a:r>
            <a:r>
              <a:rPr spc="-100" dirty="0"/>
              <a:t> </a:t>
            </a:r>
            <a:r>
              <a:rPr spc="-20" dirty="0"/>
              <a:t>контроль</a:t>
            </a:r>
            <a:r>
              <a:rPr spc="-65" dirty="0"/>
              <a:t> </a:t>
            </a:r>
            <a:r>
              <a:rPr spc="-10" dirty="0"/>
              <a:t>целостности</a:t>
            </a:r>
            <a:r>
              <a:rPr spc="-75" dirty="0"/>
              <a:t> </a:t>
            </a:r>
            <a:r>
              <a:rPr spc="-10" dirty="0"/>
              <a:t>одним</a:t>
            </a:r>
            <a:r>
              <a:rPr spc="-75" dirty="0"/>
              <a:t> </a:t>
            </a:r>
            <a:r>
              <a:rPr spc="-10" dirty="0"/>
              <a:t>контейнером. локальная</a:t>
            </a:r>
            <a:r>
              <a:rPr spc="-125" dirty="0"/>
              <a:t> </a:t>
            </a:r>
            <a:r>
              <a:rPr dirty="0"/>
              <a:t>БД</a:t>
            </a:r>
            <a:r>
              <a:rPr spc="-100" dirty="0"/>
              <a:t> </a:t>
            </a:r>
            <a:r>
              <a:rPr dirty="0"/>
              <a:t>выбран</a:t>
            </a:r>
            <a:r>
              <a:rPr spc="-90" dirty="0"/>
              <a:t> </a:t>
            </a:r>
            <a:r>
              <a:rPr spc="-40" dirty="0"/>
              <a:t>для</a:t>
            </a:r>
            <a:r>
              <a:rPr spc="-90" dirty="0"/>
              <a:t> </a:t>
            </a:r>
            <a:r>
              <a:rPr spc="-10" dirty="0"/>
              <a:t>локального</a:t>
            </a:r>
            <a:r>
              <a:rPr spc="-105" dirty="0"/>
              <a:t> </a:t>
            </a:r>
            <a:r>
              <a:rPr spc="-20" dirty="0"/>
              <a:t>учебного</a:t>
            </a:r>
            <a:r>
              <a:rPr spc="-55" dirty="0"/>
              <a:t> </a:t>
            </a:r>
            <a:r>
              <a:rPr spc="-10" dirty="0"/>
              <a:t>хранения</a:t>
            </a:r>
            <a:r>
              <a:rPr spc="-110" dirty="0"/>
              <a:t> </a:t>
            </a:r>
            <a:r>
              <a:rPr dirty="0"/>
              <a:t>без</a:t>
            </a:r>
            <a:r>
              <a:rPr spc="-100" dirty="0"/>
              <a:t> </a:t>
            </a:r>
            <a:r>
              <a:rPr dirty="0"/>
              <a:t>внешней</a:t>
            </a:r>
            <a:r>
              <a:rPr spc="-100" dirty="0"/>
              <a:t> </a:t>
            </a:r>
            <a:r>
              <a:rPr spc="-25" dirty="0"/>
              <a:t>БД.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Docker</a:t>
            </a:r>
            <a:r>
              <a:rPr spc="-65" dirty="0"/>
              <a:t> </a:t>
            </a:r>
            <a:r>
              <a:rPr spc="45" dirty="0"/>
              <a:t>Compose</a:t>
            </a:r>
            <a:r>
              <a:rPr spc="-60" dirty="0"/>
              <a:t> </a:t>
            </a:r>
            <a:r>
              <a:rPr dirty="0"/>
              <a:t>выбран</a:t>
            </a:r>
            <a:r>
              <a:rPr spc="-75" dirty="0"/>
              <a:t> </a:t>
            </a:r>
            <a:r>
              <a:rPr spc="-40" dirty="0"/>
              <a:t>для</a:t>
            </a:r>
            <a:r>
              <a:rPr spc="-95" dirty="0"/>
              <a:t> </a:t>
            </a:r>
            <a:r>
              <a:rPr dirty="0"/>
              <a:t>воспроизводимого</a:t>
            </a:r>
            <a:r>
              <a:rPr spc="-40" dirty="0"/>
              <a:t> </a:t>
            </a:r>
            <a:r>
              <a:rPr dirty="0"/>
              <a:t>запуска</a:t>
            </a:r>
            <a:r>
              <a:rPr spc="-105" dirty="0"/>
              <a:t> </a:t>
            </a:r>
            <a:r>
              <a:rPr dirty="0"/>
              <a:t>и</a:t>
            </a:r>
            <a:r>
              <a:rPr spc="-95" dirty="0"/>
              <a:t> </a:t>
            </a:r>
            <a:r>
              <a:rPr dirty="0"/>
              <a:t>изоляции</a:t>
            </a:r>
            <a:r>
              <a:rPr spc="-105" dirty="0"/>
              <a:t> </a:t>
            </a:r>
            <a:r>
              <a:rPr spc="-10" dirty="0"/>
              <a:t>сервисов.</a:t>
            </a:r>
          </a:p>
          <a:p>
            <a:pPr marL="12700" marR="807720">
              <a:lnSpc>
                <a:spcPct val="101400"/>
              </a:lnSpc>
              <a:spcBef>
                <a:spcPts val="5"/>
              </a:spcBef>
            </a:pPr>
            <a:r>
              <a:rPr spc="-35" dirty="0"/>
              <a:t>Grafana/Prometheus/Loki </a:t>
            </a:r>
            <a:r>
              <a:rPr dirty="0"/>
              <a:t>выбраны</a:t>
            </a:r>
            <a:r>
              <a:rPr spc="-75" dirty="0"/>
              <a:t> </a:t>
            </a:r>
            <a:r>
              <a:rPr spc="-40" dirty="0"/>
              <a:t>для</a:t>
            </a:r>
            <a:r>
              <a:rPr spc="-75" dirty="0"/>
              <a:t> </a:t>
            </a:r>
            <a:r>
              <a:rPr dirty="0"/>
              <a:t>защиты</a:t>
            </a:r>
            <a:r>
              <a:rPr spc="-100" dirty="0"/>
              <a:t> </a:t>
            </a:r>
            <a:r>
              <a:rPr spc="-25" dirty="0"/>
              <a:t>проекта:</a:t>
            </a:r>
            <a:r>
              <a:rPr spc="-75" dirty="0"/>
              <a:t> </a:t>
            </a:r>
            <a:r>
              <a:rPr dirty="0"/>
              <a:t>видно</a:t>
            </a:r>
            <a:r>
              <a:rPr spc="-80" dirty="0"/>
              <a:t> </a:t>
            </a:r>
            <a:r>
              <a:rPr spc="-10" dirty="0"/>
              <a:t>состояние,</a:t>
            </a:r>
            <a:r>
              <a:rPr spc="-75" dirty="0"/>
              <a:t> </a:t>
            </a:r>
            <a:r>
              <a:rPr spc="-10" dirty="0"/>
              <a:t>датчики</a:t>
            </a:r>
            <a:r>
              <a:rPr spc="-90" dirty="0"/>
              <a:t> </a:t>
            </a:r>
            <a:r>
              <a:rPr dirty="0"/>
              <a:t>и</a:t>
            </a:r>
            <a:r>
              <a:rPr spc="-105" dirty="0"/>
              <a:t> </a:t>
            </a:r>
            <a:r>
              <a:rPr spc="-30" dirty="0"/>
              <a:t>аудит</a:t>
            </a:r>
            <a:r>
              <a:rPr spc="-90" dirty="0"/>
              <a:t> </a:t>
            </a:r>
            <a:r>
              <a:rPr spc="-10" dirty="0"/>
              <a:t>криптоконтейнеров. </a:t>
            </a:r>
            <a:r>
              <a:rPr spc="50" dirty="0"/>
              <a:t>UML</a:t>
            </a:r>
            <a:r>
              <a:rPr spc="-110" dirty="0"/>
              <a:t> </a:t>
            </a:r>
            <a:r>
              <a:rPr spc="-10" dirty="0"/>
              <a:t>используется</a:t>
            </a:r>
            <a:r>
              <a:rPr spc="-100" dirty="0"/>
              <a:t> </a:t>
            </a:r>
            <a:r>
              <a:rPr spc="-40" dirty="0"/>
              <a:t>для</a:t>
            </a:r>
            <a:r>
              <a:rPr spc="-95" dirty="0"/>
              <a:t> </a:t>
            </a:r>
            <a:r>
              <a:rPr spc="-10" dirty="0"/>
              <a:t>объяснения</a:t>
            </a:r>
            <a:r>
              <a:rPr spc="-85" dirty="0"/>
              <a:t> </a:t>
            </a:r>
            <a:r>
              <a:rPr spc="-30" dirty="0"/>
              <a:t>структуры</a:t>
            </a:r>
            <a:r>
              <a:rPr spc="-80" dirty="0"/>
              <a:t> </a:t>
            </a:r>
            <a:r>
              <a:rPr dirty="0"/>
              <a:t>и</a:t>
            </a:r>
            <a:r>
              <a:rPr spc="-105" dirty="0"/>
              <a:t> </a:t>
            </a:r>
            <a:r>
              <a:rPr spc="-10" dirty="0"/>
              <a:t>сценария.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396471" y="6408012"/>
            <a:ext cx="223520" cy="15837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pc="-25" dirty="0" smtClean="0"/>
              <a:t>1</a:t>
            </a:r>
            <a:r>
              <a:rPr lang="ru-RU" spc="-25" dirty="0" smtClean="0"/>
              <a:t>5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12955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1296</Words>
  <Application>Microsoft Office PowerPoint</Application>
  <PresentationFormat>Широкоэкранный</PresentationFormat>
  <Paragraphs>270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 MT</vt:lpstr>
      <vt:lpstr>Impact</vt:lpstr>
      <vt:lpstr>Tahoma</vt:lpstr>
      <vt:lpstr>Times New Roman</vt:lpstr>
      <vt:lpstr>Trebuchet MS</vt:lpstr>
      <vt:lpstr>Office Theme</vt:lpstr>
      <vt:lpstr>Система обмена сообщениями с криптографической защитой информации</vt:lpstr>
      <vt:lpstr>Что представляет собой продукт</vt:lpstr>
      <vt:lpstr>LiteBroker</vt:lpstr>
      <vt:lpstr>Концепция безопасности продукта</vt:lpstr>
      <vt:lpstr>Цели и предположения безопасности</vt:lpstr>
      <vt:lpstr>Архитектура политики</vt:lpstr>
      <vt:lpstr>Базовый сценарий отправки сообщения</vt:lpstr>
      <vt:lpstr>Механизмы изоляции и контроля</vt:lpstr>
      <vt:lpstr>Презентация PowerPoint</vt:lpstr>
      <vt:lpstr>Политики безопасности и шаблоны security-by-design</vt:lpstr>
      <vt:lpstr>Презентация PowerPoint</vt:lpstr>
      <vt:lpstr>Паттерны проектирования ПО</vt:lpstr>
      <vt:lpstr>Презентация PowerPoint</vt:lpstr>
      <vt:lpstr>Как реализовано шифрование</vt:lpstr>
      <vt:lpstr>Презентация PowerPoint</vt:lpstr>
      <vt:lpstr>Наблюдаемость: 2 дашборда</vt:lpstr>
      <vt:lpstr>Подход к тестированию проектного кода</vt:lpstr>
      <vt:lpstr>Соответствие идее монитора безопасности</vt:lpstr>
      <vt:lpstr>Заключение</vt:lpstr>
      <vt:lpstr>Почему выбраны именно эти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LiteBroker: защищенный обмен сообщениями через Kafka</dc:title>
  <dc:subject>Концепция безопасности LiteBroker</dc:subject>
  <dc:creator>LiteBroker</dc:creator>
  <cp:lastModifiedBy>123</cp:lastModifiedBy>
  <cp:revision>8</cp:revision>
  <dcterms:created xsi:type="dcterms:W3CDTF">2026-06-16T21:31:18Z</dcterms:created>
  <dcterms:modified xsi:type="dcterms:W3CDTF">2026-06-16T23:38:15Z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2026-05-27T00:00:00Z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2026-06-16T00:00:00Z</vt:filetime>
  </property>
  <property fmtid="{D5CDD505-2E9C-101B-9397-08002B2CF9AE}" pid="6" name="Producer">
    <vt:lpwstr>Microsoft® PowerPoint® 2021</vt:lpwstr>
  </property>
</Properties>
</file>