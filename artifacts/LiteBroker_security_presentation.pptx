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8FB"/>
                </a:solidFill>
              </a:rPr>
              <a:t>LiteBroker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94360" y="117043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9B5C2"/>
                </a:solidFill>
              </a:rPr>
              <a:t>Система обмена сообщениями с криптографической защитой информации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58368" y="2148840"/>
            <a:ext cx="2148840" cy="822960"/>
          </a:xfrm>
          <a:prstGeom prst="rect">
            <a:avLst/>
          </a:prstGeom>
          <a:solidFill>
            <a:srgbClr val="6F4AA2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2258568"/>
            <a:ext cx="1892808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8FB"/>
                </a:solidFill>
              </a:rPr>
              <a:t>Kafka broker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00400" y="2148840"/>
            <a:ext cx="2743200" cy="822960"/>
          </a:xfrm>
          <a:prstGeom prst="rect">
            <a:avLst/>
          </a:prstGeom>
          <a:solidFill>
            <a:srgbClr val="328637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28416" y="2258568"/>
            <a:ext cx="2487168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8FB"/>
                </a:solidFill>
              </a:rPr>
              <a:t>AES-256-GCM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5F8FB"/>
                </a:solidFill>
              </a:rPr>
              <a:t>crypto containers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55080" y="2148840"/>
            <a:ext cx="2468880" cy="822960"/>
          </a:xfrm>
          <a:prstGeom prst="rect">
            <a:avLst/>
          </a:prstGeom>
          <a:solidFill>
            <a:srgbClr val="1F9BD1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83096" y="2258568"/>
            <a:ext cx="2212848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8FB"/>
                </a:solidFill>
              </a:rPr>
              <a:t>Sensor topic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5F8FB"/>
                </a:solidFill>
              </a:rPr>
              <a:t>random telemetry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189720" y="2148840"/>
            <a:ext cx="2057400" cy="822960"/>
          </a:xfrm>
          <a:prstGeom prst="rect">
            <a:avLst/>
          </a:prstGeom>
          <a:solidFill>
            <a:srgbClr val="E49B37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17736" y="2258568"/>
            <a:ext cx="1801368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8FB"/>
                </a:solidFill>
              </a:rPr>
              <a:t>Grafana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5F8FB"/>
                </a:solidFill>
              </a:rPr>
              <a:t>observability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8368" y="3977640"/>
            <a:ext cx="10561320" cy="1143000"/>
          </a:xfrm>
          <a:prstGeom prst="rect">
            <a:avLst/>
          </a:prstGeom>
          <a:solidFill>
            <a:srgbClr val="05080C"/>
          </a:solidFill>
          <a:ln w="12700">
            <a:solidFill>
              <a:srgbClr val="3143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4087368"/>
            <a:ext cx="10341864" cy="9235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4DD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 algorithm, iv, ciphertext, authTag, metadata }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502920" y="6336792"/>
            <a:ext cx="11155680" cy="0"/>
          </a:xfrm>
          <a:prstGeom prst="line">
            <a:avLst/>
          </a:prstGeom>
          <a:noFill/>
          <a:ln w="8890">
            <a:solidFill>
              <a:srgbClr val="3143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428232"/>
            <a:ext cx="9784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8EA0"/>
                </a:solidFill>
              </a:rPr>
              <a:t>Проект LiteBroker + материалы ЛР_2, ЛР_3, ЛК_3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018520" y="638251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5C2"/>
                </a:solidFill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9BD1"/>
                </a:solidFill>
              </a:rPr>
              <a:t>КОНТЕКСТ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5F8FB"/>
                </a:solidFill>
              </a:rPr>
              <a:t>Что представляет собой продукт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55680" cy="0"/>
          </a:xfrm>
          <a:prstGeom prst="line">
            <a:avLst/>
          </a:prstGeom>
          <a:noFill/>
          <a:ln w="13970">
            <a:solidFill>
              <a:srgbClr val="3143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36792"/>
            <a:ext cx="11155680" cy="0"/>
          </a:xfrm>
          <a:prstGeom prst="line">
            <a:avLst/>
          </a:prstGeom>
          <a:noFill/>
          <a:ln w="8890">
            <a:solidFill>
              <a:srgbClr val="3143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28232"/>
            <a:ext cx="9784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8EA0"/>
                </a:solidFill>
              </a:rPr>
              <a:t>Источники: ЛР_2, ЛР_3, ЛК_3, UML_лк__, securitybydesign.ru/templates, refactoringu.ru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38251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5C2"/>
                </a:solidFill>
              </a:rPr>
              <a:t>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5852160" cy="4297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500" dirty="0">
                <a:solidFill>
                  <a:srgbClr val="F5F8FB"/>
                </a:solidFill>
              </a:rPr>
              <a:t>LiteBroker — локальный учебный мессенджер с выбором собеседника.</a:t>
            </a:r>
            <a:endParaRPr lang="en-US" sz="1500" dirty="0"/>
          </a:p>
          <a:p>
            <a:r>
              <a:rPr lang="en-US" sz="1500" dirty="0">
                <a:solidFill>
                  <a:srgbClr val="F5F8FB"/>
                </a:solidFill>
              </a:rPr>
              <a:t>Каждый диалог публикуется в отдельный Kafka topic: litebroker.chat.&lt;userA&gt;__&lt;userB&gt;.</a:t>
            </a:r>
            <a:endParaRPr lang="en-US" sz="1500" dirty="0"/>
          </a:p>
          <a:p>
            <a:r>
              <a:rPr lang="en-US" sz="1500" dirty="0">
                <a:solidFill>
                  <a:srgbClr val="F5F8FB"/>
                </a:solidFill>
              </a:rPr>
              <a:t>Замеры датчиков генерируются автоматически и публикуются в topic litebroker.sensors.random.</a:t>
            </a:r>
            <a:endParaRPr lang="en-US" sz="1500" dirty="0"/>
          </a:p>
          <a:p>
            <a:r>
              <a:rPr lang="en-US" sz="1500" dirty="0">
                <a:solidFill>
                  <a:srgbClr val="F5F8FB"/>
                </a:solidFill>
              </a:rPr>
              <a:t>Сообщения сохраняются в SQLite и Kafka не открытым текстом, а криптоконтейнером.</a:t>
            </a:r>
            <a:endParaRPr lang="en-US" sz="1500" dirty="0"/>
          </a:p>
          <a:p>
            <a:r>
              <a:rPr lang="en-US" sz="1500" dirty="0">
                <a:solidFill>
                  <a:srgbClr val="F5F8FB"/>
                </a:solidFill>
              </a:rPr>
              <a:t>Prometheus, Loki/Promtail и Grafana используются для наблюдаемости и демонстрации аудита.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086600" y="1691640"/>
            <a:ext cx="4023360" cy="1874520"/>
          </a:xfrm>
          <a:prstGeom prst="rect">
            <a:avLst/>
          </a:prstGeom>
          <a:solidFill>
            <a:srgbClr val="328637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14616" y="1801368"/>
            <a:ext cx="3767328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8FB"/>
                </a:solidFill>
              </a:rPr>
              <a:t>Ценность продукта: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5F8FB"/>
                </a:solidFill>
              </a:rPr>
              <a:t>конфиденциальность сообщения,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5F8FB"/>
                </a:solidFill>
              </a:rPr>
              <a:t>целостность контейнера,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5F8FB"/>
                </a:solidFill>
              </a:rPr>
              <a:t>разделение потоков данных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086600" y="3886200"/>
            <a:ext cx="4023360" cy="1417320"/>
          </a:xfrm>
          <a:prstGeom prst="rect">
            <a:avLst/>
          </a:prstGeom>
          <a:solidFill>
            <a:srgbClr val="E15D50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14616" y="3995928"/>
            <a:ext cx="3767328" cy="11978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8FB"/>
                </a:solidFill>
              </a:rPr>
              <a:t>Неприемлемое событие: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5F8FB"/>
                </a:solidFill>
              </a:rPr>
              <a:t>сообщение или служебный поток обходит политику и появляется в системе как открытый текст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9BD1"/>
                </a:solidFill>
              </a:rPr>
              <a:t>SECURITY CONCEPT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5F8FB"/>
                </a:solidFill>
              </a:rPr>
              <a:t>Концепция безопасности продукта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55680" cy="0"/>
          </a:xfrm>
          <a:prstGeom prst="line">
            <a:avLst/>
          </a:prstGeom>
          <a:noFill/>
          <a:ln w="13970">
            <a:solidFill>
              <a:srgbClr val="3143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36792"/>
            <a:ext cx="11155680" cy="0"/>
          </a:xfrm>
          <a:prstGeom prst="line">
            <a:avLst/>
          </a:prstGeom>
          <a:noFill/>
          <a:ln w="8890">
            <a:solidFill>
              <a:srgbClr val="3143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28232"/>
            <a:ext cx="9784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8EA0"/>
                </a:solidFill>
              </a:rPr>
              <a:t>Источники: ЛР_2 — концепция безопасности, ценности, сценарии, риски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38251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5C2"/>
                </a:solidFill>
              </a:rPr>
              <a:t>03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1828800"/>
            <a:ext cx="1737360" cy="676656"/>
          </a:xfrm>
          <a:prstGeom prst="rect">
            <a:avLst/>
          </a:prstGeom>
          <a:solidFill>
            <a:srgbClr val="1F9BD1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93852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8FB"/>
                </a:solidFill>
              </a:rPr>
              <a:t>Пользователь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063240" y="1828800"/>
            <a:ext cx="1554480" cy="676656"/>
          </a:xfrm>
          <a:prstGeom prst="rect">
            <a:avLst/>
          </a:prstGeom>
          <a:solidFill>
            <a:srgbClr val="151D27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91256" y="1938528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8FB"/>
                </a:solidFill>
              </a:rPr>
              <a:t>Web UI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166360" y="1828800"/>
            <a:ext cx="1920240" cy="676656"/>
          </a:xfrm>
          <a:prstGeom prst="rect">
            <a:avLst/>
          </a:prstGeom>
          <a:solidFill>
            <a:srgbClr val="328637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94376" y="1938528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8FB"/>
                </a:solidFill>
              </a:rPr>
              <a:t>LiteBroker API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635240" y="1828800"/>
            <a:ext cx="1920240" cy="676656"/>
          </a:xfrm>
          <a:prstGeom prst="rect">
            <a:avLst/>
          </a:prstGeom>
          <a:solidFill>
            <a:srgbClr val="328637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63256" y="1938528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8FB"/>
                </a:solidFill>
              </a:rPr>
              <a:t>Crypto Layer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0012680" y="1828800"/>
            <a:ext cx="1645920" cy="676656"/>
          </a:xfrm>
          <a:prstGeom prst="rect">
            <a:avLst/>
          </a:prstGeom>
          <a:solidFill>
            <a:srgbClr val="6F4AA2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40696" y="1938528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8FB"/>
                </a:solidFill>
              </a:rPr>
              <a:t>Kafka / SQLite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2606040" y="2167128"/>
            <a:ext cx="38404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645152" y="2167128"/>
            <a:ext cx="47548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132320" y="2167128"/>
            <a:ext cx="42976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582912" y="2167128"/>
            <a:ext cx="38404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914400" y="306324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450" dirty="0">
                <a:solidFill>
                  <a:srgbClr val="F5F8FB"/>
                </a:solidFill>
              </a:rPr>
              <a:t>Сценарий 1: пользователь входит, выбирает собеседника, отправляет сообщение.</a:t>
            </a:r>
            <a:endParaRPr lang="en-US" sz="1450" dirty="0"/>
          </a:p>
          <a:p>
            <a:r>
              <a:rPr lang="en-US" sz="1450" dirty="0">
                <a:solidFill>
                  <a:srgbClr val="F5F8FB"/>
                </a:solidFill>
              </a:rPr>
              <a:t>Сценарий 2: генератор датчиков создает телеметрию без участия пользователя.</a:t>
            </a:r>
            <a:endParaRPr lang="en-US" sz="1450" dirty="0"/>
          </a:p>
          <a:p>
            <a:r>
              <a:rPr lang="en-US" sz="1450" dirty="0">
                <a:solidFill>
                  <a:srgbClr val="F5F8FB"/>
                </a:solidFill>
              </a:rPr>
              <a:t>Сценарий 3: администратор смотрит состояние системы в Grafana/Kafka UI.</a:t>
            </a:r>
            <a:endParaRPr lang="en-US" sz="1450" dirty="0"/>
          </a:p>
          <a:p>
            <a:r>
              <a:rPr lang="en-US" sz="1450" dirty="0">
                <a:solidFill>
                  <a:srgbClr val="F5F8FB"/>
                </a:solidFill>
              </a:rPr>
              <a:t>Граница доверия: браузер не работает напрямую с Kafka и БД.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9BD1"/>
                </a:solidFill>
              </a:rPr>
              <a:t>ЦЕЛИ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5F8FB"/>
                </a:solidFill>
              </a:rPr>
              <a:t>Цели и предположения безопасности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55680" cy="0"/>
          </a:xfrm>
          <a:prstGeom prst="line">
            <a:avLst/>
          </a:prstGeom>
          <a:noFill/>
          <a:ln w="13970">
            <a:solidFill>
              <a:srgbClr val="3143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36792"/>
            <a:ext cx="11155680" cy="0"/>
          </a:xfrm>
          <a:prstGeom prst="line">
            <a:avLst/>
          </a:prstGeom>
          <a:noFill/>
          <a:ln w="8890">
            <a:solidFill>
              <a:srgbClr val="3143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28232"/>
            <a:ext cx="9784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8EA0"/>
                </a:solidFill>
              </a:rPr>
              <a:t>Источники: ЛР_2, ЛР_3, ЛК_3, UML_лк__, securitybydesign.ru/templates, refactoringu.ru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38251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5C2"/>
                </a:solidFill>
              </a:rPr>
              <a:t>04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664208"/>
            <a:ext cx="3383280" cy="411480"/>
          </a:xfrm>
          <a:prstGeom prst="rect">
            <a:avLst/>
          </a:prstGeom>
          <a:solidFill>
            <a:srgbClr val="1F9BD1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773936"/>
            <a:ext cx="3127248" cy="1920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8FB"/>
                </a:solidFill>
              </a:rPr>
              <a:t>Цели безопасности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24028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400" dirty="0">
                <a:solidFill>
                  <a:srgbClr val="F5F8FB"/>
                </a:solidFill>
              </a:rPr>
              <a:t>не передавать сообщение как открытый текст;</a:t>
            </a:r>
            <a:endParaRPr lang="en-US" sz="1400" dirty="0"/>
          </a:p>
          <a:p>
            <a:r>
              <a:rPr lang="en-US" sz="1400" dirty="0">
                <a:solidFill>
                  <a:srgbClr val="F5F8FB"/>
                </a:solidFill>
              </a:rPr>
              <a:t>сохранять целостность через GCM authTag;</a:t>
            </a:r>
            <a:endParaRPr lang="en-US" sz="1400" dirty="0"/>
          </a:p>
          <a:p>
            <a:r>
              <a:rPr lang="en-US" sz="1400" dirty="0">
                <a:solidFill>
                  <a:srgbClr val="F5F8FB"/>
                </a:solidFill>
              </a:rPr>
              <a:t>разделить чат и датчики по разным topics;</a:t>
            </a:r>
            <a:endParaRPr lang="en-US" sz="1400" dirty="0"/>
          </a:p>
          <a:p>
            <a:r>
              <a:rPr lang="en-US" sz="1400" dirty="0">
                <a:solidFill>
                  <a:srgbClr val="F5F8FB"/>
                </a:solidFill>
              </a:rPr>
              <a:t>не дать frontend обойти API и политику;</a:t>
            </a:r>
            <a:endParaRPr lang="en-US" sz="1400" dirty="0"/>
          </a:p>
          <a:p>
            <a:r>
              <a:rPr lang="en-US" sz="1400" dirty="0">
                <a:solidFill>
                  <a:srgbClr val="F5F8FB"/>
                </a:solidFill>
              </a:rPr>
              <a:t>дать наблюдаемость без доступа к управлению сообщениями.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1664208"/>
            <a:ext cx="4023360" cy="411480"/>
          </a:xfrm>
          <a:prstGeom prst="rect">
            <a:avLst/>
          </a:prstGeom>
          <a:solidFill>
            <a:srgbClr val="328637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773936"/>
            <a:ext cx="3767328" cy="1920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8FB"/>
                </a:solidFill>
              </a:rPr>
              <a:t>Предположения безопасности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172200" y="224028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400" dirty="0">
                <a:solidFill>
                  <a:srgbClr val="F5F8FB"/>
                </a:solidFill>
              </a:rPr>
              <a:t>проект учебный и запускается локально;</a:t>
            </a:r>
            <a:endParaRPr lang="en-US" sz="1400" dirty="0"/>
          </a:p>
          <a:p>
            <a:r>
              <a:rPr lang="en-US" sz="1400" dirty="0">
                <a:solidFill>
                  <a:srgbClr val="F5F8FB"/>
                </a:solidFill>
              </a:rPr>
              <a:t>секрет шифрования задается через env;</a:t>
            </a:r>
            <a:endParaRPr lang="en-US" sz="1400" dirty="0"/>
          </a:p>
          <a:p>
            <a:r>
              <a:rPr lang="en-US" sz="1400" dirty="0">
                <a:solidFill>
                  <a:srgbClr val="F5F8FB"/>
                </a:solidFill>
              </a:rPr>
              <a:t>Kafka в демо без TLS/SASL, но архитектура допускает усиление;</a:t>
            </a:r>
            <a:endParaRPr lang="en-US" sz="1400" dirty="0"/>
          </a:p>
          <a:p>
            <a:r>
              <a:rPr lang="en-US" sz="1400" dirty="0">
                <a:solidFill>
                  <a:srgbClr val="F5F8FB"/>
                </a:solidFill>
              </a:rPr>
              <a:t>SQLite — локальное хранилище приложения;</a:t>
            </a:r>
            <a:endParaRPr lang="en-US" sz="1400" dirty="0"/>
          </a:p>
          <a:p>
            <a:r>
              <a:rPr lang="en-US" sz="1400" dirty="0">
                <a:solidFill>
                  <a:srgbClr val="F5F8FB"/>
                </a:solidFill>
              </a:rPr>
              <a:t>внешние реальные аккаунты и Telegram API не используются.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9BD1"/>
                </a:solidFill>
              </a:rPr>
              <a:t>POLICY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5F8FB"/>
                </a:solidFill>
              </a:rPr>
              <a:t>Архитектура политики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55680" cy="0"/>
          </a:xfrm>
          <a:prstGeom prst="line">
            <a:avLst/>
          </a:prstGeom>
          <a:noFill/>
          <a:ln w="13970">
            <a:solidFill>
              <a:srgbClr val="3143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36792"/>
            <a:ext cx="11155680" cy="0"/>
          </a:xfrm>
          <a:prstGeom prst="line">
            <a:avLst/>
          </a:prstGeom>
          <a:noFill/>
          <a:ln w="8890">
            <a:solidFill>
              <a:srgbClr val="3143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28232"/>
            <a:ext cx="9784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8EA0"/>
                </a:solidFill>
              </a:rPr>
              <a:t>Источники: ЛК_3 — политики безопасности, монитор безопасности, NEAT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38251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5C2"/>
                </a:solidFill>
              </a:rPr>
              <a:t>05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1783080"/>
            <a:ext cx="2331720" cy="868680"/>
          </a:xfrm>
          <a:prstGeom prst="rect">
            <a:avLst/>
          </a:prstGeom>
          <a:solidFill>
            <a:srgbClr val="328637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1892808"/>
            <a:ext cx="2075688" cy="6492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8FB"/>
                </a:solidFill>
              </a:rPr>
              <a:t>Policy Decision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5F8FB"/>
                </a:solidFill>
              </a:rPr>
              <a:t>LiteBroker API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749040" y="1783080"/>
            <a:ext cx="2331720" cy="868680"/>
          </a:xfrm>
          <a:prstGeom prst="rect">
            <a:avLst/>
          </a:prstGeom>
          <a:solidFill>
            <a:srgbClr val="1F9BD1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77056" y="1892808"/>
            <a:ext cx="2075688" cy="6492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8FB"/>
                </a:solidFill>
              </a:rPr>
              <a:t>Policy Enforcement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5F8FB"/>
                </a:solidFill>
              </a:rPr>
              <a:t>HTTP routes + auth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83680" y="1783080"/>
            <a:ext cx="2240280" cy="868680"/>
          </a:xfrm>
          <a:prstGeom prst="rect">
            <a:avLst/>
          </a:prstGeom>
          <a:solidFill>
            <a:srgbClr val="6F4AA2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11696" y="1892808"/>
            <a:ext cx="1984248" cy="6492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8FB"/>
                </a:solidFill>
              </a:rPr>
              <a:t>Message Broker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5F8FB"/>
                </a:solidFill>
              </a:rPr>
              <a:t>Kafka topics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189720" y="1783080"/>
            <a:ext cx="2240280" cy="868680"/>
          </a:xfrm>
          <a:prstGeom prst="rect">
            <a:avLst/>
          </a:prstGeom>
          <a:solidFill>
            <a:srgbClr val="E49B37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17736" y="1892808"/>
            <a:ext cx="1984248" cy="6492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8FB"/>
                </a:solidFill>
              </a:rPr>
              <a:t>Observation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5F8FB"/>
                </a:solidFill>
              </a:rPr>
              <a:t>Prometheus/Loki/Grafana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319272" y="2221992"/>
            <a:ext cx="38404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153912" y="2221992"/>
            <a:ext cx="38404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869680" y="2221992"/>
            <a:ext cx="2743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14400" y="333756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430" dirty="0">
                <a:solidFill>
                  <a:srgbClr val="F5F8FB"/>
                </a:solidFill>
              </a:rPr>
              <a:t>Разрешены только операции через API: login/register/users/messages/sensors/metrics.</a:t>
            </a:r>
            <a:endParaRPr lang="en-US" sz="1430" dirty="0"/>
          </a:p>
          <a:p>
            <a:r>
              <a:rPr lang="en-US" sz="1430" dirty="0">
                <a:solidFill>
                  <a:srgbClr val="F5F8FB"/>
                </a:solidFill>
              </a:rPr>
              <a:t>Для сообщений обязательны: авторизованный пользователь, выбранный recipient, crypto container.</a:t>
            </a:r>
            <a:endParaRPr lang="en-US" sz="1430" dirty="0"/>
          </a:p>
          <a:p>
            <a:r>
              <a:rPr lang="en-US" sz="1430" dirty="0">
                <a:solidFill>
                  <a:srgbClr val="F5F8FB"/>
                </a:solidFill>
              </a:rPr>
              <a:t>Для каждого домена задается разрешенный тип взаимодействия: chat topic или sensor topic.</a:t>
            </a:r>
            <a:endParaRPr lang="en-US" sz="1430" dirty="0"/>
          </a:p>
          <a:p>
            <a:r>
              <a:rPr lang="en-US" sz="1430" dirty="0">
                <a:solidFill>
                  <a:srgbClr val="F5F8FB"/>
                </a:solidFill>
              </a:rPr>
              <a:t>Все, что не описано в политике, считается неразрешенным по умолчанию.</a:t>
            </a:r>
            <a:endParaRPr lang="en-US" sz="14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</a:rPr>
              <a:t>LiteBroker UML class diagram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0" y="16459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3B3B"/>
                </a:solidFill>
              </a:rPr>
              <a:t>Kafka chat + crypto containers + sensor stream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508760" cy="1417320"/>
          </a:xfrm>
          <a:prstGeom prst="rect">
            <a:avLst/>
          </a:prstGeom>
          <a:solidFill>
            <a:srgbClr val="8EF59A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143000"/>
            <a:ext cx="1508760" cy="329184"/>
          </a:xfrm>
          <a:prstGeom prst="rect">
            <a:avLst/>
          </a:prstGeom>
          <a:solidFill>
            <a:srgbClr val="7FE88D"/>
          </a:solidFill>
          <a:ln w="15240">
            <a:solidFill>
              <a:srgbClr val="11111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067458"/>
            <a:ext cx="150876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88720"/>
            <a:ext cx="1380744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111"/>
                </a:solidFill>
              </a:rPr>
              <a:t>LiteBrokerUI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594360" y="1545336"/>
            <a:ext cx="1325880" cy="48554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+token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+selectedPeer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+messages</a:t>
            </a:r>
            <a:endParaRPr lang="en-US" sz="770" dirty="0"/>
          </a:p>
        </p:txBody>
      </p:sp>
      <p:sp>
        <p:nvSpPr>
          <p:cNvPr id="9" name="Text 7"/>
          <p:cNvSpPr/>
          <p:nvPr/>
        </p:nvSpPr>
        <p:spPr>
          <a:xfrm>
            <a:off x="594360" y="2140610"/>
            <a:ext cx="1325880" cy="38313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+selectPeer()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+sendMessage()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+showContainer()</a:t>
            </a:r>
            <a:endParaRPr lang="en-US" sz="770" dirty="0"/>
          </a:p>
        </p:txBody>
      </p:sp>
      <p:sp>
        <p:nvSpPr>
          <p:cNvPr id="10" name="Shape 8"/>
          <p:cNvSpPr/>
          <p:nvPr/>
        </p:nvSpPr>
        <p:spPr>
          <a:xfrm>
            <a:off x="2880360" y="777240"/>
            <a:ext cx="1600200" cy="1645920"/>
          </a:xfrm>
          <a:prstGeom prst="rect">
            <a:avLst/>
          </a:prstGeom>
          <a:solidFill>
            <a:srgbClr val="8EF59A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0360" y="777240"/>
            <a:ext cx="1600200" cy="329184"/>
          </a:xfrm>
          <a:prstGeom prst="rect">
            <a:avLst/>
          </a:prstGeom>
          <a:solidFill>
            <a:srgbClr val="7FE88D"/>
          </a:solidFill>
          <a:ln w="15240">
            <a:solidFill>
              <a:srgbClr val="11111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80360" y="1797710"/>
            <a:ext cx="16002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44368" y="822960"/>
            <a:ext cx="1472184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111"/>
                </a:solidFill>
              </a:rPr>
              <a:t>ApiServer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2971800" y="1179576"/>
            <a:ext cx="1417320" cy="58155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+routes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+currentUser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+policy</a:t>
            </a:r>
            <a:endParaRPr lang="en-US" sz="770" dirty="0"/>
          </a:p>
        </p:txBody>
      </p:sp>
      <p:sp>
        <p:nvSpPr>
          <p:cNvPr id="15" name="Text 13"/>
          <p:cNvSpPr/>
          <p:nvPr/>
        </p:nvSpPr>
        <p:spPr>
          <a:xfrm>
            <a:off x="2971800" y="1870862"/>
            <a:ext cx="1417320" cy="51572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+login()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+register()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+postMessage()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+getSensors()</a:t>
            </a:r>
            <a:endParaRPr lang="en-US" sz="770" dirty="0"/>
          </a:p>
        </p:txBody>
      </p:sp>
      <p:sp>
        <p:nvSpPr>
          <p:cNvPr id="16" name="Shape 14"/>
          <p:cNvSpPr/>
          <p:nvPr/>
        </p:nvSpPr>
        <p:spPr>
          <a:xfrm>
            <a:off x="2880360" y="3154680"/>
            <a:ext cx="1600200" cy="1417320"/>
          </a:xfrm>
          <a:prstGeom prst="rect">
            <a:avLst/>
          </a:prstGeom>
          <a:solidFill>
            <a:srgbClr val="8EF59A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80360" y="3154680"/>
            <a:ext cx="1600200" cy="329184"/>
          </a:xfrm>
          <a:prstGeom prst="rect">
            <a:avLst/>
          </a:prstGeom>
          <a:solidFill>
            <a:srgbClr val="7FE88D"/>
          </a:solidFill>
          <a:ln w="15240">
            <a:solidFill>
              <a:srgbClr val="11111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80360" y="4079138"/>
            <a:ext cx="16002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44368" y="3200400"/>
            <a:ext cx="1472184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111"/>
                </a:solidFill>
              </a:rPr>
              <a:t>CryptoService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2971800" y="3557016"/>
            <a:ext cx="1417320" cy="48554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+algorithm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+iv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+authTag</a:t>
            </a:r>
            <a:endParaRPr lang="en-US" sz="770" dirty="0"/>
          </a:p>
        </p:txBody>
      </p:sp>
      <p:sp>
        <p:nvSpPr>
          <p:cNvPr id="21" name="Text 19"/>
          <p:cNvSpPr/>
          <p:nvPr/>
        </p:nvSpPr>
        <p:spPr>
          <a:xfrm>
            <a:off x="2971800" y="4152290"/>
            <a:ext cx="1417320" cy="38313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+encryptMessage()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+decryptMessage()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+cryptoKey()</a:t>
            </a:r>
            <a:endParaRPr lang="en-US" sz="770" dirty="0"/>
          </a:p>
        </p:txBody>
      </p:sp>
      <p:sp>
        <p:nvSpPr>
          <p:cNvPr id="22" name="Shape 20"/>
          <p:cNvSpPr/>
          <p:nvPr/>
        </p:nvSpPr>
        <p:spPr>
          <a:xfrm>
            <a:off x="5486400" y="1097280"/>
            <a:ext cx="1664208" cy="1572768"/>
          </a:xfrm>
          <a:prstGeom prst="rect">
            <a:avLst/>
          </a:prstGeom>
          <a:solidFill>
            <a:srgbClr val="8EF59A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0" y="1097280"/>
            <a:ext cx="1664208" cy="329184"/>
          </a:xfrm>
          <a:prstGeom prst="rect">
            <a:avLst/>
          </a:prstGeom>
          <a:solidFill>
            <a:srgbClr val="7FE88D"/>
          </a:solidFill>
          <a:ln w="15240">
            <a:solidFill>
              <a:srgbClr val="11111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0" y="2087027"/>
            <a:ext cx="1664208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50408" y="1143000"/>
            <a:ext cx="1536192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111"/>
                </a:solidFill>
              </a:rPr>
              <a:t>Database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5577840" y="1499616"/>
            <a:ext cx="1481328" cy="55083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+users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+sessions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+messages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+sensor_samples</a:t>
            </a:r>
            <a:endParaRPr lang="en-US" sz="770" dirty="0"/>
          </a:p>
        </p:txBody>
      </p:sp>
      <p:sp>
        <p:nvSpPr>
          <p:cNvPr id="27" name="Text 25"/>
          <p:cNvSpPr/>
          <p:nvPr/>
        </p:nvSpPr>
        <p:spPr>
          <a:xfrm>
            <a:off x="5577840" y="2160179"/>
            <a:ext cx="1481328" cy="47329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+openDb()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+seedUsers()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+userMessages()</a:t>
            </a:r>
            <a:endParaRPr lang="en-US" sz="770" dirty="0"/>
          </a:p>
        </p:txBody>
      </p:sp>
      <p:sp>
        <p:nvSpPr>
          <p:cNvPr id="28" name="Shape 26"/>
          <p:cNvSpPr/>
          <p:nvPr/>
        </p:nvSpPr>
        <p:spPr>
          <a:xfrm>
            <a:off x="8183880" y="1051560"/>
            <a:ext cx="1691640" cy="1417320"/>
          </a:xfrm>
          <a:prstGeom prst="rect">
            <a:avLst/>
          </a:prstGeom>
          <a:solidFill>
            <a:srgbClr val="8EF59A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83880" y="1051560"/>
            <a:ext cx="1691640" cy="329184"/>
          </a:xfrm>
          <a:prstGeom prst="rect">
            <a:avLst/>
          </a:prstGeom>
          <a:solidFill>
            <a:srgbClr val="7FE88D"/>
          </a:solidFill>
          <a:ln w="15240">
            <a:solidFill>
              <a:srgbClr val="11111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83880" y="1976018"/>
            <a:ext cx="169164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7888" y="1097280"/>
            <a:ext cx="1563624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111"/>
                </a:solidFill>
              </a:rPr>
              <a:t>KafkaProducer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8275320" y="1453896"/>
            <a:ext cx="1508760" cy="48554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+brokers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+chatTopicPrefix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+sensorTopic</a:t>
            </a:r>
            <a:endParaRPr lang="en-US" sz="770" dirty="0"/>
          </a:p>
        </p:txBody>
      </p:sp>
      <p:sp>
        <p:nvSpPr>
          <p:cNvPr id="33" name="Text 31"/>
          <p:cNvSpPr/>
          <p:nvPr/>
        </p:nvSpPr>
        <p:spPr>
          <a:xfrm>
            <a:off x="8275320" y="2049170"/>
            <a:ext cx="1508760" cy="38313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+publishKafka()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+chatTopic()</a:t>
            </a:r>
            <a:endParaRPr lang="en-US" sz="770" dirty="0"/>
          </a:p>
        </p:txBody>
      </p:sp>
      <p:sp>
        <p:nvSpPr>
          <p:cNvPr id="34" name="Shape 32"/>
          <p:cNvSpPr/>
          <p:nvPr/>
        </p:nvSpPr>
        <p:spPr>
          <a:xfrm>
            <a:off x="5486400" y="3886200"/>
            <a:ext cx="1664208" cy="1389888"/>
          </a:xfrm>
          <a:prstGeom prst="rect">
            <a:avLst/>
          </a:prstGeom>
          <a:solidFill>
            <a:srgbClr val="8EF59A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0" y="3886200"/>
            <a:ext cx="1664208" cy="329184"/>
          </a:xfrm>
          <a:prstGeom prst="rect">
            <a:avLst/>
          </a:prstGeom>
          <a:solidFill>
            <a:srgbClr val="7FE88D"/>
          </a:solidFill>
          <a:ln w="15240">
            <a:solidFill>
              <a:srgbClr val="11111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0" y="4799137"/>
            <a:ext cx="1664208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50408" y="3931920"/>
            <a:ext cx="1536192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111"/>
                </a:solidFill>
              </a:rPr>
              <a:t>SensorGenerator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5577840" y="4288536"/>
            <a:ext cx="1481328" cy="47402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+intervalMs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+temperature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+humidity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+pressure</a:t>
            </a:r>
            <a:endParaRPr lang="en-US" sz="770" dirty="0"/>
          </a:p>
        </p:txBody>
      </p:sp>
      <p:sp>
        <p:nvSpPr>
          <p:cNvPr id="39" name="Text 37"/>
          <p:cNvSpPr/>
          <p:nvPr/>
        </p:nvSpPr>
        <p:spPr>
          <a:xfrm>
            <a:off x="5577840" y="4872289"/>
            <a:ext cx="1481328" cy="36722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+createSample()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+startGenerator()</a:t>
            </a:r>
            <a:endParaRPr lang="en-US" sz="770" dirty="0"/>
          </a:p>
        </p:txBody>
      </p:sp>
      <p:sp>
        <p:nvSpPr>
          <p:cNvPr id="40" name="Shape 38"/>
          <p:cNvSpPr/>
          <p:nvPr/>
        </p:nvSpPr>
        <p:spPr>
          <a:xfrm>
            <a:off x="8458200" y="3794760"/>
            <a:ext cx="1664208" cy="1325880"/>
          </a:xfrm>
          <a:prstGeom prst="rect">
            <a:avLst/>
          </a:prstGeom>
          <a:solidFill>
            <a:srgbClr val="8EF59A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58200" y="3794760"/>
            <a:ext cx="1664208" cy="329184"/>
          </a:xfrm>
          <a:prstGeom prst="rect">
            <a:avLst/>
          </a:prstGeom>
          <a:solidFill>
            <a:srgbClr val="7FE88D"/>
          </a:solidFill>
          <a:ln w="15240">
            <a:solidFill>
              <a:srgbClr val="11111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458200" y="4680814"/>
            <a:ext cx="1664208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22208" y="3840480"/>
            <a:ext cx="1536192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111"/>
                </a:solidFill>
              </a:rPr>
              <a:t>GrafanaMonitor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8549640" y="4197096"/>
            <a:ext cx="1481328" cy="44714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+dashboards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+datasources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+logs</a:t>
            </a:r>
            <a:endParaRPr lang="en-US" sz="770" dirty="0"/>
          </a:p>
        </p:txBody>
      </p:sp>
      <p:sp>
        <p:nvSpPr>
          <p:cNvPr id="45" name="Text 43"/>
          <p:cNvSpPr/>
          <p:nvPr/>
        </p:nvSpPr>
        <p:spPr>
          <a:xfrm>
            <a:off x="8549640" y="4753966"/>
            <a:ext cx="1481328" cy="33009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+showSensors()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+showContainers()</a:t>
            </a:r>
            <a:endParaRPr lang="en-US" sz="770" dirty="0"/>
          </a:p>
        </p:txBody>
      </p:sp>
      <p:sp>
        <p:nvSpPr>
          <p:cNvPr id="46" name="Shape 44"/>
          <p:cNvSpPr/>
          <p:nvPr/>
        </p:nvSpPr>
        <p:spPr>
          <a:xfrm>
            <a:off x="960120" y="4572000"/>
            <a:ext cx="1664208" cy="1234440"/>
          </a:xfrm>
          <a:prstGeom prst="rect">
            <a:avLst/>
          </a:prstGeom>
          <a:solidFill>
            <a:srgbClr val="8EF59A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60120" y="4572000"/>
            <a:ext cx="1664208" cy="329184"/>
          </a:xfrm>
          <a:prstGeom prst="rect">
            <a:avLst/>
          </a:prstGeom>
          <a:solidFill>
            <a:srgbClr val="7FE88D"/>
          </a:solidFill>
          <a:ln w="15240">
            <a:solidFill>
              <a:srgbClr val="11111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60120" y="5419649"/>
            <a:ext cx="1664208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24128" y="4617720"/>
            <a:ext cx="1536192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111"/>
                </a:solidFill>
              </a:rPr>
              <a:t>CryptoContainer</a:t>
            </a:r>
            <a:endParaRPr lang="en-US" sz="880" dirty="0"/>
          </a:p>
        </p:txBody>
      </p:sp>
      <p:sp>
        <p:nvSpPr>
          <p:cNvPr id="50" name="Text 48"/>
          <p:cNvSpPr/>
          <p:nvPr/>
        </p:nvSpPr>
        <p:spPr>
          <a:xfrm>
            <a:off x="1051560" y="4974336"/>
            <a:ext cx="1481328" cy="40873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+version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+algorithm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+ciphertext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+metadata</a:t>
            </a:r>
            <a:endParaRPr lang="en-US" sz="770" dirty="0"/>
          </a:p>
        </p:txBody>
      </p:sp>
      <p:sp>
        <p:nvSpPr>
          <p:cNvPr id="51" name="Text 49"/>
          <p:cNvSpPr/>
          <p:nvPr/>
        </p:nvSpPr>
        <p:spPr>
          <a:xfrm>
            <a:off x="1051560" y="5492801"/>
            <a:ext cx="1481328" cy="27706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</a:rPr>
              <a:t>+verifyAuthTag()</a:t>
            </a:r>
            <a:endParaRPr lang="en-US" sz="770" dirty="0"/>
          </a:p>
        </p:txBody>
      </p:sp>
      <p:sp>
        <p:nvSpPr>
          <p:cNvPr id="52" name="Shape 50"/>
          <p:cNvSpPr/>
          <p:nvPr/>
        </p:nvSpPr>
        <p:spPr>
          <a:xfrm>
            <a:off x="2011680" y="1847088"/>
            <a:ext cx="457200" cy="0"/>
          </a:xfrm>
          <a:prstGeom prst="line">
            <a:avLst/>
          </a:prstGeom>
          <a:noFill/>
          <a:ln w="1778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53" name="Shape 51"/>
          <p:cNvSpPr/>
          <p:nvPr/>
        </p:nvSpPr>
        <p:spPr>
          <a:xfrm>
            <a:off x="2468880" y="1600200"/>
            <a:ext cx="914" cy="-246888"/>
          </a:xfrm>
          <a:prstGeom prst="line">
            <a:avLst/>
          </a:prstGeom>
          <a:noFill/>
          <a:ln w="1778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2468880" y="1600200"/>
            <a:ext cx="411480" cy="0"/>
          </a:xfrm>
          <a:prstGeom prst="line">
            <a:avLst/>
          </a:prstGeom>
          <a:noFill/>
          <a:ln w="1778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55" name="Text 53"/>
          <p:cNvSpPr/>
          <p:nvPr/>
        </p:nvSpPr>
        <p:spPr>
          <a:xfrm>
            <a:off x="2084832" y="141732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3B3B3B"/>
                </a:solidFill>
              </a:rPr>
              <a:t>HTTP API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3703320" y="2423160"/>
            <a:ext cx="914" cy="731520"/>
          </a:xfrm>
          <a:prstGeom prst="line">
            <a:avLst/>
          </a:prstGeom>
          <a:noFill/>
          <a:ln w="1778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57" name="Shape 55"/>
          <p:cNvSpPr/>
          <p:nvPr/>
        </p:nvSpPr>
        <p:spPr>
          <a:xfrm>
            <a:off x="3602736" y="2331720"/>
            <a:ext cx="201168" cy="201168"/>
          </a:xfrm>
          <a:prstGeom prst="diamond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767328" y="269748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3B3B3B"/>
                </a:solidFill>
              </a:rPr>
              <a:t>uses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4480560" y="1600200"/>
            <a:ext cx="502920" cy="0"/>
          </a:xfrm>
          <a:prstGeom prst="line">
            <a:avLst/>
          </a:prstGeom>
          <a:noFill/>
          <a:ln w="1778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60" name="Shape 58"/>
          <p:cNvSpPr/>
          <p:nvPr/>
        </p:nvSpPr>
        <p:spPr>
          <a:xfrm>
            <a:off x="4983480" y="1600200"/>
            <a:ext cx="914" cy="274320"/>
          </a:xfrm>
          <a:prstGeom prst="line">
            <a:avLst/>
          </a:prstGeom>
          <a:noFill/>
          <a:ln w="1778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61" name="Shape 59"/>
          <p:cNvSpPr/>
          <p:nvPr/>
        </p:nvSpPr>
        <p:spPr>
          <a:xfrm>
            <a:off x="4983480" y="1874520"/>
            <a:ext cx="502920" cy="0"/>
          </a:xfrm>
          <a:prstGeom prst="line">
            <a:avLst/>
          </a:prstGeom>
          <a:noFill/>
          <a:ln w="1778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62" name="Shape 60"/>
          <p:cNvSpPr/>
          <p:nvPr/>
        </p:nvSpPr>
        <p:spPr>
          <a:xfrm>
            <a:off x="4407408" y="1499616"/>
            <a:ext cx="201168" cy="201168"/>
          </a:xfrm>
          <a:prstGeom prst="diamond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617720" y="1353312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3B3B3B"/>
                </a:solidFill>
              </a:rPr>
              <a:t>stores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4480560" y="1051560"/>
            <a:ext cx="1097280" cy="0"/>
          </a:xfrm>
          <a:prstGeom prst="line">
            <a:avLst/>
          </a:prstGeom>
          <a:noFill/>
          <a:ln w="1778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65" name="Shape 63"/>
          <p:cNvSpPr/>
          <p:nvPr/>
        </p:nvSpPr>
        <p:spPr>
          <a:xfrm>
            <a:off x="5577840" y="685800"/>
            <a:ext cx="914" cy="-365760"/>
          </a:xfrm>
          <a:prstGeom prst="line">
            <a:avLst/>
          </a:prstGeom>
          <a:noFill/>
          <a:ln w="1778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66" name="Shape 64"/>
          <p:cNvSpPr/>
          <p:nvPr/>
        </p:nvSpPr>
        <p:spPr>
          <a:xfrm>
            <a:off x="5577840" y="685800"/>
            <a:ext cx="3456432" cy="0"/>
          </a:xfrm>
          <a:prstGeom prst="line">
            <a:avLst/>
          </a:prstGeom>
          <a:noFill/>
          <a:ln w="1778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67" name="Shape 65"/>
          <p:cNvSpPr/>
          <p:nvPr/>
        </p:nvSpPr>
        <p:spPr>
          <a:xfrm>
            <a:off x="9034272" y="685800"/>
            <a:ext cx="914" cy="365760"/>
          </a:xfrm>
          <a:prstGeom prst="line">
            <a:avLst/>
          </a:prstGeom>
          <a:noFill/>
          <a:ln w="1778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68" name="Shape 66"/>
          <p:cNvSpPr/>
          <p:nvPr/>
        </p:nvSpPr>
        <p:spPr>
          <a:xfrm>
            <a:off x="4407408" y="950976"/>
            <a:ext cx="201168" cy="201168"/>
          </a:xfrm>
          <a:prstGeom prst="diamond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989320" y="45720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3B3B3B"/>
                </a:solidFill>
              </a:rPr>
              <a:t>publishes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1828800" y="4297680"/>
            <a:ext cx="1051560" cy="0"/>
          </a:xfrm>
          <a:prstGeom prst="line">
            <a:avLst/>
          </a:prstGeom>
          <a:noFill/>
          <a:ln w="1778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71" name="Shape 69"/>
          <p:cNvSpPr/>
          <p:nvPr/>
        </p:nvSpPr>
        <p:spPr>
          <a:xfrm>
            <a:off x="1828800" y="4297680"/>
            <a:ext cx="914" cy="274320"/>
          </a:xfrm>
          <a:prstGeom prst="line">
            <a:avLst/>
          </a:prstGeom>
          <a:noFill/>
          <a:ln w="1778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72" name="Text 70"/>
          <p:cNvSpPr/>
          <p:nvPr/>
        </p:nvSpPr>
        <p:spPr>
          <a:xfrm>
            <a:off x="2084832" y="409651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3B3B3B"/>
                </a:solidFill>
              </a:rPr>
              <a:t>creates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6309360" y="2670048"/>
            <a:ext cx="914" cy="-1216152"/>
          </a:xfrm>
          <a:prstGeom prst="line">
            <a:avLst/>
          </a:prstGeom>
          <a:noFill/>
          <a:ln w="1778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74" name="Text 72"/>
          <p:cNvSpPr/>
          <p:nvPr/>
        </p:nvSpPr>
        <p:spPr>
          <a:xfrm>
            <a:off x="6382512" y="3200400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3B3B3B"/>
                </a:solidFill>
              </a:rPr>
              <a:t>writes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7150608" y="4526280"/>
            <a:ext cx="576072" cy="0"/>
          </a:xfrm>
          <a:prstGeom prst="line">
            <a:avLst/>
          </a:prstGeom>
          <a:noFill/>
          <a:ln w="1778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76" name="Shape 74"/>
          <p:cNvSpPr/>
          <p:nvPr/>
        </p:nvSpPr>
        <p:spPr>
          <a:xfrm>
            <a:off x="7726680" y="1874520"/>
            <a:ext cx="914" cy="-2651760"/>
          </a:xfrm>
          <a:prstGeom prst="line">
            <a:avLst/>
          </a:prstGeom>
          <a:noFill/>
          <a:ln w="1778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77" name="Shape 75"/>
          <p:cNvSpPr/>
          <p:nvPr/>
        </p:nvSpPr>
        <p:spPr>
          <a:xfrm>
            <a:off x="7726680" y="1874520"/>
            <a:ext cx="457200" cy="0"/>
          </a:xfrm>
          <a:prstGeom prst="line">
            <a:avLst/>
          </a:prstGeom>
          <a:noFill/>
          <a:ln w="1778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78" name="Text 76"/>
          <p:cNvSpPr/>
          <p:nvPr/>
        </p:nvSpPr>
        <p:spPr>
          <a:xfrm>
            <a:off x="7818120" y="274320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3B3B3B"/>
                </a:solidFill>
              </a:rPr>
              <a:t>sensor topic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9144000" y="2468880"/>
            <a:ext cx="914" cy="1325880"/>
          </a:xfrm>
          <a:prstGeom prst="line">
            <a:avLst/>
          </a:prstGeom>
          <a:noFill/>
          <a:ln w="1778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80" name="Text 78"/>
          <p:cNvSpPr/>
          <p:nvPr/>
        </p:nvSpPr>
        <p:spPr>
          <a:xfrm>
            <a:off x="9217152" y="297180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3B3B3B"/>
                </a:solidFill>
              </a:rPr>
              <a:t>logs / metrics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7150608" y="4590288"/>
            <a:ext cx="1307592" cy="0"/>
          </a:xfrm>
          <a:prstGeom prst="line">
            <a:avLst/>
          </a:prstGeom>
          <a:noFill/>
          <a:ln w="17780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82" name="Text 80"/>
          <p:cNvSpPr/>
          <p:nvPr/>
        </p:nvSpPr>
        <p:spPr>
          <a:xfrm>
            <a:off x="7452360" y="437083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3B3B3B"/>
                </a:solidFill>
              </a:rPr>
              <a:t>samples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1993392" y="1664208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</a:rPr>
              <a:t>1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5285232" y="1737360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</a:rPr>
              <a:t>*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7178040" y="4443984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11111"/>
                </a:solidFill>
              </a:rPr>
              <a:t>1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8247888" y="4443984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</a:rPr>
              <a:t>*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9BD1"/>
                </a:solidFill>
              </a:rPr>
              <a:t>SEQUENCE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5F8FB"/>
                </a:solidFill>
              </a:rPr>
              <a:t>Базовый сценарий отправки сообщения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55680" cy="0"/>
          </a:xfrm>
          <a:prstGeom prst="line">
            <a:avLst/>
          </a:prstGeom>
          <a:noFill/>
          <a:ln w="13970">
            <a:solidFill>
              <a:srgbClr val="3143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36792"/>
            <a:ext cx="11155680" cy="0"/>
          </a:xfrm>
          <a:prstGeom prst="line">
            <a:avLst/>
          </a:prstGeom>
          <a:noFill/>
          <a:ln w="8890">
            <a:solidFill>
              <a:srgbClr val="3143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28232"/>
            <a:ext cx="9784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8EA0"/>
                </a:solidFill>
              </a:rPr>
              <a:t>Источники: ЛР_3 — диаграммы последовательности, временная ось, сообщения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38251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5C2"/>
                </a:solidFill>
              </a:rPr>
              <a:t>07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1600200"/>
            <a:ext cx="1234440" cy="411480"/>
          </a:xfrm>
          <a:prstGeom prst="rect">
            <a:avLst/>
          </a:prstGeom>
          <a:solidFill>
            <a:srgbClr val="1F9BD1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5256" y="1709928"/>
            <a:ext cx="978408" cy="1920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F8FB"/>
                </a:solidFill>
              </a:rPr>
              <a:t>User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99032" y="2029968"/>
            <a:ext cx="0" cy="3429000"/>
          </a:xfrm>
          <a:prstGeom prst="line">
            <a:avLst/>
          </a:prstGeom>
          <a:noFill/>
          <a:ln w="12700">
            <a:solidFill>
              <a:srgbClr val="3143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4600" y="1600200"/>
            <a:ext cx="1234440" cy="411480"/>
          </a:xfrm>
          <a:prstGeom prst="rect">
            <a:avLst/>
          </a:prstGeom>
          <a:solidFill>
            <a:srgbClr val="151D27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42616" y="1709928"/>
            <a:ext cx="978408" cy="1920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F8FB"/>
                </a:solidFill>
              </a:rPr>
              <a:t>Web UI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36392" y="2029968"/>
            <a:ext cx="0" cy="3429000"/>
          </a:xfrm>
          <a:prstGeom prst="line">
            <a:avLst/>
          </a:prstGeom>
          <a:noFill/>
          <a:ln w="12700">
            <a:solidFill>
              <a:srgbClr val="31435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1600200"/>
            <a:ext cx="1234440" cy="411480"/>
          </a:xfrm>
          <a:prstGeom prst="rect">
            <a:avLst/>
          </a:prstGeom>
          <a:solidFill>
            <a:srgbClr val="328637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08576" y="1709928"/>
            <a:ext cx="978408" cy="1920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F8FB"/>
                </a:solidFill>
              </a:rPr>
              <a:t>API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02352" y="2029968"/>
            <a:ext cx="0" cy="3429000"/>
          </a:xfrm>
          <a:prstGeom prst="line">
            <a:avLst/>
          </a:prstGeom>
          <a:noFill/>
          <a:ln w="12700">
            <a:solidFill>
              <a:srgbClr val="31435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1600200"/>
            <a:ext cx="1234440" cy="411480"/>
          </a:xfrm>
          <a:prstGeom prst="rect">
            <a:avLst/>
          </a:prstGeom>
          <a:solidFill>
            <a:srgbClr val="328637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74536" y="1709928"/>
            <a:ext cx="978408" cy="1920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F8FB"/>
                </a:solidFill>
              </a:rPr>
              <a:t>Crypto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068312" y="2029968"/>
            <a:ext cx="0" cy="3429000"/>
          </a:xfrm>
          <a:prstGeom prst="line">
            <a:avLst/>
          </a:prstGeom>
          <a:noFill/>
          <a:ln w="12700">
            <a:solidFill>
              <a:srgbClr val="31435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0" y="1600200"/>
            <a:ext cx="1234440" cy="411480"/>
          </a:xfrm>
          <a:prstGeom prst="rect">
            <a:avLst/>
          </a:prstGeom>
          <a:solidFill>
            <a:srgbClr val="151D27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0496" y="1709928"/>
            <a:ext cx="978408" cy="1920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F8FB"/>
                </a:solidFill>
              </a:rPr>
              <a:t>SQLite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34272" y="2029968"/>
            <a:ext cx="0" cy="3429000"/>
          </a:xfrm>
          <a:prstGeom prst="line">
            <a:avLst/>
          </a:prstGeom>
          <a:noFill/>
          <a:ln w="12700">
            <a:solidFill>
              <a:srgbClr val="3143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195560" y="1600200"/>
            <a:ext cx="1234440" cy="411480"/>
          </a:xfrm>
          <a:prstGeom prst="rect">
            <a:avLst/>
          </a:prstGeom>
          <a:solidFill>
            <a:srgbClr val="6F4AA2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323576" y="1709928"/>
            <a:ext cx="978408" cy="1920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F8FB"/>
                </a:solidFill>
              </a:rPr>
              <a:t>Kafka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817352" y="2029968"/>
            <a:ext cx="0" cy="3429000"/>
          </a:xfrm>
          <a:prstGeom prst="line">
            <a:avLst/>
          </a:prstGeom>
          <a:noFill/>
          <a:ln w="12700">
            <a:solidFill>
              <a:srgbClr val="31435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63040" y="2331720"/>
            <a:ext cx="1554480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1508760" y="213055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A9B5C2"/>
                </a:solidFill>
              </a:rPr>
              <a:t>select peer + text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3200400" y="2788920"/>
            <a:ext cx="1783080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3246120" y="2587752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A9B5C2"/>
                </a:solidFill>
              </a:rPr>
              <a:t>POST /api/messages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5166360" y="3246120"/>
            <a:ext cx="1783080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5212080" y="3044952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A9B5C2"/>
                </a:solidFill>
              </a:rPr>
              <a:t>encrypt AES-GCM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5166360" y="3703320"/>
            <a:ext cx="3749040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5212080" y="350215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A9B5C2"/>
                </a:solidFill>
              </a:rPr>
              <a:t>save container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5166360" y="4160520"/>
            <a:ext cx="5532120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5212080" y="3959352"/>
            <a:ext cx="5440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A9B5C2"/>
                </a:solidFill>
              </a:rPr>
              <a:t>publish topic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3017520" y="4617720"/>
            <a:ext cx="7863840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  <a:headEnd type="triangle"/>
            <a:tailEnd type="none"/>
          </a:ln>
        </p:spPr>
      </p:sp>
      <p:sp>
        <p:nvSpPr>
          <p:cNvPr id="37" name="Text 35"/>
          <p:cNvSpPr/>
          <p:nvPr/>
        </p:nvSpPr>
        <p:spPr>
          <a:xfrm>
            <a:off x="3063240" y="441655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A9B5C2"/>
                </a:solidFill>
              </a:rPr>
              <a:t>status + offset</a:t>
            </a:r>
            <a:endParaRPr lang="en-US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9BD1"/>
                </a:solidFill>
              </a:rPr>
              <a:t>ISOLATION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5F8FB"/>
                </a:solidFill>
              </a:rPr>
              <a:t>Механизмы изоляции и контроля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55680" cy="0"/>
          </a:xfrm>
          <a:prstGeom prst="line">
            <a:avLst/>
          </a:prstGeom>
          <a:noFill/>
          <a:ln w="13970">
            <a:solidFill>
              <a:srgbClr val="3143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36792"/>
            <a:ext cx="11155680" cy="0"/>
          </a:xfrm>
          <a:prstGeom prst="line">
            <a:avLst/>
          </a:prstGeom>
          <a:noFill/>
          <a:ln w="8890">
            <a:solidFill>
              <a:srgbClr val="3143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28232"/>
            <a:ext cx="9784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8EA0"/>
                </a:solidFill>
              </a:rPr>
              <a:t>Источники: ЛР_2, ЛР_3, ЛК_3, UML_лк__, securitybydesign.ru/templates, refactoringu.ru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38251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5C2"/>
                </a:solidFill>
              </a:rPr>
              <a:t>08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5852160" cy="4206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500" dirty="0">
                <a:solidFill>
                  <a:srgbClr val="F5F8FB"/>
                </a:solidFill>
              </a:rPr>
              <a:t>Docker Compose: отдельные контейнеры для LiteBroker, Kafka, Kafka UI, Prometheus, Loki/Promtail, Grafana.</a:t>
            </a:r>
            <a:endParaRPr lang="en-US" sz="1500" dirty="0"/>
          </a:p>
          <a:p>
            <a:r>
              <a:rPr lang="en-US" sz="1500" dirty="0">
                <a:solidFill>
                  <a:srgbClr val="F5F8FB"/>
                </a:solidFill>
              </a:rPr>
              <a:t>Kafka topics: отдельный поток для каждого чата и отдельный поток для датчиков.</a:t>
            </a:r>
            <a:endParaRPr lang="en-US" sz="1500" dirty="0"/>
          </a:p>
          <a:p>
            <a:r>
              <a:rPr lang="en-US" sz="1500" dirty="0">
                <a:solidFill>
                  <a:srgbClr val="F5F8FB"/>
                </a:solidFill>
              </a:rPr>
              <a:t>API boundary: браузер не получает доступ к SQLite/Kafka напрямую.</a:t>
            </a:r>
            <a:endParaRPr lang="en-US" sz="1500" dirty="0"/>
          </a:p>
          <a:p>
            <a:r>
              <a:rPr lang="en-US" sz="1500" dirty="0">
                <a:solidFill>
                  <a:srgbClr val="F5F8FB"/>
                </a:solidFill>
              </a:rPr>
              <a:t>Crypto boundary: весь текст проходит через AES-256-GCM до сохранения/публикации.</a:t>
            </a:r>
            <a:endParaRPr lang="en-US" sz="1500" dirty="0"/>
          </a:p>
          <a:p>
            <a:r>
              <a:rPr lang="en-US" sz="1500" dirty="0">
                <a:solidFill>
                  <a:srgbClr val="F5F8FB"/>
                </a:solidFill>
              </a:rPr>
              <a:t>Monitoring boundary: Grafana наблюдает метрики и логи, но не управляет сообщениями.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086600" y="1874520"/>
            <a:ext cx="4023360" cy="2560320"/>
          </a:xfrm>
          <a:prstGeom prst="rect">
            <a:avLst/>
          </a:prstGeom>
          <a:solidFill>
            <a:srgbClr val="328637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14616" y="1984248"/>
            <a:ext cx="3767328" cy="23408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8FB"/>
                </a:solidFill>
              </a:rPr>
              <a:t>Почему так: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5F8FB"/>
                </a:solidFill>
              </a:rPr>
              <a:t>простые границы доверия,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5F8FB"/>
                </a:solidFill>
              </a:rPr>
              <a:t>меньше связность,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5F8FB"/>
                </a:solidFill>
              </a:rPr>
              <a:t>понятная демонстрация для защиты,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5F8FB"/>
                </a:solidFill>
              </a:rPr>
              <a:t>легко проверить в Docker/Kafka UI/Grafana.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9BD1"/>
                </a:solidFill>
              </a:rPr>
              <a:t>SKIB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5F8FB"/>
                </a:solidFill>
              </a:rPr>
              <a:t>Политики безопасности и шаблоны security-by-design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55680" cy="0"/>
          </a:xfrm>
          <a:prstGeom prst="line">
            <a:avLst/>
          </a:prstGeom>
          <a:noFill/>
          <a:ln w="13970">
            <a:solidFill>
              <a:srgbClr val="3143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36792"/>
            <a:ext cx="11155680" cy="0"/>
          </a:xfrm>
          <a:prstGeom prst="line">
            <a:avLst/>
          </a:prstGeom>
          <a:noFill/>
          <a:ln w="8890">
            <a:solidFill>
              <a:srgbClr val="3143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28232"/>
            <a:ext cx="9784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8EA0"/>
                </a:solidFill>
              </a:rPr>
              <a:t>Источники: securitybydesign.ru/templates, ЛК_3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38251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5C2"/>
                </a:solidFill>
              </a:rPr>
              <a:t>09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10424160" cy="4251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400" dirty="0">
                <a:solidFill>
                  <a:srgbClr val="F5F8FB"/>
                </a:solidFill>
              </a:rPr>
              <a:t>Раздельное принятие и применение решений о безопасности: API проверяет пользователя и допустимость операции, Kafka только переносит разрешенное событие.</a:t>
            </a:r>
            <a:endParaRPr lang="en-US" sz="1400" dirty="0"/>
          </a:p>
          <a:p>
            <a:r>
              <a:rPr lang="en-US" sz="1400" dirty="0">
                <a:solidFill>
                  <a:srgbClr val="F5F8FB"/>
                </a:solidFill>
              </a:rPr>
              <a:t>Выделенный обработчик для очистки данных: входные JSON-запросы нормализуются и валидируются на backend.</a:t>
            </a:r>
            <a:endParaRPr lang="en-US" sz="1400" dirty="0"/>
          </a:p>
          <a:p>
            <a:r>
              <a:rPr lang="en-US" sz="1400" dirty="0">
                <a:solidFill>
                  <a:srgbClr val="F5F8FB"/>
                </a:solidFill>
              </a:rPr>
              <a:t>Выделенный механизм поддержания состояния безопасности: /api/health, /metrics, Prometheus/Grafana показывают состояние Kafka и приложения.</a:t>
            </a:r>
            <a:endParaRPr lang="en-US" sz="1400" dirty="0"/>
          </a:p>
          <a:p>
            <a:r>
              <a:rPr lang="en-US" sz="1400" dirty="0">
                <a:solidFill>
                  <a:srgbClr val="F5F8FB"/>
                </a:solidFill>
              </a:rPr>
              <a:t>Минимизация поверхности атаки: наружу вынесены только нужные порты и HTTP API.</a:t>
            </a:r>
            <a:endParaRPr lang="en-US" sz="1400" dirty="0"/>
          </a:p>
          <a:p>
            <a:r>
              <a:rPr lang="en-US" sz="1400" dirty="0">
                <a:solidFill>
                  <a:srgbClr val="F5F8FB"/>
                </a:solidFill>
              </a:rPr>
              <a:t>Наблюдаемость и аудит: JSONL-логи криптоконтейнеров доступны через Loki/Grafana.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9BD1"/>
                </a:solidFill>
              </a:rPr>
              <a:t>PATTERNS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5F8FB"/>
                </a:solidFill>
              </a:rPr>
              <a:t>Паттерны проектирования ПО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55680" cy="0"/>
          </a:xfrm>
          <a:prstGeom prst="line">
            <a:avLst/>
          </a:prstGeom>
          <a:noFill/>
          <a:ln w="13970">
            <a:solidFill>
              <a:srgbClr val="3143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36792"/>
            <a:ext cx="11155680" cy="0"/>
          </a:xfrm>
          <a:prstGeom prst="line">
            <a:avLst/>
          </a:prstGeom>
          <a:noFill/>
          <a:ln w="8890">
            <a:solidFill>
              <a:srgbClr val="3143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28232"/>
            <a:ext cx="9784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8EA0"/>
                </a:solidFill>
              </a:rPr>
              <a:t>Источники: refactoringu.ru — каталог паттернов проектирования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38251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5C2"/>
                </a:solidFill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1627632"/>
            <a:ext cx="4800600" cy="941832"/>
          </a:xfrm>
          <a:prstGeom prst="rect">
            <a:avLst/>
          </a:prstGeom>
          <a:solidFill>
            <a:srgbClr val="151D27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5256" y="1737360"/>
            <a:ext cx="4544568" cy="7223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5F8FB"/>
                </a:solidFill>
              </a:rPr>
              <a:t>Facade</a:t>
            </a:r>
            <a:endParaRPr lang="en-US" sz="1220" dirty="0"/>
          </a:p>
          <a:p>
            <a:pPr indent="0" marL="0">
              <a:buNone/>
            </a:pPr>
            <a:r>
              <a:rPr lang="en-US" sz="1220" b="1" dirty="0">
                <a:solidFill>
                  <a:srgbClr val="F5F8FB"/>
                </a:solidFill>
              </a:rPr>
              <a:t>UI работает через REST API и не знает деталей Kafka/SQLite.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6172200" y="1627632"/>
            <a:ext cx="4800600" cy="941832"/>
          </a:xfrm>
          <a:prstGeom prst="rect">
            <a:avLst/>
          </a:prstGeom>
          <a:solidFill>
            <a:srgbClr val="162A32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0216" y="1737360"/>
            <a:ext cx="4544568" cy="7223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5F8FB"/>
                </a:solidFill>
              </a:rPr>
              <a:t>Strategy</a:t>
            </a:r>
            <a:endParaRPr lang="en-US" sz="1220" dirty="0"/>
          </a:p>
          <a:p>
            <a:pPr indent="0" marL="0">
              <a:buNone/>
            </a:pPr>
            <a:r>
              <a:rPr lang="en-US" sz="1220" b="1" dirty="0">
                <a:solidFill>
                  <a:srgbClr val="F5F8FB"/>
                </a:solidFill>
              </a:rPr>
              <a:t>Криптографический слой можно заменить другим алгоритмом.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777240" y="2862072"/>
            <a:ext cx="4800600" cy="941832"/>
          </a:xfrm>
          <a:prstGeom prst="rect">
            <a:avLst/>
          </a:prstGeom>
          <a:solidFill>
            <a:srgbClr val="151D27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5256" y="2971800"/>
            <a:ext cx="4544568" cy="7223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5F8FB"/>
                </a:solidFill>
              </a:rPr>
              <a:t>Mediator</a:t>
            </a:r>
            <a:endParaRPr lang="en-US" sz="1220" dirty="0"/>
          </a:p>
          <a:p>
            <a:pPr indent="0" marL="0">
              <a:buNone/>
            </a:pPr>
            <a:r>
              <a:rPr lang="en-US" sz="1220" b="1" dirty="0">
                <a:solidFill>
                  <a:srgbClr val="F5F8FB"/>
                </a:solidFill>
              </a:rPr>
              <a:t>Kafka выступает посредником между доменами и снижает связность.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6172200" y="2862072"/>
            <a:ext cx="4800600" cy="941832"/>
          </a:xfrm>
          <a:prstGeom prst="rect">
            <a:avLst/>
          </a:prstGeom>
          <a:solidFill>
            <a:srgbClr val="162A32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0216" y="2971800"/>
            <a:ext cx="4544568" cy="7223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5F8FB"/>
                </a:solidFill>
              </a:rPr>
              <a:t>Observer</a:t>
            </a:r>
            <a:endParaRPr lang="en-US" sz="1220" dirty="0"/>
          </a:p>
          <a:p>
            <a:pPr indent="0" marL="0">
              <a:buNone/>
            </a:pPr>
            <a:r>
              <a:rPr lang="en-US" sz="1220" b="1" dirty="0">
                <a:solidFill>
                  <a:srgbClr val="F5F8FB"/>
                </a:solidFill>
              </a:rPr>
              <a:t>Prometheus, Loki и Kafka UI наблюдают события и состояние.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777240" y="4096512"/>
            <a:ext cx="4800600" cy="941832"/>
          </a:xfrm>
          <a:prstGeom prst="rect">
            <a:avLst/>
          </a:prstGeom>
          <a:solidFill>
            <a:srgbClr val="151D27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256" y="4206240"/>
            <a:ext cx="4544568" cy="7223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5F8FB"/>
                </a:solidFill>
              </a:rPr>
              <a:t>Template Method</a:t>
            </a:r>
            <a:endParaRPr lang="en-US" sz="1220" dirty="0"/>
          </a:p>
          <a:p>
            <a:pPr indent="0" marL="0">
              <a:buNone/>
            </a:pPr>
            <a:r>
              <a:rPr lang="en-US" sz="1220" b="1" dirty="0">
                <a:solidFill>
                  <a:srgbClr val="F5F8FB"/>
                </a:solidFill>
              </a:rPr>
              <a:t>Единый pipeline сообщения: validate → encrypt → save → publish.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6172200" y="4096512"/>
            <a:ext cx="4800600" cy="941832"/>
          </a:xfrm>
          <a:prstGeom prst="rect">
            <a:avLst/>
          </a:prstGeom>
          <a:solidFill>
            <a:srgbClr val="162A32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0216" y="4206240"/>
            <a:ext cx="4544568" cy="7223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5F8FB"/>
                </a:solidFill>
              </a:rPr>
              <a:t>Factory Method</a:t>
            </a:r>
            <a:endParaRPr lang="en-US" sz="1220" dirty="0"/>
          </a:p>
          <a:p>
            <a:pPr indent="0" marL="0">
              <a:buNone/>
            </a:pPr>
            <a:r>
              <a:rPr lang="en-US" sz="1220" b="1" dirty="0">
                <a:solidFill>
                  <a:srgbClr val="F5F8FB"/>
                </a:solidFill>
              </a:rPr>
              <a:t>Создание crypto container как отдельная фабрика структуры события.</a:t>
            </a:r>
            <a:endParaRPr lang="en-US" sz="12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9BD1"/>
                </a:solidFill>
              </a:rPr>
              <a:t>CRYPTO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5F8FB"/>
                </a:solidFill>
              </a:rPr>
              <a:t>Как реализовано шифрование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55680" cy="0"/>
          </a:xfrm>
          <a:prstGeom prst="line">
            <a:avLst/>
          </a:prstGeom>
          <a:noFill/>
          <a:ln w="13970">
            <a:solidFill>
              <a:srgbClr val="3143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36792"/>
            <a:ext cx="11155680" cy="0"/>
          </a:xfrm>
          <a:prstGeom prst="line">
            <a:avLst/>
          </a:prstGeom>
          <a:noFill/>
          <a:ln w="8890">
            <a:solidFill>
              <a:srgbClr val="3143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28232"/>
            <a:ext cx="9784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8EA0"/>
                </a:solidFill>
              </a:rPr>
              <a:t>Источники: ЛР_2, ЛР_3, ЛК_3, UML_лк__, securitybydesign.ru/templates, refactoringu.ru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38251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5C2"/>
                </a:solidFill>
              </a:rPr>
              <a:t>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5029200" cy="4389120"/>
          </a:xfrm>
          <a:prstGeom prst="rect">
            <a:avLst/>
          </a:prstGeom>
          <a:solidFill>
            <a:srgbClr val="05080C"/>
          </a:solidFill>
          <a:ln w="12700">
            <a:solidFill>
              <a:srgbClr val="3143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709928"/>
            <a:ext cx="4809744" cy="41696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4DD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4DD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"version": 2,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4DD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"algorithm": "AES-256-GCM",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4DD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"iv": "...",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4DD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"ciphertext": "...",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4DD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"authTag": "...",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4DD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"metadata":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4DD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"messageId": "...",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4DD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"senderId": "...",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4DD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"recipientId": "...",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4DD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"chatTopic": "litebroker.chat.alice__bob",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4DD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"createdAt": "..."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4DD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4DD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6355080" y="1783080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440" dirty="0">
                <a:solidFill>
                  <a:srgbClr val="F5F8FB"/>
                </a:solidFill>
              </a:rPr>
              <a:t>`ciphertext` скрывает текст сообщения.</a:t>
            </a:r>
            <a:endParaRPr lang="en-US" sz="1440" dirty="0"/>
          </a:p>
          <a:p>
            <a:r>
              <a:rPr lang="en-US" sz="1440" dirty="0">
                <a:solidFill>
                  <a:srgbClr val="F5F8FB"/>
                </a:solidFill>
              </a:rPr>
              <a:t>`iv` делает шифрование разных сообщений уникальным.</a:t>
            </a:r>
            <a:endParaRPr lang="en-US" sz="1440" dirty="0"/>
          </a:p>
          <a:p>
            <a:r>
              <a:rPr lang="en-US" sz="1440" dirty="0">
                <a:solidFill>
                  <a:srgbClr val="F5F8FB"/>
                </a:solidFill>
              </a:rPr>
              <a:t>`authTag` проверяет целостность контейнера.</a:t>
            </a:r>
            <a:endParaRPr lang="en-US" sz="1440" dirty="0"/>
          </a:p>
          <a:p>
            <a:r>
              <a:rPr lang="en-US" sz="1440" dirty="0">
                <a:solidFill>
                  <a:srgbClr val="F5F8FB"/>
                </a:solidFill>
              </a:rPr>
              <a:t>`metadata` связывает сообщение с пользователем, получателем и Kafka topic.</a:t>
            </a:r>
            <a:endParaRPr lang="en-US" sz="1440" dirty="0"/>
          </a:p>
          <a:p>
            <a:r>
              <a:rPr lang="en-US" sz="1440" dirty="0">
                <a:solidFill>
                  <a:srgbClr val="F5F8FB"/>
                </a:solidFill>
              </a:rPr>
              <a:t>Пароли не шифруются, а хешируются через PBKDF2 + salt.</a:t>
            </a:r>
            <a:endParaRPr lang="en-US" sz="14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9BD1"/>
                </a:solidFill>
              </a:rPr>
              <a:t>GRAFANA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5F8FB"/>
                </a:solidFill>
              </a:rPr>
              <a:t>Наблюдаемость: 2 дашборда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55680" cy="0"/>
          </a:xfrm>
          <a:prstGeom prst="line">
            <a:avLst/>
          </a:prstGeom>
          <a:noFill/>
          <a:ln w="13970">
            <a:solidFill>
              <a:srgbClr val="3143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36792"/>
            <a:ext cx="11155680" cy="0"/>
          </a:xfrm>
          <a:prstGeom prst="line">
            <a:avLst/>
          </a:prstGeom>
          <a:noFill/>
          <a:ln w="8890">
            <a:solidFill>
              <a:srgbClr val="3143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28232"/>
            <a:ext cx="9784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8EA0"/>
                </a:solidFill>
              </a:rPr>
              <a:t>Источники: ЛР_2, ЛР_3, ЛК_3, UML_лк__, securitybydesign.ru/templates, refactoringu.ru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38251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5C2"/>
                </a:solidFill>
              </a:rPr>
              <a:t>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68680" y="1828800"/>
            <a:ext cx="4754880" cy="1874520"/>
          </a:xfrm>
          <a:prstGeom prst="rect">
            <a:avLst/>
          </a:prstGeom>
          <a:solidFill>
            <a:srgbClr val="1F9BD1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6696" y="1938528"/>
            <a:ext cx="4498848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8FB"/>
                </a:solidFill>
              </a:rPr>
              <a:t>Dashboard 1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5F8FB"/>
                </a:solidFill>
              </a:rPr>
              <a:t>Показания датчиков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5F8FB"/>
                </a:solidFill>
              </a:rPr>
              <a:t>Prometheus metrics: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5F8FB"/>
                </a:solidFill>
              </a:rPr>
              <a:t>temperature / humidity / pressure / total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4754880" cy="1874520"/>
          </a:xfrm>
          <a:prstGeom prst="rect">
            <a:avLst/>
          </a:prstGeom>
          <a:solidFill>
            <a:srgbClr val="6F4AA2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37376" y="1938528"/>
            <a:ext cx="4498848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8FB"/>
                </a:solidFill>
              </a:rPr>
              <a:t>Dashboard 2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5F8FB"/>
                </a:solidFill>
              </a:rPr>
              <a:t>Логи чата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5F8FB"/>
                </a:solidFill>
              </a:rPr>
              <a:t>Loki logs: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5F8FB"/>
                </a:solidFill>
              </a:rPr>
              <a:t>chat-containers.jsonl + счетчики topic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4297680"/>
            <a:ext cx="996696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400" dirty="0">
                <a:solidFill>
                  <a:srgbClr val="F5F8FB"/>
                </a:solidFill>
              </a:rPr>
              <a:t>Первый dashboard подтверждает, что sensor topic живой.</a:t>
            </a:r>
            <a:endParaRPr lang="en-US" sz="1400" dirty="0"/>
          </a:p>
          <a:p>
            <a:r>
              <a:rPr lang="en-US" sz="1400" dirty="0">
                <a:solidFill>
                  <a:srgbClr val="F5F8FB"/>
                </a:solidFill>
              </a:rPr>
              <a:t>Второй dashboard показывает криптоконтейнеры и аудит сообщений.</a:t>
            </a:r>
            <a:endParaRPr lang="en-US" sz="1400" dirty="0"/>
          </a:p>
          <a:p>
            <a:r>
              <a:rPr lang="en-US" sz="1400" dirty="0">
                <a:solidFill>
                  <a:srgbClr val="F5F8FB"/>
                </a:solidFill>
              </a:rPr>
              <a:t>Promtail читает только папку логов LiteBroker.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9BD1"/>
                </a:solidFill>
              </a:rPr>
              <a:t>TESTING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5F8FB"/>
                </a:solidFill>
              </a:rPr>
              <a:t>Подход к тестированию проектного кода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55680" cy="0"/>
          </a:xfrm>
          <a:prstGeom prst="line">
            <a:avLst/>
          </a:prstGeom>
          <a:noFill/>
          <a:ln w="13970">
            <a:solidFill>
              <a:srgbClr val="3143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36792"/>
            <a:ext cx="11155680" cy="0"/>
          </a:xfrm>
          <a:prstGeom prst="line">
            <a:avLst/>
          </a:prstGeom>
          <a:noFill/>
          <a:ln w="8890">
            <a:solidFill>
              <a:srgbClr val="3143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28232"/>
            <a:ext cx="9784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8EA0"/>
                </a:solidFill>
              </a:rPr>
              <a:t>Источники: ЛР_2, ЛР_3, ЛК_3, UML_лк__, securitybydesign.ru/templates, refactoringu.ru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38251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5C2"/>
                </a:solidFill>
              </a:rPr>
              <a:t>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1042416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350" dirty="0">
                <a:solidFill>
                  <a:srgbClr val="F5F8FB"/>
                </a:solidFill>
              </a:rPr>
              <a:t>Статическая проверка: `node --check LiteBroker/server.mjs` и `node --check LiteBroker/public/app.js`.</a:t>
            </a:r>
            <a:endParaRPr lang="en-US" sz="1350" dirty="0"/>
          </a:p>
          <a:p>
            <a:r>
              <a:rPr lang="en-US" sz="1350" dirty="0">
                <a:solidFill>
                  <a:srgbClr val="F5F8FB"/>
                </a:solidFill>
              </a:rPr>
              <a:t>Проверка инфраструктуры: `docker compose config --quiet`.</a:t>
            </a:r>
            <a:endParaRPr lang="en-US" sz="1350" dirty="0"/>
          </a:p>
          <a:p>
            <a:r>
              <a:rPr lang="en-US" sz="1350" dirty="0">
                <a:solidFill>
                  <a:srgbClr val="F5F8FB"/>
                </a:solidFill>
              </a:rPr>
              <a:t>Функциональный тест: регистрация, выбор собеседника, отправка сообщения.</a:t>
            </a:r>
            <a:endParaRPr lang="en-US" sz="1350" dirty="0"/>
          </a:p>
          <a:p>
            <a:r>
              <a:rPr lang="en-US" sz="1350" dirty="0">
                <a:solidFill>
                  <a:srgbClr val="F5F8FB"/>
                </a:solidFill>
              </a:rPr>
              <a:t>Kafka-тест: в Kafka UI появляются chat topic и sensor topic.</a:t>
            </a:r>
            <a:endParaRPr lang="en-US" sz="1350" dirty="0"/>
          </a:p>
          <a:p>
            <a:r>
              <a:rPr lang="en-US" sz="1350" dirty="0">
                <a:solidFill>
                  <a:srgbClr val="F5F8FB"/>
                </a:solidFill>
              </a:rPr>
              <a:t>Security-тест: в логах и Kafka виден JSON crypto container, а не открытый текст.</a:t>
            </a:r>
            <a:endParaRPr lang="en-US" sz="1350" dirty="0"/>
          </a:p>
          <a:p>
            <a:r>
              <a:rPr lang="en-US" sz="1350" dirty="0">
                <a:solidFill>
                  <a:srgbClr val="F5F8FB"/>
                </a:solidFill>
              </a:rPr>
              <a:t>Observability-тест: Grafana показывает датчики и логи криптоконтейнеров.</a:t>
            </a:r>
            <a:endParaRPr lang="en-US" sz="1350" dirty="0"/>
          </a:p>
          <a:p>
            <a:r>
              <a:rPr lang="en-US" sz="1350" dirty="0">
                <a:solidFill>
                  <a:srgbClr val="F5F8FB"/>
                </a:solidFill>
              </a:rPr>
              <a:t>Негативные сценарии: неверный пароль, пустое сообщение, отсутствие получателя, недоступность Kafka.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9BD1"/>
                </a:solidFill>
              </a:rPr>
              <a:t>NEAT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5F8FB"/>
                </a:solidFill>
              </a:rPr>
              <a:t>Соответствие идее монитора безопасности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55680" cy="0"/>
          </a:xfrm>
          <a:prstGeom prst="line">
            <a:avLst/>
          </a:prstGeom>
          <a:noFill/>
          <a:ln w="13970">
            <a:solidFill>
              <a:srgbClr val="3143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36792"/>
            <a:ext cx="11155680" cy="0"/>
          </a:xfrm>
          <a:prstGeom prst="line">
            <a:avLst/>
          </a:prstGeom>
          <a:noFill/>
          <a:ln w="8890">
            <a:solidFill>
              <a:srgbClr val="3143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28232"/>
            <a:ext cx="9784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8EA0"/>
                </a:solidFill>
              </a:rPr>
              <a:t>Источники: ЛК_3 — требования NEAT для доменов и монитора безопасности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38251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5C2"/>
                </a:solidFill>
              </a:rPr>
              <a:t>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1737360"/>
            <a:ext cx="4663440" cy="1005840"/>
          </a:xfrm>
          <a:prstGeom prst="rect">
            <a:avLst/>
          </a:prstGeom>
          <a:solidFill>
            <a:srgbClr val="328637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847088"/>
            <a:ext cx="4407408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F5F8FB"/>
                </a:solidFill>
              </a:rPr>
              <a:t>Non-bypassable</a:t>
            </a:r>
            <a:endParaRPr lang="en-US" sz="1420" dirty="0"/>
          </a:p>
          <a:p>
            <a:pPr indent="0" marL="0">
              <a:buNone/>
            </a:pPr>
            <a:r>
              <a:rPr lang="en-US" sz="1420" b="1" dirty="0">
                <a:solidFill>
                  <a:srgbClr val="F5F8FB"/>
                </a:solidFill>
              </a:rPr>
              <a:t>все операции идут через LiteBroker API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4663440" cy="1005840"/>
          </a:xfrm>
          <a:prstGeom prst="rect">
            <a:avLst/>
          </a:prstGeom>
          <a:solidFill>
            <a:srgbClr val="328637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45936" y="1847088"/>
            <a:ext cx="4407408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F5F8FB"/>
                </a:solidFill>
              </a:rPr>
              <a:t>Evaluatable</a:t>
            </a:r>
            <a:endParaRPr lang="en-US" sz="1420" dirty="0"/>
          </a:p>
          <a:p>
            <a:pPr indent="0" marL="0">
              <a:buNone/>
            </a:pPr>
            <a:r>
              <a:rPr lang="en-US" sz="1420" b="1" dirty="0">
                <a:solidFill>
                  <a:srgbClr val="F5F8FB"/>
                </a:solidFill>
              </a:rPr>
              <a:t>компоненты маленькие: UI, API, crypto, DB, Kafka, monitoring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822960" y="3291840"/>
            <a:ext cx="4663440" cy="1005840"/>
          </a:xfrm>
          <a:prstGeom prst="rect">
            <a:avLst/>
          </a:prstGeom>
          <a:solidFill>
            <a:srgbClr val="1F9BD1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3401568"/>
            <a:ext cx="4407408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F5F8FB"/>
                </a:solidFill>
              </a:rPr>
              <a:t>Always-invoked</a:t>
            </a:r>
            <a:endParaRPr lang="en-US" sz="1420" dirty="0"/>
          </a:p>
          <a:p>
            <a:pPr indent="0" marL="0">
              <a:buNone/>
            </a:pPr>
            <a:r>
              <a:rPr lang="en-US" sz="1420" b="1" dirty="0">
                <a:solidFill>
                  <a:srgbClr val="F5F8FB"/>
                </a:solidFill>
              </a:rPr>
              <a:t>каждая отправка проходит validate/encrypt/save/publish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6217920" y="3291840"/>
            <a:ext cx="4663440" cy="1005840"/>
          </a:xfrm>
          <a:prstGeom prst="rect">
            <a:avLst/>
          </a:prstGeom>
          <a:solidFill>
            <a:srgbClr val="1F9BD1"/>
          </a:solidFill>
          <a:ln w="15240">
            <a:solidFill>
              <a:srgbClr val="3143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5936" y="3401568"/>
            <a:ext cx="4407408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F5F8FB"/>
                </a:solidFill>
              </a:rPr>
              <a:t>Tamperproof</a:t>
            </a:r>
            <a:endParaRPr lang="en-US" sz="1420" dirty="0"/>
          </a:p>
          <a:p>
            <a:pPr indent="0" marL="0">
              <a:buNone/>
            </a:pPr>
            <a:r>
              <a:rPr lang="en-US" sz="1420" b="1" dirty="0">
                <a:solidFill>
                  <a:srgbClr val="F5F8FB"/>
                </a:solidFill>
              </a:rPr>
              <a:t>конфигурация вынесена в Docker/env; мониторинг read-only</a:t>
            </a:r>
            <a:endParaRPr lang="en-US" sz="14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9BD1"/>
                </a:solidFill>
              </a:rPr>
              <a:t>ИТОГ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5F8FB"/>
                </a:solidFill>
              </a:rPr>
              <a:t>Почему выбраны именно эти решения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55680" cy="0"/>
          </a:xfrm>
          <a:prstGeom prst="line">
            <a:avLst/>
          </a:prstGeom>
          <a:noFill/>
          <a:ln w="13970">
            <a:solidFill>
              <a:srgbClr val="3143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36792"/>
            <a:ext cx="11155680" cy="0"/>
          </a:xfrm>
          <a:prstGeom prst="line">
            <a:avLst/>
          </a:prstGeom>
          <a:noFill/>
          <a:ln w="8890">
            <a:solidFill>
              <a:srgbClr val="3143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28232"/>
            <a:ext cx="9784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8EA0"/>
                </a:solidFill>
              </a:rPr>
              <a:t>Источники: ЛР_2, ЛР_3, ЛК_3, UML_лк__, securitybydesign.ru/templates, refactoringu.ru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18520" y="638251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5C2"/>
                </a:solidFill>
              </a:rPr>
              <a:t>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10424160" cy="4251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420" dirty="0">
                <a:solidFill>
                  <a:srgbClr val="F5F8FB"/>
                </a:solidFill>
              </a:rPr>
              <a:t>Kafka выбрана как брокер сообщений: она естественно показывает изолированные домены и политику взаимодействия через topics.</a:t>
            </a:r>
            <a:endParaRPr lang="en-US" sz="1420" dirty="0"/>
          </a:p>
          <a:p>
            <a:r>
              <a:rPr lang="en-US" sz="1420" dirty="0">
                <a:solidFill>
                  <a:srgbClr val="F5F8FB"/>
                </a:solidFill>
              </a:rPr>
              <a:t>AES-256-GCM выбран потому, что дает конфиденциальность и контроль целостности одним контейнером.</a:t>
            </a:r>
            <a:endParaRPr lang="en-US" sz="1420" dirty="0"/>
          </a:p>
          <a:p>
            <a:r>
              <a:rPr lang="en-US" sz="1420" dirty="0">
                <a:solidFill>
                  <a:srgbClr val="F5F8FB"/>
                </a:solidFill>
              </a:rPr>
              <a:t>SQLite выбран для локального учебного хранения без внешней БД.</a:t>
            </a:r>
            <a:endParaRPr lang="en-US" sz="1420" dirty="0"/>
          </a:p>
          <a:p>
            <a:r>
              <a:rPr lang="en-US" sz="1420" dirty="0">
                <a:solidFill>
                  <a:srgbClr val="F5F8FB"/>
                </a:solidFill>
              </a:rPr>
              <a:t>Docker Compose выбран для воспроизводимого запуска и изоляции сервисов.</a:t>
            </a:r>
            <a:endParaRPr lang="en-US" sz="1420" dirty="0"/>
          </a:p>
          <a:p>
            <a:r>
              <a:rPr lang="en-US" sz="1420" dirty="0">
                <a:solidFill>
                  <a:srgbClr val="F5F8FB"/>
                </a:solidFill>
              </a:rPr>
              <a:t>Grafana/Prometheus/Loki выбраны для защиты проекта: видно состояние, датчики и аудит криптоконтейнеров.</a:t>
            </a:r>
            <a:endParaRPr lang="en-US" sz="1420" dirty="0"/>
          </a:p>
          <a:p>
            <a:r>
              <a:rPr lang="en-US" sz="1420" dirty="0">
                <a:solidFill>
                  <a:srgbClr val="F5F8FB"/>
                </a:solidFill>
              </a:rPr>
              <a:t>UML используется для объяснения структуры и сценария, как требуется в ЛР_3.</a:t>
            </a:r>
            <a:endParaRPr lang="en-US" sz="14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CryptoBroker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LiteBroker: защищенный обмен сообщениями через Kafka</dc:title>
  <dc:subject>Концепция безопасности LiteBroker</dc:subject>
  <dc:creator>LiteBroker</dc:creator>
  <cp:lastModifiedBy>LiteBroker</cp:lastModifiedBy>
  <cp:revision>1</cp:revision>
  <dcterms:created xsi:type="dcterms:W3CDTF">2026-05-27T18:35:47Z</dcterms:created>
  <dcterms:modified xsi:type="dcterms:W3CDTF">2026-05-27T18:35:47Z</dcterms:modified>
</cp:coreProperties>
</file>