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225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272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28C8F7D-F4D2-404F-E943-05BED440BDF4}"/>
              </a:ext>
            </a:extLst>
          </p:cNvPr>
          <p:cNvSpPr/>
          <p:nvPr/>
        </p:nvSpPr>
        <p:spPr>
          <a:xfrm rot="10800000">
            <a:off x="-117756" y="-138898"/>
            <a:ext cx="12427512" cy="7135796"/>
          </a:xfrm>
          <a:prstGeom prst="rect">
            <a:avLst/>
          </a:prstGeom>
          <a:solidFill>
            <a:srgbClr val="0F15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bg2">
                  <a:lumMod val="9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0A362-B785-EC3E-BA75-838A98C89AB7}"/>
              </a:ext>
            </a:extLst>
          </p:cNvPr>
          <p:cNvSpPr txBox="1"/>
          <p:nvPr/>
        </p:nvSpPr>
        <p:spPr>
          <a:xfrm>
            <a:off x="1302658" y="1694934"/>
            <a:ext cx="1244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5400" dirty="0" err="1">
                <a:solidFill>
                  <a:schemeClr val="bg1"/>
                </a:solidFill>
                <a:latin typeface="Impact" panose="020B0806030902050204" pitchFamily="34" charset="0"/>
              </a:rPr>
              <a:t>Система</a:t>
            </a:r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latin typeface="Impact" panose="020B0806030902050204" pitchFamily="34" charset="0"/>
              </a:rPr>
              <a:t>обмена</a:t>
            </a:r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latin typeface="Impact" panose="020B0806030902050204" pitchFamily="34" charset="0"/>
              </a:rPr>
              <a:t>сообщениями</a:t>
            </a:r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 с </a:t>
            </a:r>
            <a:r>
              <a:rPr lang="en-US" sz="5400" dirty="0" err="1">
                <a:solidFill>
                  <a:schemeClr val="bg1"/>
                </a:solidFill>
                <a:latin typeface="Impact" panose="020B0806030902050204" pitchFamily="34" charset="0"/>
              </a:rPr>
              <a:t>криптографической</a:t>
            </a:r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latin typeface="Impact" panose="020B0806030902050204" pitchFamily="34" charset="0"/>
              </a:rPr>
              <a:t>защитой</a:t>
            </a:r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n-US" sz="5400" dirty="0" err="1">
                <a:solidFill>
                  <a:schemeClr val="bg1"/>
                </a:solidFill>
                <a:latin typeface="Impact" panose="020B0806030902050204" pitchFamily="34" charset="0"/>
              </a:rPr>
              <a:t>информации</a:t>
            </a:r>
            <a:endParaRPr lang="en-US" sz="5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6068B-3E3E-B9C2-E08F-CB1192B1019F}"/>
              </a:ext>
            </a:extLst>
          </p:cNvPr>
          <p:cNvSpPr txBox="1"/>
          <p:nvPr/>
        </p:nvSpPr>
        <p:spPr>
          <a:xfrm>
            <a:off x="1371600" y="4608144"/>
            <a:ext cx="229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90000"/>
                  </a:schemeClr>
                </a:solidFill>
                <a:latin typeface="Impact" panose="020B0806030902050204" pitchFamily="34" charset="0"/>
              </a:rPr>
              <a:t>Зюков Александр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76A3F-4599-ED82-C19D-908561C379C7}"/>
              </a:ext>
            </a:extLst>
          </p:cNvPr>
          <p:cNvSpPr txBox="1"/>
          <p:nvPr/>
        </p:nvSpPr>
        <p:spPr>
          <a:xfrm>
            <a:off x="3543315" y="4608144"/>
            <a:ext cx="2333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2">
                    <a:lumMod val="90000"/>
                  </a:schemeClr>
                </a:solidFill>
                <a:latin typeface="Impact" panose="020B0806030902050204" pitchFamily="34" charset="0"/>
              </a:rPr>
              <a:t>Ховроненко</a:t>
            </a:r>
            <a:r>
              <a:rPr lang="ru-RU" dirty="0">
                <a:solidFill>
                  <a:schemeClr val="bg2">
                    <a:lumMod val="90000"/>
                  </a:schemeClr>
                </a:solidFill>
                <a:latin typeface="Impact" panose="020B0806030902050204" pitchFamily="34" charset="0"/>
              </a:rPr>
              <a:t> Андрей</a:t>
            </a:r>
          </a:p>
        </p:txBody>
      </p:sp>
    </p:spTree>
    <p:extLst>
      <p:ext uri="{BB962C8B-B14F-4D97-AF65-F5344CB8AC3E}">
        <p14:creationId xmlns:p14="http://schemas.microsoft.com/office/powerpoint/2010/main" val="345781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8FB"/>
                </a:solidFill>
              </a:rPr>
              <a:t>LiteBroker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B5C2"/>
                </a:solidFill>
              </a:rPr>
              <a:t>Система обмена сообщениями с криптографической защитой информации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2148840" cy="822960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258568"/>
            <a:ext cx="18928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Kafka broker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82296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28416" y="2258568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AES-256-GCM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crypto containers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2468880" cy="82296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096" y="2258568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Sensor topic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random telemetry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89720" y="2148840"/>
            <a:ext cx="2057400" cy="822960"/>
          </a:xfrm>
          <a:prstGeom prst="rect">
            <a:avLst/>
          </a:prstGeom>
          <a:solidFill>
            <a:srgbClr val="E49B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17736" y="2258568"/>
            <a:ext cx="180136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Grafana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observability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561320" cy="1143000"/>
          </a:xfrm>
          <a:prstGeom prst="rect">
            <a:avLst/>
          </a:prstGeom>
          <a:solidFill>
            <a:srgbClr val="05080C"/>
          </a:solidFill>
          <a:ln w="1270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4087368"/>
            <a:ext cx="10341864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algorithm, iv, ciphertext, authTag, metadata }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 err="1">
                <a:solidFill>
                  <a:srgbClr val="7F8EA0"/>
                </a:solidFill>
              </a:rPr>
              <a:t>Проект</a:t>
            </a:r>
            <a:r>
              <a:rPr lang="en-US" sz="750" dirty="0">
                <a:solidFill>
                  <a:srgbClr val="7F8EA0"/>
                </a:solidFill>
              </a:rPr>
              <a:t> </a:t>
            </a:r>
            <a:r>
              <a:rPr lang="en-US" sz="750" dirty="0" err="1">
                <a:solidFill>
                  <a:srgbClr val="7F8EA0"/>
                </a:solidFill>
              </a:rPr>
              <a:t>LiteBroker</a:t>
            </a:r>
            <a:r>
              <a:rPr lang="en-US" sz="750" dirty="0">
                <a:solidFill>
                  <a:srgbClr val="7F8EA0"/>
                </a:solidFill>
              </a:rPr>
              <a:t> 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01</a:t>
            </a:r>
            <a:endParaRPr lang="en-US" sz="1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8FF400F-75BE-DD45-A774-A15E0B31EA9E}"/>
              </a:ext>
            </a:extLst>
          </p:cNvPr>
          <p:cNvSpPr/>
          <p:nvPr/>
        </p:nvSpPr>
        <p:spPr>
          <a:xfrm>
            <a:off x="4513943" y="3265714"/>
            <a:ext cx="1429657" cy="300446"/>
          </a:xfrm>
          <a:prstGeom prst="rect">
            <a:avLst/>
          </a:prstGeom>
          <a:solidFill>
            <a:srgbClr val="0F15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КОНТЕКСТ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Что представляет собой продукт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585216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F5F8FB"/>
                </a:solidFill>
              </a:rPr>
              <a:t>LiteBroker — локальный учебный мессенджер с выбором собеседника.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Каждый диалог публикуется в отдельный Kafka topic: litebroker.chat.&lt;userA&gt;__&lt;userB&gt;.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Замеры датчиков генерируются автоматически и публикуются в topic litebroker.sensors.random.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Сообщения сохраняются в SQLite и Kafka не открытым текстом, а криптоконтейнером.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Prometheus, Loki/Promtail и Grafana используются для наблюдаемости и демонстрации аудита.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691640"/>
            <a:ext cx="4023360" cy="187452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4616" y="1801368"/>
            <a:ext cx="3767328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Ценность продукта: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конфиденциальность сообщения,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целостность контейнера,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разделение потоков данных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86600" y="3886200"/>
            <a:ext cx="4023360" cy="1417320"/>
          </a:xfrm>
          <a:prstGeom prst="rect">
            <a:avLst/>
          </a:prstGeom>
          <a:solidFill>
            <a:srgbClr val="E15D50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4616" y="3995928"/>
            <a:ext cx="3767328" cy="11978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Неприемлемое событие: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сообщение или служебный поток обходит политику и появляется в системе как открытый текст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SECURITY CONCEPT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Концепция безопасности продукта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 — концепция безопасности, ценности, сценарии, риски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737360" cy="676656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3852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Пользователь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063240" y="1828800"/>
            <a:ext cx="1554480" cy="676656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193852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Web UI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66360" y="1828800"/>
            <a:ext cx="1920240" cy="676656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6" y="193852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LiteBroker API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35240" y="1828800"/>
            <a:ext cx="1920240" cy="676656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3256" y="193852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Crypto Layer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012680" y="1828800"/>
            <a:ext cx="1645920" cy="676656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0696" y="19385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Kafka / SQLite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06040" y="2167128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45152" y="2167128"/>
            <a:ext cx="47548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32320" y="2167128"/>
            <a:ext cx="42976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82912" y="2167128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4400" y="306324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50" dirty="0">
                <a:solidFill>
                  <a:srgbClr val="F5F8FB"/>
                </a:solidFill>
              </a:rPr>
              <a:t>Сценарий 1: пользователь входит, выбирает собеседника, отправляет сообщение.</a:t>
            </a:r>
            <a:endParaRPr lang="en-US" sz="1450" dirty="0"/>
          </a:p>
          <a:p>
            <a:r>
              <a:rPr lang="en-US" sz="1450" dirty="0">
                <a:solidFill>
                  <a:srgbClr val="F5F8FB"/>
                </a:solidFill>
              </a:rPr>
              <a:t>Сценарий 2: генератор датчиков создает телеметрию без участия пользователя.</a:t>
            </a:r>
            <a:endParaRPr lang="en-US" sz="1450" dirty="0"/>
          </a:p>
          <a:p>
            <a:r>
              <a:rPr lang="en-US" sz="1450" dirty="0">
                <a:solidFill>
                  <a:srgbClr val="F5F8FB"/>
                </a:solidFill>
              </a:rPr>
              <a:t>Сценарий 3: администратор смотрит состояние системы в Grafana/Kafka UI.</a:t>
            </a:r>
            <a:endParaRPr lang="en-US" sz="1450" dirty="0"/>
          </a:p>
          <a:p>
            <a:r>
              <a:rPr lang="en-US" sz="1450" dirty="0">
                <a:solidFill>
                  <a:srgbClr val="F5F8FB"/>
                </a:solidFill>
              </a:rPr>
              <a:t>Граница доверия: браузер не работает напрямую с Kafka и БД.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ЦЕЛИ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Цели и предположения безопасности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383280" cy="41148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73936"/>
            <a:ext cx="312724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Цели безопасности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F5F8FB"/>
                </a:solidFill>
              </a:rPr>
              <a:t>не передавать сообщение как открытый текст;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сохранять целостность через GCM authTag;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разделить чат и датчики по разным topics;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не дать frontend обойти API и политику;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дать наблюдаемость без доступа к управлению сообщениями.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64208"/>
            <a:ext cx="4023360" cy="41148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773936"/>
            <a:ext cx="376732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Предположения безопасности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2240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F5F8FB"/>
                </a:solidFill>
              </a:rPr>
              <a:t>проект учебный и запускается локально;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секрет шифрования задается через env;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Kafka в демо без TLS/SASL, но архитектура допускает усиление;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SQLite — локальное хранилище приложения;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внешние реальные аккаунты и Telegram API не используются.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POLICY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Архитектура политики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ЛК_3 — политики безопасности, монитор безопасности, NEAT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2331720" cy="86868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892808"/>
            <a:ext cx="2075688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Policy Decision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LiteBroker API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49040" y="1783080"/>
            <a:ext cx="2331720" cy="86868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1892808"/>
            <a:ext cx="2075688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Policy Enforcement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HTTP routes + auth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2240280" cy="868680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892808"/>
            <a:ext cx="1984248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Message Broker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Kafka topics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89720" y="1783080"/>
            <a:ext cx="2240280" cy="868680"/>
          </a:xfrm>
          <a:prstGeom prst="rect">
            <a:avLst/>
          </a:prstGeom>
          <a:solidFill>
            <a:srgbClr val="E49B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17736" y="1892808"/>
            <a:ext cx="1984248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Observation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5F8FB"/>
                </a:solidFill>
              </a:rPr>
              <a:t>Prometheus/Loki/Grafana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19272" y="2221992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53912" y="2221992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9680" y="2221992"/>
            <a:ext cx="2743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333756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30" dirty="0">
                <a:solidFill>
                  <a:srgbClr val="F5F8FB"/>
                </a:solidFill>
              </a:rPr>
              <a:t>Разрешены только операции через API: login/register/users/messages/sensors/metrics.</a:t>
            </a:r>
            <a:endParaRPr lang="en-US" sz="1430" dirty="0"/>
          </a:p>
          <a:p>
            <a:r>
              <a:rPr lang="en-US" sz="1430" dirty="0">
                <a:solidFill>
                  <a:srgbClr val="F5F8FB"/>
                </a:solidFill>
              </a:rPr>
              <a:t>Для сообщений обязательны: авторизованный пользователь, выбранный recipient, crypto container.</a:t>
            </a:r>
            <a:endParaRPr lang="en-US" sz="1430" dirty="0"/>
          </a:p>
          <a:p>
            <a:r>
              <a:rPr lang="en-US" sz="1430" dirty="0">
                <a:solidFill>
                  <a:srgbClr val="F5F8FB"/>
                </a:solidFill>
              </a:rPr>
              <a:t>Для каждого домена задается разрешенный тип взаимодействия: chat topic или sensor topic.</a:t>
            </a:r>
            <a:endParaRPr lang="en-US" sz="1430" dirty="0"/>
          </a:p>
          <a:p>
            <a:r>
              <a:rPr lang="en-US" sz="1430" dirty="0">
                <a:solidFill>
                  <a:srgbClr val="F5F8FB"/>
                </a:solidFill>
              </a:rPr>
              <a:t>Все, что не описано в политике, считается неразрешенным по умолчанию.</a:t>
            </a:r>
            <a:endParaRPr lang="en-US" sz="14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utoShape 6" descr="LiteBroker UML">
            <a:extLst>
              <a:ext uri="{FF2B5EF4-FFF2-40B4-BE49-F238E27FC236}">
                <a16:creationId xmlns:a16="http://schemas.microsoft.com/office/drawing/2014/main" id="{B8ABE388-97F1-1882-2275-75CCE23DEB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3429000"/>
            <a:ext cx="5905500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E21C304A-4B47-AE1F-ADC0-802E0AEF80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610" y="0"/>
            <a:ext cx="117087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SEQUENCE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Базовый сценарий отправки сообщения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ЛР_3 — диаграммы последовательности, временная ось, сообщения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1234440" cy="41148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8FB"/>
                </a:solidFill>
              </a:rPr>
              <a:t>User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9903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600200"/>
            <a:ext cx="1234440" cy="411480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8FB"/>
                </a:solidFill>
              </a:rPr>
              <a:t>Web 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3639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00200"/>
            <a:ext cx="1234440" cy="41148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8FB"/>
                </a:solidFill>
              </a:rPr>
              <a:t>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0235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600200"/>
            <a:ext cx="1234440" cy="41148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53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8FB"/>
                </a:solidFill>
              </a:rPr>
              <a:t>Crypto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6831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600200"/>
            <a:ext cx="1234440" cy="411480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8FB"/>
                </a:solidFill>
              </a:rPr>
              <a:t>SQLite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3427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95560" y="1600200"/>
            <a:ext cx="1234440" cy="411480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2357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8FB"/>
                </a:solidFill>
              </a:rPr>
              <a:t>Kafka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81735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2331720"/>
            <a:ext cx="15544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508760" y="21305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9B5C2"/>
                </a:solidFill>
              </a:rPr>
              <a:t>select peer + text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200400" y="2788920"/>
            <a:ext cx="1783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246120" y="25877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9B5C2"/>
                </a:solidFill>
              </a:rPr>
              <a:t>POST /api/messages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166360" y="3246120"/>
            <a:ext cx="1783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212080" y="30449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9B5C2"/>
                </a:solidFill>
              </a:rPr>
              <a:t>encrypt AES-GCM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166360" y="3703320"/>
            <a:ext cx="374904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212080" y="35021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9B5C2"/>
                </a:solidFill>
              </a:rPr>
              <a:t>save container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166360" y="4160520"/>
            <a:ext cx="55321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212080" y="3959352"/>
            <a:ext cx="5440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9B5C2"/>
                </a:solidFill>
              </a:rPr>
              <a:t>publish topic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3017520" y="4617720"/>
            <a:ext cx="786384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triangl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3063240" y="44165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9B5C2"/>
                </a:solidFill>
              </a:rPr>
              <a:t>status + offset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ISOLATION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Механизмы изоляции и контроля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F5F8FB"/>
                </a:solidFill>
              </a:rPr>
              <a:t>Docker Compose: отдельные контейнеры для LiteBroker, Kafka, Kafka UI, Prometheus, Loki/Promtail, Grafana.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Kafka topics: отдельный поток для каждого чата и отдельный поток для датчиков.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API boundary: браузер не получает доступ к SQLite/Kafka напрямую.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Crypto boundary: весь текст проходит через AES-256-GCM до сохранения/публикации.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Monitoring boundary: Grafana наблюдает метрики и логи, но не управляет сообщениями.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874520"/>
            <a:ext cx="4023360" cy="256032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4616" y="1984248"/>
            <a:ext cx="3767328" cy="23408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Почему так: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простые границы доверия,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меньше связность,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понятная демонстрация для защиты,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легко проверить в Docker/Kafka UI/Grafana.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SKIB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Политики безопасности и шаблоны security-by-design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securitybydesign.ru/templates, ЛК_3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424160" cy="4251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F5F8FB"/>
                </a:solidFill>
              </a:rPr>
              <a:t>Раздельное принятие и применение решений о безопасности: API проверяет пользователя и допустимость операции, Kafka только переносит разрешенное событие.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Выделенный обработчик для очистки данных: входные JSON-запросы нормализуются и валидируются на backend.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Выделенный механизм поддержания состояния безопасности: /api/health, /metrics, Prometheus/Grafana показывают состояние Kafka и приложения.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Минимизация поверхности атаки: наружу вынесены только нужные порты и HTTP API.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Наблюдаемость и аудит: JSONL-логи криптоконтейнеров доступны через Loki/Grafana.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PATTERNS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Паттерны проектирования ПО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refactoringu.ru — каталог паттернов проектирования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627632"/>
            <a:ext cx="4800600" cy="941832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73736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Facade</a:t>
            </a:r>
            <a:endParaRPr lang="en-US" sz="1220" dirty="0"/>
          </a:p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UI работает через REST API и не знает деталей Kafka/SQLite.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172200" y="1627632"/>
            <a:ext cx="4800600" cy="941832"/>
          </a:xfrm>
          <a:prstGeom prst="rect">
            <a:avLst/>
          </a:prstGeom>
          <a:solidFill>
            <a:srgbClr val="162A3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73736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Strategy</a:t>
            </a:r>
            <a:endParaRPr lang="en-US" sz="1220" dirty="0"/>
          </a:p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Криптографический слой можно заменить другим алгоритмом.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77240" y="2862072"/>
            <a:ext cx="4800600" cy="941832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297180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Mediator</a:t>
            </a:r>
            <a:endParaRPr lang="en-US" sz="1220" dirty="0"/>
          </a:p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Kafka выступает посредником между доменами и снижает связность.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172200" y="2862072"/>
            <a:ext cx="4800600" cy="941832"/>
          </a:xfrm>
          <a:prstGeom prst="rect">
            <a:avLst/>
          </a:prstGeom>
          <a:solidFill>
            <a:srgbClr val="162A3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97180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Observer</a:t>
            </a:r>
            <a:endParaRPr lang="en-US" sz="1220" dirty="0"/>
          </a:p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Prometheus, Loki и Kafka UI наблюдают события и состояние.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77240" y="4096512"/>
            <a:ext cx="4800600" cy="941832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420624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Template Method</a:t>
            </a:r>
            <a:endParaRPr lang="en-US" sz="1220" dirty="0"/>
          </a:p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Единый pipeline сообщения: validate → encrypt → save → publish.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172200" y="4096512"/>
            <a:ext cx="4800600" cy="941832"/>
          </a:xfrm>
          <a:prstGeom prst="rect">
            <a:avLst/>
          </a:prstGeom>
          <a:solidFill>
            <a:srgbClr val="162A3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420624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Factory Method</a:t>
            </a:r>
            <a:endParaRPr lang="en-US" sz="1220" dirty="0"/>
          </a:p>
          <a:p>
            <a:pPr marL="0" indent="0">
              <a:buNone/>
            </a:pPr>
            <a:r>
              <a:rPr lang="en-US" sz="1220" b="1" dirty="0">
                <a:solidFill>
                  <a:srgbClr val="F5F8FB"/>
                </a:solidFill>
              </a:rPr>
              <a:t>Создание crypto container как отдельная фабрика структуры события.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CRYPTO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Как реализовано шифрование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029200" cy="4389120"/>
          </a:xfrm>
          <a:prstGeom prst="rect">
            <a:avLst/>
          </a:prstGeom>
          <a:solidFill>
            <a:srgbClr val="05080C"/>
          </a:solidFill>
          <a:ln w="1270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09928"/>
            <a:ext cx="4809744" cy="41696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"version": 2,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"algorithm": "AES-256-GCM",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"iv": "...",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"ciphertext": "...",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"authTag": "...",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"metadata": 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"messageId": "...",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"senderId": "...",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"recipientId": "...",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"chatTopic": "litebroker.chat.alice__bob",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"createdAt": "..."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355080" y="178308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40" dirty="0">
                <a:solidFill>
                  <a:srgbClr val="F5F8FB"/>
                </a:solidFill>
              </a:rPr>
              <a:t>`ciphertext` скрывает текст сообщения.</a:t>
            </a:r>
            <a:endParaRPr lang="en-US" sz="1440" dirty="0"/>
          </a:p>
          <a:p>
            <a:r>
              <a:rPr lang="en-US" sz="1440" dirty="0">
                <a:solidFill>
                  <a:srgbClr val="F5F8FB"/>
                </a:solidFill>
              </a:rPr>
              <a:t>`iv` делает шифрование разных сообщений уникальным.</a:t>
            </a:r>
            <a:endParaRPr lang="en-US" sz="1440" dirty="0"/>
          </a:p>
          <a:p>
            <a:r>
              <a:rPr lang="en-US" sz="1440" dirty="0">
                <a:solidFill>
                  <a:srgbClr val="F5F8FB"/>
                </a:solidFill>
              </a:rPr>
              <a:t>`authTag` проверяет целостность контейнера.</a:t>
            </a:r>
            <a:endParaRPr lang="en-US" sz="1440" dirty="0"/>
          </a:p>
          <a:p>
            <a:r>
              <a:rPr lang="en-US" sz="1440" dirty="0">
                <a:solidFill>
                  <a:srgbClr val="F5F8FB"/>
                </a:solidFill>
              </a:rPr>
              <a:t>`metadata` связывает сообщение с пользователем, получателем и Kafka topic.</a:t>
            </a:r>
            <a:endParaRPr lang="en-US" sz="1440" dirty="0"/>
          </a:p>
          <a:p>
            <a:r>
              <a:rPr lang="en-US" sz="1440" dirty="0">
                <a:solidFill>
                  <a:srgbClr val="F5F8FB"/>
                </a:solidFill>
              </a:rPr>
              <a:t>Пароли не шифруются, а хешируются через PBKDF2 + salt.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GRAFANA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Наблюдаемость: 2 дашборда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4754880" cy="187452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938528"/>
            <a:ext cx="4498848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Dashboard 1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Показания датчиков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Prometheus metrics: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temperature / humidity / pressure / total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4754880" cy="1874520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38528"/>
            <a:ext cx="4498848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Dashboard 2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Логи чата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Loki logs: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5F8FB"/>
                </a:solidFill>
              </a:rPr>
              <a:t>chat-containers.jsonl + счетчики topic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297680"/>
            <a:ext cx="99669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F5F8FB"/>
                </a:solidFill>
              </a:rPr>
              <a:t>Первый dashboard подтверждает, что sensor topic живой.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Второй dashboard показывает криптоконтейнеры и аудит сообщений.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Promtail читает только папку логов LiteBroker.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TESTING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Подход к тестированию проектного кода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50" dirty="0">
                <a:solidFill>
                  <a:srgbClr val="F5F8FB"/>
                </a:solidFill>
              </a:rPr>
              <a:t>Статическая проверка: `node --check LiteBroker/server.mjs` и `node --check LiteBroker/public/app.js`.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Проверка инфраструктуры: `docker compose config --quiet`.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Функциональный тест: регистрация, выбор собеседника, отправка сообщения.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Kafka-тест: в Kafka UI появляются chat topic и sensor topic.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Security-тест: в логах и Kafka виден JSON crypto container, а не открытый текст.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Observability-тест: Grafana показывает датчики и логи криптоконтейнеров.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Негативные сценарии: неверный пароль, пустое сообщение, отсутствие получателя, недоступность Kafka.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NEAT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Соответствие идее монитора безопасности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ЛК_3 — требования NEAT для доменов и монитора безопасности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4663440" cy="100584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847088"/>
            <a:ext cx="4407408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5F8FB"/>
                </a:solidFill>
              </a:rPr>
              <a:t>Non-bypassable</a:t>
            </a:r>
            <a:endParaRPr lang="en-US" sz="1420" dirty="0"/>
          </a:p>
          <a:p>
            <a:pPr marL="0" indent="0">
              <a:buNone/>
            </a:pPr>
            <a:r>
              <a:rPr lang="en-US" sz="1420" b="1" dirty="0">
                <a:solidFill>
                  <a:srgbClr val="F5F8FB"/>
                </a:solidFill>
              </a:rPr>
              <a:t>все операции идут через LiteBroker API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4663440" cy="100584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847088"/>
            <a:ext cx="4407408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5F8FB"/>
                </a:solidFill>
              </a:rPr>
              <a:t>Evaluatable</a:t>
            </a:r>
            <a:endParaRPr lang="en-US" sz="1420" dirty="0"/>
          </a:p>
          <a:p>
            <a:pPr marL="0" indent="0">
              <a:buNone/>
            </a:pPr>
            <a:r>
              <a:rPr lang="en-US" sz="1420" b="1" dirty="0">
                <a:solidFill>
                  <a:srgbClr val="F5F8FB"/>
                </a:solidFill>
              </a:rPr>
              <a:t>компоненты маленькие: UI, API, crypto, DB, Kafka, monitoring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4663440" cy="100584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401568"/>
            <a:ext cx="4407408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5F8FB"/>
                </a:solidFill>
              </a:rPr>
              <a:t>Always-invoked</a:t>
            </a:r>
            <a:endParaRPr lang="en-US" sz="1420" dirty="0"/>
          </a:p>
          <a:p>
            <a:pPr marL="0" indent="0">
              <a:buNone/>
            </a:pPr>
            <a:r>
              <a:rPr lang="en-US" sz="1420" b="1" dirty="0">
                <a:solidFill>
                  <a:srgbClr val="F5F8FB"/>
                </a:solidFill>
              </a:rPr>
              <a:t>каждая отправка проходит validate/encrypt/save/publish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4663440" cy="100584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3401568"/>
            <a:ext cx="4407408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5F8FB"/>
                </a:solidFill>
              </a:rPr>
              <a:t>Tamperproof</a:t>
            </a:r>
            <a:endParaRPr lang="en-US" sz="1420" dirty="0"/>
          </a:p>
          <a:p>
            <a:pPr marL="0" indent="0">
              <a:buNone/>
            </a:pPr>
            <a:r>
              <a:rPr lang="en-US" sz="1420" b="1" dirty="0">
                <a:solidFill>
                  <a:srgbClr val="F5F8FB"/>
                </a:solidFill>
              </a:rPr>
              <a:t>конфигурация вынесена в Docker/env; мониторинг read-only</a:t>
            </a:r>
            <a:endParaRPr lang="en-US" sz="14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BD1"/>
                </a:solidFill>
              </a:rPr>
              <a:t>ИТОГ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Почему выбраны именно эти решения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5C2"/>
                </a:solidFill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424160" cy="4251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20" dirty="0">
                <a:solidFill>
                  <a:srgbClr val="F5F8FB"/>
                </a:solidFill>
              </a:rPr>
              <a:t>Kafka выбрана как брокер сообщений: она естественно показывает изолированные домены и политику взаимодействия через topics.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AES-256-GCM выбран потому, что дает конфиденциальность и контроль целостности одним контейнером.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SQLite выбран для локального учебного хранения без внешней БД.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Docker Compose выбран для воспроизводимого запуска и изоляции сервисов.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Grafana/Prometheus/Loki выбраны для защиты проекта: видно состояние, датчики и аудит криптоконтейнеров.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UML используется для объяснения структуры и сценария, как требуется в ЛР_3.</a:t>
            </a:r>
            <a:endParaRPr lang="en-US" sz="1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1379</Words>
  <Application>Microsoft Office PowerPoint</Application>
  <PresentationFormat>Широкоэкранный</PresentationFormat>
  <Paragraphs>216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Cascadia Mono</vt:lpstr>
      <vt:lpstr>Impact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CryptoBroker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LiteBroker: защищенный обмен сообщениями через Kafka</dc:title>
  <dc:subject>Концепция безопасности LiteBroker</dc:subject>
  <dc:creator>LiteBroker</dc:creator>
  <cp:lastModifiedBy>Александр Зюков</cp:lastModifiedBy>
  <cp:revision>2</cp:revision>
  <dcterms:created xsi:type="dcterms:W3CDTF">2026-05-27T18:35:47Z</dcterms:created>
  <dcterms:modified xsi:type="dcterms:W3CDTF">2026-05-27T19:14:27Z</dcterms:modified>
</cp:coreProperties>
</file>