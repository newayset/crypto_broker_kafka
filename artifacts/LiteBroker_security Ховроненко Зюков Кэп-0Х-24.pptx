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3ee8ef26004147" /><Relationship Type="http://schemas.openxmlformats.org/officeDocument/2006/relationships/extended-properties" Target="/docProps/app.xml" Id="Rf1307d7a03f94f5c" /><Relationship Type="http://schemas.openxmlformats.org/officeDocument/2006/relationships/officeDocument" Target="/ppt/presentation.xml" Id="R2f1514cd4c184f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5dba24209c4e1d"/>
  </p:sldMasterIdLst>
  <p:notesMasterIdLst>
    <p:notesMasterId xmlns:r="http://schemas.openxmlformats.org/officeDocument/2006/relationships" r:id="R95043800c5f44c6d"/>
  </p:notesMasterIdLst>
  <p:sldIdLst>
    <p:sldId xmlns:r="http://schemas.openxmlformats.org/officeDocument/2006/relationships" id="256" r:id="Rbd500bb4a69a4b50"/>
    <p:sldId xmlns:r="http://schemas.openxmlformats.org/officeDocument/2006/relationships" id="257" r:id="Rb366cf0ba6294b20"/>
    <p:sldId xmlns:r="http://schemas.openxmlformats.org/officeDocument/2006/relationships" id="258" r:id="R5854b1b7132a45d7"/>
    <p:sldId xmlns:r="http://schemas.openxmlformats.org/officeDocument/2006/relationships" id="259" r:id="R364c6ed7e5544ed5"/>
    <p:sldId xmlns:r="http://schemas.openxmlformats.org/officeDocument/2006/relationships" id="260" r:id="Rc4a6c2edbf364687"/>
    <p:sldId xmlns:r="http://schemas.openxmlformats.org/officeDocument/2006/relationships" id="261" r:id="R8be10250906a4d4e"/>
    <p:sldId xmlns:r="http://schemas.openxmlformats.org/officeDocument/2006/relationships" id="262" r:id="Rc105a88a9fb248ba"/>
    <p:sldId xmlns:r="http://schemas.openxmlformats.org/officeDocument/2006/relationships" id="263" r:id="R2e03edffcd404b70"/>
    <p:sldId xmlns:r="http://schemas.openxmlformats.org/officeDocument/2006/relationships" id="264" r:id="R8271fa6cd7da40e3"/>
    <p:sldId xmlns:r="http://schemas.openxmlformats.org/officeDocument/2006/relationships" id="265" r:id="R4cd049adb5484ef5"/>
    <p:sldId xmlns:r="http://schemas.openxmlformats.org/officeDocument/2006/relationships" id="266" r:id="Rca7030a911b745c8"/>
    <p:sldId xmlns:r="http://schemas.openxmlformats.org/officeDocument/2006/relationships" id="267" r:id="Rc6ce65a5ef0442b1"/>
    <p:sldId xmlns:r="http://schemas.openxmlformats.org/officeDocument/2006/relationships" id="268" r:id="Rb4c45c31b9e24394"/>
    <p:sldId xmlns:r="http://schemas.openxmlformats.org/officeDocument/2006/relationships" id="269" r:id="R62f06573b1ae4daf"/>
    <p:sldId xmlns:r="http://schemas.openxmlformats.org/officeDocument/2006/relationships" id="270" r:id="R2c02e75cd83d41a4"/>
    <p:sldId xmlns:r="http://schemas.openxmlformats.org/officeDocument/2006/relationships" id="271" r:id="R9d9d218030c44498"/>
    <p:sldId xmlns:ns0="http://schemas.openxmlformats.org/officeDocument/2006/relationships" id="272" ns0:id="rId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cf5dba24209c4e1d"/><Relationship Type="http://schemas.openxmlformats.org/officeDocument/2006/relationships/theme" Target="/ppt/theme/theme1.xml" Id="Raba7137cf0134646"/><Relationship Type="http://schemas.openxmlformats.org/officeDocument/2006/relationships/notesMaster" Target="/ppt/notesMasters/notesMaster1.xml" Id="R95043800c5f44c6d"/><Relationship Type="http://schemas.openxmlformats.org/officeDocument/2006/relationships/presProps" Target="/ppt/presProps.xml" Id="R1b391d030a364a50"/><Relationship Type="http://schemas.openxmlformats.org/officeDocument/2006/relationships/viewProps" Target="/ppt/viewProps.xml" Id="R1f49517278724658"/><Relationship Type="http://schemas.openxmlformats.org/officeDocument/2006/relationships/tableStyles" Target="/ppt/tableStyles.xml" Id="Rbaef135fe7dd4588"/><Relationship Type="http://schemas.openxmlformats.org/officeDocument/2006/relationships/slide" Target="/ppt/slides/slide1.xml" Id="Rbd500bb4a69a4b50"/><Relationship Type="http://schemas.openxmlformats.org/officeDocument/2006/relationships/slide" Target="/ppt/slides/slide2.xml" Id="Rb366cf0ba6294b20"/><Relationship Type="http://schemas.openxmlformats.org/officeDocument/2006/relationships/slide" Target="/ppt/slides/slide3.xml" Id="R5854b1b7132a45d7"/><Relationship Type="http://schemas.openxmlformats.org/officeDocument/2006/relationships/slide" Target="/ppt/slides/slide4.xml" Id="R364c6ed7e5544ed5"/><Relationship Type="http://schemas.openxmlformats.org/officeDocument/2006/relationships/slide" Target="/ppt/slides/slide5.xml" Id="Rc4a6c2edbf364687"/><Relationship Type="http://schemas.openxmlformats.org/officeDocument/2006/relationships/slide" Target="/ppt/slides/slide6.xml" Id="R8be10250906a4d4e"/><Relationship Type="http://schemas.openxmlformats.org/officeDocument/2006/relationships/slide" Target="/ppt/slides/slide7.xml" Id="Rc105a88a9fb248ba"/><Relationship Type="http://schemas.openxmlformats.org/officeDocument/2006/relationships/slide" Target="/ppt/slides/slide8.xml" Id="R2e03edffcd404b70"/><Relationship Type="http://schemas.openxmlformats.org/officeDocument/2006/relationships/slide" Target="/ppt/slides/slide9.xml" Id="R8271fa6cd7da40e3"/><Relationship Type="http://schemas.openxmlformats.org/officeDocument/2006/relationships/slide" Target="/ppt/slides/slide10.xml" Id="R4cd049adb5484ef5"/><Relationship Type="http://schemas.openxmlformats.org/officeDocument/2006/relationships/slide" Target="/ppt/slides/slide11.xml" Id="Rca7030a911b745c8"/><Relationship Type="http://schemas.openxmlformats.org/officeDocument/2006/relationships/slide" Target="/ppt/slides/slide12.xml" Id="Rc6ce65a5ef0442b1"/><Relationship Type="http://schemas.openxmlformats.org/officeDocument/2006/relationships/slide" Target="/ppt/slides/slide13.xml" Id="Rb4c45c31b9e24394"/><Relationship Type="http://schemas.openxmlformats.org/officeDocument/2006/relationships/slide" Target="/ppt/slides/slide14.xml" Id="R62f06573b1ae4daf"/><Relationship Type="http://schemas.openxmlformats.org/officeDocument/2006/relationships/slide" Target="/ppt/slides/slide15.xml" Id="R2c02e75cd83d41a4"/><Relationship Type="http://schemas.openxmlformats.org/officeDocument/2006/relationships/slide" Target="/ppt/slides/slide16.xml" Id="R9d9d218030c44498"/><Relationship Id="rId1" Type="http://schemas.openxmlformats.org/officeDocument/2006/relationships/slide" Target="slides/slide17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b47935f72a74e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378f616c65410b" /><Relationship Type="http://schemas.openxmlformats.org/officeDocument/2006/relationships/notesMaster" Target="/ppt/notesMasters/notesMaster1.xml" Id="R7e154614567d46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f47001077c4659" /><Relationship Type="http://schemas.openxmlformats.org/officeDocument/2006/relationships/notesMaster" Target="/ppt/notesMasters/notesMaster1.xml" Id="R283c2e18a75b44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984928894441a2" /><Relationship Type="http://schemas.openxmlformats.org/officeDocument/2006/relationships/notesMaster" Target="/ppt/notesMasters/notesMaster1.xml" Id="R40f0f3e7c44b4f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2112c912e54db1" /><Relationship Type="http://schemas.openxmlformats.org/officeDocument/2006/relationships/notesMaster" Target="/ppt/notesMasters/notesMaster1.xml" Id="R27ac874d3f6e451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f97db0c8b7496f" /><Relationship Type="http://schemas.openxmlformats.org/officeDocument/2006/relationships/notesMaster" Target="/ppt/notesMasters/notesMaster1.xml" Id="R4c4c847a486e42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27513b8a1e4884" /><Relationship Type="http://schemas.openxmlformats.org/officeDocument/2006/relationships/notesMaster" Target="/ppt/notesMasters/notesMaster1.xml" Id="R0afdf4f1e2374e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a393e30edae4781" /><Relationship Type="http://schemas.openxmlformats.org/officeDocument/2006/relationships/notesMaster" Target="/ppt/notesMasters/notesMaster1.xml" Id="R8bdf5466cab846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2054e4466104f67" /><Relationship Type="http://schemas.openxmlformats.org/officeDocument/2006/relationships/notesMaster" Target="/ppt/notesMasters/notesMaster1.xml" Id="Rcde59907fb5c4e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183fc95ea394a0e" /><Relationship Type="http://schemas.openxmlformats.org/officeDocument/2006/relationships/notesMaster" Target="/ppt/notesMasters/notesMaster1.xml" Id="R90be926f24c44e2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e0303b12464b0c" /><Relationship Type="http://schemas.openxmlformats.org/officeDocument/2006/relationships/notesMaster" Target="/ppt/notesMasters/notesMaster1.xml" Id="Rd1b93328bb4e45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746e01e87f4872" /><Relationship Type="http://schemas.openxmlformats.org/officeDocument/2006/relationships/notesMaster" Target="/ppt/notesMasters/notesMaster1.xml" Id="R3954dfac00ca457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d77f711bd0c4241" /><Relationship Type="http://schemas.openxmlformats.org/officeDocument/2006/relationships/notesMaster" Target="/ppt/notesMasters/notesMaster1.xml" Id="Ra97cc37625884ff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018a866987548bb" /><Relationship Type="http://schemas.openxmlformats.org/officeDocument/2006/relationships/notesMaster" Target="/ppt/notesMasters/notesMaster1.xml" Id="R6c3f76492411495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c115a37d2e3489c" /><Relationship Type="http://schemas.openxmlformats.org/officeDocument/2006/relationships/notesMaster" Target="/ppt/notesMasters/notesMaster1.xml" Id="R3a959987e2714dd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b0c3a79787b4918" /><Relationship Type="http://schemas.openxmlformats.org/officeDocument/2006/relationships/notesMaster" Target="/ppt/notesMasters/notesMaster1.xml" Id="Raed2f17aee824dd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0a7839d1eb2402a" /><Relationship Type="http://schemas.openxmlformats.org/officeDocument/2006/relationships/notesMaster" Target="/ppt/notesMasters/notesMaster1.xml" Id="R9ef337039b7343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18852fdfeb4d5b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2fc877465e44453" /><Relationship Type="http://schemas.openxmlformats.org/officeDocument/2006/relationships/slideLayout" Target="/ppt/slideLayouts/slideLayout2.xml" Id="R15f4b7b2a239481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f4b7b2a23948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0872aca113428d" /><Relationship Type="http://schemas.openxmlformats.org/officeDocument/2006/relationships/notesSlide" Target="/ppt/notesSlides/notesSlide1.xml" Id="R609c85ed694d47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a38c2914fc42a0" /><Relationship Type="http://schemas.openxmlformats.org/officeDocument/2006/relationships/notesSlide" Target="/ppt/notesSlides/notesSlide2.xml" Id="R48eae31547d542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c5f481fc004e64" /><Relationship Type="http://schemas.openxmlformats.org/officeDocument/2006/relationships/notesSlide" Target="/ppt/notesSlides/notesSlide3.xml" Id="Re2ae5898b56443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5ca035c92e4d93" /><Relationship Type="http://schemas.openxmlformats.org/officeDocument/2006/relationships/notesSlide" Target="/ppt/notesSlides/notesSlide4.xml" Id="R81fb5f7a086549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ffa47f708e4388" /><Relationship Type="http://schemas.openxmlformats.org/officeDocument/2006/relationships/notesSlide" Target="/ppt/notesSlides/notesSlide5.xml" Id="R1ef0f03d63ba49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e3c61835ed4c8a" /><Relationship Type="http://schemas.openxmlformats.org/officeDocument/2006/relationships/notesSlide" Target="/ppt/notesSlides/notesSlide6.xml" Id="R6d628888291444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d1315faf6e4e11" /><Relationship Type="http://schemas.openxmlformats.org/officeDocument/2006/relationships/notesSlide" Target="/ppt/notesSlides/notesSlide7.xml" Id="Rc287403f84ac47e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7605244c274858" /><Relationship Type="http://schemas.openxmlformats.org/officeDocument/2006/relationships/notesSlide" Target="/ppt/notesSlides/notesSlide8.xml" Id="R5cb7e5069a964a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a25bd926da4e2a" /><Relationship Type="http://schemas.openxmlformats.org/officeDocument/2006/relationships/notesSlide" Target="/ppt/notesSlides/notesSlide9.xml" Id="Rb0668823d9d24b1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a4a9f7caeb499e" /><Relationship Type="http://schemas.openxmlformats.org/officeDocument/2006/relationships/notesSlide" Target="/ppt/notesSlides/notesSlide10.xml" Id="R27a6db64057740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29d0de61774c14" /><Relationship Type="http://schemas.openxmlformats.org/officeDocument/2006/relationships/notesSlide" Target="/ppt/notesSlides/notesSlide11.xml" Id="Re59321351738443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c5746c40334818" /><Relationship Type="http://schemas.openxmlformats.org/officeDocument/2006/relationships/notesSlide" Target="/ppt/notesSlides/notesSlide12.xml" Id="R39466e2acf054bb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38f7b2f7034427" /><Relationship Type="http://schemas.openxmlformats.org/officeDocument/2006/relationships/notesSlide" Target="/ppt/notesSlides/notesSlide13.xml" Id="R9750803516b0473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13b793f44b43ed" /><Relationship Type="http://schemas.openxmlformats.org/officeDocument/2006/relationships/image" Target="/ppt/media/image.png" Id="R620c93c7c2604d5c" /><Relationship Type="http://schemas.openxmlformats.org/officeDocument/2006/relationships/notesSlide" Target="/ppt/notesSlides/notesSlide14.xml" Id="R566d4d23d19d426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8d0e0e52214982" /><Relationship Type="http://schemas.openxmlformats.org/officeDocument/2006/relationships/notesSlide" Target="/ppt/notesSlides/notesSlide15.xml" Id="R1668022211954c8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d62a1b215f4ec1" /><Relationship Type="http://schemas.openxmlformats.org/officeDocument/2006/relationships/notesSlide" Target="/ppt/notesSlides/notesSlide16.xml" Id="R046439d5e1d145c9" />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variant_04_trust_domains_architecture.png"/>
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D7C9A8-7EDE-478D-8840-DD948EE3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9D79A8-FC60-45BE-9FE3-3772D574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3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0AEA21-6E3D-402D-B99B-1CD7AEF4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9890CD-1824-4093-A1FA-D413223A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"/>
            <a:ext cx="857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4D6423-CC64-4018-9D0C-0AB55D71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8953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LiteBroker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BE86B2-E1CF-4EE2-816B-B3DC6E05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8953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8FD8FF"/>
                </a:solidFill>
                <a:latin typeface="Aptos"/>
                <a:ea typeface="Aptos"/>
                <a:cs typeface="Aptos"/>
              </a:rPr>
              <a:t>Система обмена сообщениями с криптографической защитой информации на базе Kafka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920445-0170-4642-8A52-7EEFC510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28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Дисциплина: киберимунная методология разработки ПО</a:t>
            </a:r>
          </a:p>
          <a:p xmlns:a="http://schemas.openxmlformats.org/drawingml/2006/main">
            <a:pPr algn="l">
              <a:defRPr sz="150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Выполнили: Ховроненко Андрей Сергеевич, Зюков Александр</a:t>
            </a:r>
          </a:p>
          <a:p xmlns:a="http://schemas.openxmlformats.org/drawingml/2006/main">
            <a:pPr algn="l">
              <a:defRPr sz="150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Преподаватель: Чесалин Александр Николаевич</a:t>
            </a:r>
          </a:p>
          <a:p xmlns:a="http://schemas.openxmlformats.org/drawingml/2006/main">
            <a:pPr algn="l">
              <a:defRPr sz="150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Группа: Кэп-0Х-24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76BC2C-E601-46F5-96AE-F29389C6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00500"/>
            <a:ext cx="31432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B0B8F4-BC0D-4E85-8638-74ADEDC1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33850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Стек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B15FC-FE2D-4CFB-AD2D-5EC2A6CE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280035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Docker Compose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Node.js + PostgreSQL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Apache Kafka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Prometheus + Loki + Grafana</a:t>
            </a:r>
          </a:p>
        </p:txBody>
      </p:sp>
    </p:spTree>
    <p:extLst>
      <p:ext uri="{BB962C8B-B14F-4D97-AF65-F5344CB8AC3E}">
        <p14:creationId xmlns:p14="http://schemas.microsoft.com/office/powerpoint/2010/main" val="156240893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3D547E-6911-416F-84F0-D2BE6CD8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3BF704-EA62-49C2-8A54-352C9536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BD091-594A-470A-A645-6061DE2F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01 / смысл проекта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08087A-23B8-4301-92AF-8A5BDEBF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Что было сделано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CA01F0-FBD7-481C-A7C7-0D4BA88C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От демо-чата к защищённому стенду с брокером и наблюдаемостью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29449E-D162-4239-8300-008A91EE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D85CEF-05A7-410B-A2F5-0AC5A419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3238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B6AAE7-97BA-49CC-82FD-CE75D800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85975"/>
            <a:ext cx="2895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Пользовательский 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561CE2-4A51-44BA-9EEF-9642C825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9825"/>
            <a:ext cx="289560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Вход по username и паролю.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Выбор собеседника.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Отправка сообщения.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Просмотр криптоконтейнера рядом с перепиской.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E918F2-B0F6-4BA3-B0D9-CEB95B69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52625"/>
            <a:ext cx="3238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8398B9-BCDE-49ED-A9E3-66C476D5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085975"/>
            <a:ext cx="2895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Инженерная часть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165D72-945C-4645-A28E-8B4EF8EB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09825"/>
            <a:ext cx="289560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Сообщение шифруется AES-256-GCM.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Контейнер сохраняется в PostgreSQL.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Событие публикуется в Kafka.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Логи и метрики уходят в Grafana.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A3F442-0803-4131-81D6-19C5161B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52625"/>
            <a:ext cx="3238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3A1A64-62B8-4770-B5AF-DE718122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85975"/>
            <a:ext cx="2895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Демонстрация защиты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885609-F045-4023-BB8D-92C9A68F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9825"/>
            <a:ext cx="289560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Видно, что текст сообщения превращается в ciphertext.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Для датчиков выделен отдельный поток.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Состояние сервисов контролируется метриками.</a:t>
            </a:r>
          </a:p>
        </p:txBody>
      </p:sp>
    </p:spTree>
    <p:extLst>
      <p:ext uri="{BB962C8B-B14F-4D97-AF65-F5344CB8AC3E}">
        <p14:creationId xmlns:p14="http://schemas.microsoft.com/office/powerpoint/2010/main" val="114442426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7A2D25-AB2A-4E47-9703-B7B94FA6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62DC61-BDAC-4243-BE43-AE2CE238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50715-DF4D-4683-B41B-1FF4EBA0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02 / требования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35DB9C-B461-421B-A04D-16EC6215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Функциональные требования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CDF3EC-7C6F-4A12-993E-BE02D3BB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Требования преподавателя переложены на конкретные компоненты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CD37F1-A5ED-4410-8743-CE7BA1E8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50F802-3F20-442E-BE4F-8D4D056A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288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15E2CC-34D4-4394-AC2F-C243549E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52625"/>
            <a:ext cx="895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F4F8FB"/>
                </a:solidFill>
                <a:latin typeface="Aptos"/>
                <a:ea typeface="Aptos"/>
                <a:cs typeface="Aptos"/>
              </a:rPr>
              <a:t>чат с выбором собеседника: кому писать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8C8A96-054C-4B81-BFB8-34CA4993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812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15D82F-D2EC-4B9E-A24C-7F5F8C5C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05075"/>
            <a:ext cx="895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F4F8FB"/>
                </a:solidFill>
                <a:latin typeface="Aptos"/>
                <a:ea typeface="Aptos"/>
                <a:cs typeface="Aptos"/>
              </a:rPr>
              <a:t>каждый диалог публикуется в отдельный Kafka-топик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BF3126-0B3C-4E73-A5C5-8FB54877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337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9D86EF-C3C4-4630-8C79-328E44AE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57525"/>
            <a:ext cx="895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F4F8FB"/>
                </a:solidFill>
                <a:latin typeface="Aptos"/>
                <a:ea typeface="Aptos"/>
                <a:cs typeface="Aptos"/>
              </a:rPr>
              <a:t>отдельный sensor topic для генератора случайных значений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8CDC9D-7368-4624-9C4B-8722D32A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861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49CE3F-EB8E-40E9-81DA-BF1B4454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9975"/>
            <a:ext cx="895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F4F8FB"/>
                </a:solidFill>
                <a:latin typeface="Aptos"/>
                <a:ea typeface="Aptos"/>
                <a:cs typeface="Aptos"/>
              </a:rPr>
              <a:t>два дашборда Grafana: датчики и криптоконтейнеры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8E213A-4AFB-49BA-BB0D-13B7087A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386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07A65A-3A26-49F3-B896-BDAF95CE8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62425"/>
            <a:ext cx="895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F4F8FB"/>
                </a:solidFill>
                <a:latin typeface="Aptos"/>
                <a:ea typeface="Aptos"/>
                <a:cs typeface="Aptos"/>
              </a:rPr>
              <a:t>отчётность: UML, политики безопасности, паттерны, тестирование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7846FA-C2E3-4338-90FB-62C6B8DB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260D78-4182-455E-94F7-9298A165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95925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LiteBroker Web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1D469F-1803-4C10-996A-A96468DB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29250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6278DA-EDCE-4532-8ED9-C7E86372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95925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Kafka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313B35-65FB-4535-9B6E-0E6F07BC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4292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2C0978-9DE3-44BD-B4C0-2384BADF2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495925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PostgreSQL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6DD51F-0FE6-4233-AADB-64958283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4292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48F07E-7379-4085-A869-A1C75E4C6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495925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Grafana/Prometheus</a:t>
            </a:r>
          </a:p>
        </p:txBody>
      </p:sp>
    </p:spTree>
    <p:extLst>
      <p:ext uri="{BB962C8B-B14F-4D97-AF65-F5344CB8AC3E}">
        <p14:creationId xmlns:p14="http://schemas.microsoft.com/office/powerpoint/2010/main" val="113615941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3769D1-4395-43F7-A82C-9B192F00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0ABD2B-200A-4E12-AD72-8A24720B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AB210D-E06A-41D5-B4C7-D35FC097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03 / архитектура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72536-16FB-4362-9629-A1E1CAA1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Контейнерная архитектура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6C1E75-5952-4A78-8C0D-BDC5C0E6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Компоненты изолированы, а взаимодействия проходят по заданной политике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7B5360-B969-4054-B843-C19904FF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1FDFDC-728B-4963-8E50-D8241A04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619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4D2AB1-AA7E-4E1E-B2E3-5B611DD7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1276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Browser UI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883544-8DBB-4955-9509-C1EAC222A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38450"/>
            <a:ext cx="1276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веб-интерфейс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1ED6E5-C306-46DB-8999-7FF56096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81250"/>
            <a:ext cx="2000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01C641-7004-4E0C-9485-86A551A9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1460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LiteBroker 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FA156A-E249-4A23-B041-A0D45FEF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38450"/>
            <a:ext cx="1657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auth, crypto, REST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3C4B76-FFC6-44DA-B73F-2EC1A25DA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333500"/>
            <a:ext cx="2000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868D98-7C07-44FA-B9E9-3BBDC00EC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4668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PostgreSQL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B0C231-B856-42BA-AB30-AFD12546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790700"/>
            <a:ext cx="1657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users, sessions,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messages, sensors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C42D85-D8A0-4460-A857-38E196E0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667000"/>
            <a:ext cx="2000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3A9329-C4A7-4558-82FE-C9B60C6B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8003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Kafka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590C5E-3F65-4F6B-B1AB-67220BEE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124200"/>
            <a:ext cx="1657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chat topics,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sensor topic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E2F1A-81CC-46F4-89A8-2ADC3047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000500"/>
            <a:ext cx="2000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DA8C2D-0720-4991-9D94-1C919CF7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1338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JSONL logs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7C4986-884F-4CA8-A661-4FCAD515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57700"/>
            <a:ext cx="1657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containers,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sensor samples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89E65A-EB0E-42AC-9EA7-95B02B420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714500"/>
            <a:ext cx="2381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96F432-10E5-4687-B2EF-2F5FC5C19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8478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Prometheus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41B6A4-934D-405C-BDCF-4313B7A3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17170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/metrics scrape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26E89D-5E4A-4BFA-922C-B2171103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143250"/>
            <a:ext cx="2381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2EBC1A-F47B-46AA-AE79-BB64BF42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327660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Loki + Promtail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E82B11-AFAE-4F2B-8158-004F48FC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360045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log collection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632A8D-7373-4FBE-913C-ABCA3340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572000"/>
            <a:ext cx="2381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FBA63B-3859-41A2-8A48-C12E5E5E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705350"/>
            <a:ext cx="2038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Grafana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22A19F-3C4D-4817-8E7E-50342348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5029200"/>
            <a:ext cx="2038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2 dashboards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8DF484-7DA9-42A5-B097-9E5611A4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809875"/>
            <a:ext cx="6381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EE1701-9CE5-4265-94E2-BCE86F51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75272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E5350AE-AB6C-401B-B37F-2A63E822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543175"/>
            <a:ext cx="6381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FD8FF"/>
                </a:solidFill>
                <a:latin typeface="Aptos"/>
                <a:ea typeface="Aptos"/>
                <a:cs typeface="Aptos"/>
              </a:rPr>
              <a:t>HTTP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B4AB16-06B2-4522-9492-8578A0A6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619375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AA3603-496C-4C15-9715-0C845C88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704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2CC63C8-D5F9-4D01-92D3-6033BD37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526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FD8FF"/>
                </a:solidFill>
                <a:latin typeface="Aptos"/>
                <a:ea typeface="Aptos"/>
                <a:cs typeface="Aptos"/>
              </a:rPr>
              <a:t>SQL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C442B6-D337-4205-BD2C-FC701C2A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09875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4B0CEC-2247-4F37-82B5-D024B34B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384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9AB99D3-FF87-46C2-9E7F-215E607C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431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FD8FF"/>
                </a:solidFill>
                <a:latin typeface="Aptos"/>
                <a:ea typeface="Aptos"/>
                <a:cs typeface="Aptos"/>
              </a:rPr>
              <a:t>publish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E19289-3254-476A-8572-CB98DD9B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000375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F0E5247-D3B6-466D-B762-B8416602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371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723664-86A5-4B57-917D-C2383310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733675"/>
            <a:ext cx="742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FD8FF"/>
                </a:solidFill>
                <a:latin typeface="Aptos"/>
                <a:ea typeface="Aptos"/>
                <a:cs typeface="Aptos"/>
              </a:rPr>
              <a:t>append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FF7932-E217-4C21-B2C7-EF425EFD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62125"/>
            <a:ext cx="904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8CD113E-42EF-4A80-B164-F260D607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8597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0F00B7F-429C-45A2-ABE0-7686AB72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95425"/>
            <a:ext cx="904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FD8FF"/>
                </a:solidFill>
                <a:latin typeface="Aptos"/>
                <a:ea typeface="Aptos"/>
                <a:cs typeface="Aptos"/>
              </a:rPr>
              <a:t>metrics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4EA07AF-CD9B-42A0-BB7D-FD70527F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29125"/>
            <a:ext cx="904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D32DA3E-D127-4B1C-B2BF-9546BC51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14725"/>
            <a:ext cx="114300" cy="1143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70DE8CE-DF5B-48CC-ADEF-CF3C67AE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62425"/>
            <a:ext cx="9048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FD8FF"/>
                </a:solidFill>
                <a:latin typeface="Aptos"/>
                <a:ea typeface="Aptos"/>
                <a:cs typeface="Aptos"/>
              </a:rPr>
              <a:t>logs</a:t>
            </a:r>
          </a:p>
        </p:txBody>
      </p:sp>
    </p:spTree>
    <p:extLst>
      <p:ext uri="{BB962C8B-B14F-4D97-AF65-F5344CB8AC3E}">
        <p14:creationId xmlns:p14="http://schemas.microsoft.com/office/powerpoint/2010/main" val="8761293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C33629-4D5F-4D22-8CBB-9B0FB9FD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CF7FD-F5FA-4792-A65B-88B268CE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9BFC51-668E-4B2A-A243-1ED3E0A2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04 / поток сообщения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13D01-76F6-4F5A-B2EA-462A3BA1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Как проходит сообщение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D264F0-A53C-428B-AEC3-6CF39EA3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Контролируемая последовательность: validate -&gt; encrypt -&gt; save -&gt; publish -&gt; visualize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C3C597-FBFF-4DD9-93BB-FCC63A15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A7ACC5-C71A-48A1-B06D-F5074A04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65B452-2B51-4186-8327-82B2010E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35C008-F186-48B0-8C85-8BF5E729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09750"/>
            <a:ext cx="2571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60F7F2-5D2E-4847-B579-CBC410DC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943100"/>
            <a:ext cx="2228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Выбор пользователя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DA9B95-830A-4746-B9DA-D4A6956A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66950"/>
            <a:ext cx="22288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клиент передаёт recipientId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E20C88-714E-4E2B-87D4-B22EBF62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09750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0837A4-E298-4124-B56B-BADCA661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52625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7459F9-FBEC-4D3E-9BC2-B59F6D72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809750"/>
            <a:ext cx="2571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731717-C77F-4B3A-9D73-51CFB3C7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943100"/>
            <a:ext cx="2228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Проверка сессии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4141FA-68FB-4EBF-8903-F5524B27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266950"/>
            <a:ext cx="22288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API требует Bearer token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7E8220-3E1E-4262-99C5-52B6B485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C0C772-9377-46CB-B41E-AD017E59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A36ED1-7AB0-4B41-97D2-0664A836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09750"/>
            <a:ext cx="2571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C3B449-6545-4912-8816-D6D17EE2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943100"/>
            <a:ext cx="2228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Криптоконтейнер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E9E4F8-2F57-4D1A-8B64-1650514E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22288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AES-256-GCM: iv, ciphertext, authTag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CED9FF-6648-42FD-AE3F-A913A3A5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E72982-902D-4909-8BBA-55566E1A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52875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785A87-87EA-4F67-B015-A3739208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10000"/>
            <a:ext cx="2571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91407D-3C21-4471-8621-5E8E10E7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43350"/>
            <a:ext cx="2228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PostgreSQL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215DE5-362C-4879-8A55-64B696CA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67200"/>
            <a:ext cx="22288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crypto_container сохраняется как JSONB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3D201F-E5A9-4EF8-B040-FD5E1340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10000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B726B9-A75C-49CB-A838-05C34DC22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952875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C9E3BA-A871-45B3-AACE-857E8493D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810000"/>
            <a:ext cx="2571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A0D095-04B4-4189-9A2B-9E874EF6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943350"/>
            <a:ext cx="2228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Kafka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D70351-A0DE-4E34-8EF5-0809CA8F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267200"/>
            <a:ext cx="22288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публикация в litebroker.chat.A__B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2F8F92-A17D-4C13-9AC9-55CC83DD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0000"/>
            <a:ext cx="57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707400-43C9-4B21-9745-6F7EF46D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52875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D760F8-CB6C-409C-8823-3D346371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810000"/>
            <a:ext cx="2571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F625ED-00A8-468E-AC4D-45D9600A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43350"/>
            <a:ext cx="2228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Grafana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BD74F4-9B84-4A97-9A27-AF9D4DC2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67200"/>
            <a:ext cx="22288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контейнер виден в логах Loki</a:t>
            </a:r>
          </a:p>
        </p:txBody>
      </p:sp>
    </p:spTree>
    <p:extLst>
      <p:ext uri="{BB962C8B-B14F-4D97-AF65-F5344CB8AC3E}">
        <p14:creationId xmlns:p14="http://schemas.microsoft.com/office/powerpoint/2010/main" val="71529032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72D6CD-4B38-4A7D-BD98-7E83B9D0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B104F6-0B4E-497C-B7C6-C8280661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6B1E1-89F2-4871-8D36-6A2AE040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05 / криптография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02A9E-C26D-4F8F-B3CE-77449C43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Криптоконтейнер AES-256-GCM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6F3C32-651E-44E1-9805-0A83D731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Шифрование и контроль целостности объединены в одном формате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0FF279-7743-49F1-8A03-7449C7F3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7477A6-E86C-431F-BC15-9EC64D4D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4143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6AD0BA-9C41-47BE-B2D5-80A4F194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3800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Почему AES-256-GCM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55E5B0-ED67-4E9A-8D7D-6AE9F987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3800475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256-битный ключ даёт большой запас стойкости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GCM относится к AEAD-режимам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authTag проверяет целостность ciphertext и metadata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AAD связывает метаданные с защищённой нагрузкой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EA1D91-E2E1-46C7-BC71-7F98A4A9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695450"/>
            <a:ext cx="54292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54FF9A-64E2-4097-A797-B82892FB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981200"/>
            <a:ext cx="49530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DE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DE8FF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 algn="l">
              <a:defRPr sz="1425" b="0">
                <a:solidFill>
                  <a:srgbClr val="CDE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DE8FF"/>
                </a:solidFill>
                <a:latin typeface="Consolas"/>
                <a:ea typeface="Consolas"/>
                <a:cs typeface="Consolas"/>
              </a:rPr>
              <a:t>  "version": 2,</a:t>
            </a:r>
          </a:p>
          <a:p xmlns:a="http://schemas.openxmlformats.org/drawingml/2006/main">
            <a:pPr algn="l">
              <a:defRPr sz="1425" b="0">
                <a:solidFill>
                  <a:srgbClr val="CDE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DE8FF"/>
                </a:solidFill>
                <a:latin typeface="Consolas"/>
                <a:ea typeface="Consolas"/>
                <a:cs typeface="Consolas"/>
              </a:rPr>
              <a:t>  "algorithm": "AES-256-GCM",</a:t>
            </a:r>
          </a:p>
          <a:p xmlns:a="http://schemas.openxmlformats.org/drawingml/2006/main">
            <a:pPr algn="l">
              <a:defRPr sz="1425" b="0">
                <a:solidFill>
                  <a:srgbClr val="CDE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DE8FF"/>
                </a:solidFill>
                <a:latin typeface="Consolas"/>
                <a:ea typeface="Consolas"/>
                <a:cs typeface="Consolas"/>
              </a:rPr>
              <a:t>  "iv": "base64...",</a:t>
            </a:r>
          </a:p>
          <a:p xmlns:a="http://schemas.openxmlformats.org/drawingml/2006/main">
            <a:pPr algn="l">
              <a:defRPr sz="1425" b="0">
                <a:solidFill>
                  <a:srgbClr val="CDE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DE8FF"/>
                </a:solidFill>
                <a:latin typeface="Consolas"/>
                <a:ea typeface="Consolas"/>
                <a:cs typeface="Consolas"/>
              </a:rPr>
              <a:t>  "ciphertext": "base64...",</a:t>
            </a:r>
          </a:p>
          <a:p xmlns:a="http://schemas.openxmlformats.org/drawingml/2006/main">
            <a:pPr algn="l">
              <a:defRPr sz="1425" b="0">
                <a:solidFill>
                  <a:srgbClr val="CDE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DE8FF"/>
                </a:solidFill>
                <a:latin typeface="Consolas"/>
                <a:ea typeface="Consolas"/>
                <a:cs typeface="Consolas"/>
              </a:rPr>
              <a:t>  "authTag": "base64...",</a:t>
            </a:r>
          </a:p>
          <a:p xmlns:a="http://schemas.openxmlformats.org/drawingml/2006/main">
            <a:pPr algn="l">
              <a:defRPr sz="1425" b="0">
                <a:solidFill>
                  <a:srgbClr val="CDE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DE8FF"/>
                </a:solidFill>
                <a:latin typeface="Consolas"/>
                <a:ea typeface="Consolas"/>
                <a:cs typeface="Consolas"/>
              </a:rPr>
              <a:t>  "metadata": {</a:t>
            </a:r>
          </a:p>
          <a:p xmlns:a="http://schemas.openxmlformats.org/drawingml/2006/main">
            <a:pPr algn="l">
              <a:defRPr sz="1425" b="0">
                <a:solidFill>
                  <a:srgbClr val="CDE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DE8FF"/>
                </a:solidFill>
                <a:latin typeface="Consolas"/>
                <a:ea typeface="Consolas"/>
                <a:cs typeface="Consolas"/>
              </a:rPr>
              <a:t>    "messageId": "msg_...",</a:t>
            </a:r>
          </a:p>
          <a:p xmlns:a="http://schemas.openxmlformats.org/drawingml/2006/main">
            <a:pPr algn="l">
              <a:defRPr sz="1425" b="0">
                <a:solidFill>
                  <a:srgbClr val="CDE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DE8FF"/>
                </a:solidFill>
                <a:latin typeface="Consolas"/>
                <a:ea typeface="Consolas"/>
                <a:cs typeface="Consolas"/>
              </a:rPr>
              <a:t>    "senderId": "user_...",</a:t>
            </a:r>
          </a:p>
          <a:p xmlns:a="http://schemas.openxmlformats.org/drawingml/2006/main">
            <a:pPr algn="l">
              <a:defRPr sz="1425" b="0">
                <a:solidFill>
                  <a:srgbClr val="CDE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DE8FF"/>
                </a:solidFill>
                <a:latin typeface="Consolas"/>
                <a:ea typeface="Consolas"/>
                <a:cs typeface="Consolas"/>
              </a:rPr>
              <a:t>    "recipientId": "user_...",</a:t>
            </a:r>
          </a:p>
          <a:p xmlns:a="http://schemas.openxmlformats.org/drawingml/2006/main">
            <a:pPr algn="l">
              <a:defRPr sz="1425" b="0">
                <a:solidFill>
                  <a:srgbClr val="CDE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DE8FF"/>
                </a:solidFill>
                <a:latin typeface="Consolas"/>
                <a:ea typeface="Consolas"/>
                <a:cs typeface="Consolas"/>
              </a:rPr>
              <a:t>    "chatTopic": "litebroker.chat.alice__bob"</a:t>
            </a:r>
          </a:p>
          <a:p xmlns:a="http://schemas.openxmlformats.org/drawingml/2006/main">
            <a:pPr algn="l">
              <a:defRPr sz="1425" b="0">
                <a:solidFill>
                  <a:srgbClr val="CDE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DE8FF"/>
                </a:solidFill>
                <a:latin typeface="Consolas"/>
                <a:ea typeface="Consolas"/>
                <a:cs typeface="Consolas"/>
              </a:rPr>
              <a:t>  }</a:t>
            </a:r>
          </a:p>
          <a:p xmlns:a="http://schemas.openxmlformats.org/drawingml/2006/main">
            <a:pPr algn="l">
              <a:defRPr sz="1425" b="0">
                <a:solidFill>
                  <a:srgbClr val="CDE8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DE8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9622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E8287F-BADD-4F51-A186-6E0E01EA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CC4FE0-F883-4BBD-AACC-79FB63E3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AE6FB-7335-4DB9-95E1-84A57BF0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06 / база данных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6A602C-93C6-4648-A9F6-ED4F9EFE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PostgreSQL как локальная БД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7A2587-9114-4EBA-BE51-A9E7F0477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Хранилище отделено от приложения и содержит только нужные таблицы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3B2FDF-9F0E-4448-8DA5-3C175F84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33956A-6910-4D64-B36C-5B47D4AC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80975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BD4758-44F7-466D-81FA-1F64204A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194310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users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680CED-E860-479E-B1E6-C080B573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266950"/>
            <a:ext cx="3752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учётные записи, salt/hash пароля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39682E-D7E4-458A-96D0-DDDA7788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14625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0D062-185C-4C90-A12C-D8392017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847975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sessions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110654-5F44-4AD5-AA61-B45D0D7B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171825"/>
            <a:ext cx="3752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токены активных сессий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328CF7-E934-49D1-97C8-1C0DD094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619500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468F6D-E0C0-488C-AF4C-7B51F6F6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75285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messages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0AE056-BCF9-4BAA-B9CE-50FD9240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076700"/>
            <a:ext cx="3752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история диалогов и crypto_container JSONB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1F9852-4C69-428E-A632-8B9A43C4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524375"/>
            <a:ext cx="4095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449908-6CE5-4FC3-9883-FC3517FF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657725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sensor_samples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048613-459E-48B4-B946-7B5D2470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981575"/>
            <a:ext cx="3752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замеры генератора датчиков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3F3971-0EFC-42F1-9FF9-09E8EB33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3494E8-56D5-4175-971D-6F2209B2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28850"/>
            <a:ext cx="3657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Почему не файл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D38F6D-4B47-43D9-B151-39B74750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365760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PostgreSQL даёт нормальную серверную модель: отдельный контейнер, связи, индексы, JSONB для контейнеров и воспроизводимое создание схемы при запуске.</a:t>
            </a:r>
          </a:p>
        </p:txBody>
      </p:sp>
    </p:spTree>
    <p:extLst>
      <p:ext uri="{BB962C8B-B14F-4D97-AF65-F5344CB8AC3E}">
        <p14:creationId xmlns:p14="http://schemas.microsoft.com/office/powerpoint/2010/main" val="10901849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D5A6AD-AB7C-42D1-8953-B7723A3A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72AE5-87E0-4B93-9132-235C07C4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E5FA8C-FB93-4205-8C46-66CD5B46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07 / Kafka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354FE2-2CE2-4037-A2B9-CDA24654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Топики Kafka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F94E8-9EA1-446C-A761-D49A7D0B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Брокер разделяет потоки переписки и телеметрии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6A160F-D040-43B2-B704-9166DCEF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21659D-85AC-43CA-81EE-720AB0FA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4476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EBD2F-BFB9-4783-A50A-90971B2E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413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Chat topic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1AC63F-7955-4278-8403-533B433C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57450"/>
            <a:ext cx="41338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litebroker.chat.&lt;userA&gt;__&lt;userB&gt;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Пример: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litebroker.chat.alice__bob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Содержит eventType=chat.message.container и cryptoContainer.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495E58-A3EF-47D9-B06C-E6FDFA64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44767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A0A0EA-C4C1-43C5-9226-5E92C575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33600"/>
            <a:ext cx="413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Sensor topic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DE549F-53A4-4626-8B51-AA3A6B12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57450"/>
            <a:ext cx="413385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litebroker.sensors.random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Содержит temperature, humidity, pressure, createdAt.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Этот поток не связан с CryptoService и не смешивается с перепиской.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ACE81F-066D-4D0A-BF74-922934FA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810125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47"/>
          </a:solidFill>
          <a:ln xmlns:a="http://schemas.openxmlformats.org/drawingml/2006/main" w="0">
            <a:solidFill>
              <a:srgbClr val="3D8D4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BA2F96-3DA4-4550-BD0A-69F4ED03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8768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отдельный топик на диалог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468709-0746-41C8-AC42-DB96C6243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810125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47"/>
          </a:solidFill>
          <a:ln xmlns:a="http://schemas.openxmlformats.org/drawingml/2006/main" w="0">
            <a:solidFill>
              <a:srgbClr val="3D8D4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98BF6C-7080-4761-9AD0-D7DCDF4C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8768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отдельный топик датчиков</a:t>
            </a:r>
          </a:p>
        </p:txBody>
      </p:sp>
    </p:spTree>
    <p:extLst>
      <p:ext uri="{BB962C8B-B14F-4D97-AF65-F5344CB8AC3E}">
        <p14:creationId xmlns:p14="http://schemas.microsoft.com/office/powerpoint/2010/main" val="214147399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ECE8A6-F2F6-4A74-9715-113FE874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9FB9F9-CDA2-4BFF-B7A4-BEC39561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5FD86B-55BA-4AF4-9BCC-F2DA9B17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08 / наблюдаемость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6049E5-BC69-43C3-93C1-9F17DCB6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Grafana и Prometheus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DA3EC0-16F4-440E-8D68-EF67B5E6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Мониторинг нужен для защиты: состояние системы видно на защите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B346C9-6D3E-4FDE-B477-ED235C22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5BCD88-F3B2-472A-87CA-9DE605EB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57375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6328D1-6F67-4241-82F7-5FC25911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90725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Дашборд 1</a:t>
            </a:r>
          </a:p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Показания датчиков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4D81F9-3A2B-4C7C-ACAE-63065779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14575"/>
            <a:ext cx="280035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Источник: Prometheus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Показывает: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temperature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humidity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pressure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total samples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Kafka readiness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C0F247-ABF9-4C7C-A177-8C8731A4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857375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BDD605-5D74-4383-8812-32B36897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990725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Дашборд 2</a:t>
            </a:r>
          </a:p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Криптоконтейнеры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A1E7B-B20C-466A-81A6-66BED03E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314575"/>
            <a:ext cx="280035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Источник: Loki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Показывает: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chat topic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ciphertext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authTag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metadata</a:t>
            </a:r>
          </a:p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• timestamp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5A73DE-B6CB-406D-A5E7-13DA8B5E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57375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8221B2-BA37-41AA-A212-01571443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990725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Зачем это нужно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AD0A7A-B18C-406C-B5FC-1A27087B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14575"/>
            <a:ext cx="280035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Можно доказать, что сообщения реально уходят как контейнеры, а датчики идут отдельным потоком. Это связывает реализацию с концепцией безопасности.</a:t>
            </a:r>
          </a:p>
        </p:txBody>
      </p:sp>
    </p:spTree>
    <p:extLst>
      <p:ext uri="{BB962C8B-B14F-4D97-AF65-F5344CB8AC3E}">
        <p14:creationId xmlns:p14="http://schemas.microsoft.com/office/powerpoint/2010/main" val="6286373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7D46FC-2BB1-4BE6-B525-44766665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44F65C-3241-4F9B-855B-08009C6FC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7927B-D507-472B-AD0D-A254C1DA9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09 / политика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D12065-8236-49EE-8D77-D6996522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Архитектура политики безопасности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64DAAA-03B4-44DC-8DBF-FA221536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Пользователь не имеет прямого доступа к критичным компонентам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DE24D-31A7-490B-8C63-16828E71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3C1DD-B780-4656-9C11-1DE461F5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66875"/>
            <a:ext cx="419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C212AE-570D-42FF-8258-E9940903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00225"/>
            <a:ext cx="3848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A5D90D-4B26-415F-A41C-F072E393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24075"/>
            <a:ext cx="384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может обращаться только к LiteBroker API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1746E5-D613-49C3-923B-71C9DC5C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66875"/>
            <a:ext cx="419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63F1B8-8E14-430E-B146-B4805D06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00225"/>
            <a:ext cx="3848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LiteBroker API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249B64-FF8C-493B-8B42-63C49720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24075"/>
            <a:ext cx="384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единственная точка принятия решений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6E03F1-3117-4563-8E83-0D02FA0F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9875"/>
            <a:ext cx="419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3B73A7-36F2-4D29-9319-8697800E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43225"/>
            <a:ext cx="3848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PostgreSQL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8698BB-0AAC-45EE-AFA5-D5EC6123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67075"/>
            <a:ext cx="384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доступен только серверу приложения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C809E5-E81C-41EC-8CCF-BD2474AA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809875"/>
            <a:ext cx="419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00FBFC-6E03-4448-A112-4F6C181E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43225"/>
            <a:ext cx="3848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Kafka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004AA4-203D-44E9-BF72-3414D826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67075"/>
            <a:ext cx="384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получает события только от LiteBroker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E1CCB3-317C-43BA-A487-E6F75FF4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52875"/>
            <a:ext cx="4191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9875EB-0986-4C6A-A444-1E584EFC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86225"/>
            <a:ext cx="3848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Grafana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8EF436-625E-4C36-90DE-4B24786D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10075"/>
            <a:ext cx="384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читает метрики и логи, не меняет бизнес-данные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177A07-AB2E-48D8-A60B-4547D657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29250"/>
            <a:ext cx="9144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Итог: поверхность атаки меньше, а правила взаимодействия компонентов проверяемы.</a:t>
            </a:r>
          </a:p>
        </p:txBody>
      </p:sp>
    </p:spTree>
    <p:extLst>
      <p:ext uri="{BB962C8B-B14F-4D97-AF65-F5344CB8AC3E}">
        <p14:creationId xmlns:p14="http://schemas.microsoft.com/office/powerpoint/2010/main" val="4453700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527851-A85A-4094-B196-6674B1BF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9EC018-C17F-435A-A55E-C01ECE43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C8F785-AD3D-48C3-9BC8-B21C25B2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10 / изоляция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1738D-F40A-427C-8390-157A5CC3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Механизмы изоляции и контроля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9D868-5EBA-46AC-8065-1086C598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Что выбрано и почему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9623B4-337B-41D1-A113-096B4EFF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0694CA-B0DD-48AF-96A2-F588B831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143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EBB365-AFD7-4CF0-A97D-0FB2CDA4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95475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Docker Compose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CC580-3904-4FB3-9D33-76E03349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19325"/>
            <a:ext cx="2800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изолированные сервисы и воспроизводимый запуск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194571-743C-453E-AC1A-89827CC2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62125"/>
            <a:ext cx="3143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60F5EF-F5A1-4C61-A6E4-C8107D705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95475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Kafka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6CD3DD-80FD-49EE-9E0F-1E6EEC6D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19325"/>
            <a:ext cx="2800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контролируемая асинхронная шина сообщений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1C5169-C3E6-4DF1-81A7-5F63FE5C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62125"/>
            <a:ext cx="3143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FA9D92-E12B-420F-9401-3B6E31F9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95475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PostgreSQL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476F4F-8550-4CA8-A123-E6989B73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219325"/>
            <a:ext cx="2800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надёжное локальное хранилище с JSONB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3E8B01-50EE-4831-85B3-FE522F9E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3143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D390DC-5B03-4633-84A7-3C83B5D6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9975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AES-256-GCM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9943B7-EE9C-4DC3-890A-0C0D675E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33825"/>
            <a:ext cx="2800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конфиденциальность плюс целостность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0518D9-C11A-4E04-93A8-1F2B1A19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476625"/>
            <a:ext cx="3143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4E8FF9-A241-4521-8AF4-398A2138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09975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Prometheus/Loki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1E1D56-50A6-43FA-B575-0D8074E6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33825"/>
            <a:ext cx="2800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контроль технического состояния и аудит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056B47-FBA2-4362-9D5A-A16495FE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76625"/>
            <a:ext cx="3143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813DAC-D811-4D3A-8C90-5E278F4F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09975"/>
            <a:ext cx="2800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API token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7DA799-FD4E-4BF8-8265-93CE40B2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33825"/>
            <a:ext cx="2800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запрет доступа к сообщениям без сессии</a:t>
            </a:r>
          </a:p>
        </p:txBody>
      </p:sp>
    </p:spTree>
    <p:extLst>
      <p:ext uri="{BB962C8B-B14F-4D97-AF65-F5344CB8AC3E}">
        <p14:creationId xmlns:p14="http://schemas.microsoft.com/office/powerpoint/2010/main" val="175555651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B23C53-EE5C-4843-8860-F06C5FC8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6C90A2-AFE5-4B21-99A9-EA5E5124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212B0A-0038-4033-9C5C-242AA375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11 / СКИБ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8E2ED3-742D-4E07-BFA8-ED73D014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Шаблоны конструктивной информационной безопасности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F4602F-CDDB-41C1-B428-822F1BB8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Как идеи security by design проявлены в проекте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F9E26-8386-42DF-AB32-A6ED446C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876A9B-4E42-4838-BEAF-C214046D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104B9-014B-4A9D-9F2E-F6A464AEB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4F8FB"/>
                </a:solidFill>
                <a:latin typeface="Aptos"/>
                <a:ea typeface="Aptos"/>
                <a:cs typeface="Aptos"/>
              </a:rPr>
              <a:t>минимизация поверхности атаки: пользователь видит только web/API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ECF24F-EF54-4269-8230-2A7A1F076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384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87932-518A-45F0-B89F-C70A0C0B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622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4F8FB"/>
                </a:solidFill>
                <a:latin typeface="Aptos"/>
                <a:ea typeface="Aptos"/>
                <a:cs typeface="Aptos"/>
              </a:rPr>
              <a:t>изоляция компонентов: отдельные контейнеры и volumes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B4A9E8-9EF2-401C-B24C-F1E9DB3E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75AA5B-51ED-48B6-B367-A8EEDE1ED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4F8FB"/>
                </a:solidFill>
                <a:latin typeface="Aptos"/>
                <a:ea typeface="Aptos"/>
                <a:cs typeface="Aptos"/>
              </a:rPr>
              <a:t>разделение доменов: chat topic отдельно от sensor topic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35AD3B-833A-49EB-9ECC-B0995D26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433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A1552-CD11-40DC-B28F-E8699B2E9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671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4F8FB"/>
                </a:solidFill>
                <a:latin typeface="Aptos"/>
                <a:ea typeface="Aptos"/>
                <a:cs typeface="Aptos"/>
              </a:rPr>
              <a:t>контроль целостности: authTag AES-GCM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06A7F8-E00A-4650-91D0-041F8AE5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B24B75-6E0F-4A2C-8C83-88A242AA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4F8FB"/>
                </a:solidFill>
                <a:latin typeface="Aptos"/>
                <a:ea typeface="Aptos"/>
                <a:cs typeface="Aptos"/>
              </a:rPr>
              <a:t>наблюдаемость: метрики и JSONL-логи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936874-F3A9-4D78-B66D-B4B47B39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42A8D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215B3-B2FD-487C-B2E2-B3C7E10E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720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F4F8FB"/>
                </a:solidFill>
                <a:latin typeface="Aptos"/>
                <a:ea typeface="Aptos"/>
                <a:cs typeface="Aptos"/>
              </a:rPr>
              <a:t>явная политика доступа: все бизнес-endpoint требуют сессию</a:t>
            </a:r>
          </a:p>
        </p:txBody>
      </p:sp>
    </p:spTree>
    <p:extLst>
      <p:ext uri="{BB962C8B-B14F-4D97-AF65-F5344CB8AC3E}">
        <p14:creationId xmlns:p14="http://schemas.microsoft.com/office/powerpoint/2010/main" val="214142442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18859E-AE8F-4371-9E2D-7DD0C0ED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B845BA-7FD3-4582-8081-B41FD269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B3FCBB-6626-4B96-9545-69F9D3DD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12 / паттерны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8854E1-3A01-4CBA-9117-25FE0E29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Паттерны проектирования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20AC8-ED4F-4134-8DAF-521B0747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Использованы не ради списка, а как объяснение структуры кода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D51E92-C5E9-4761-A80F-CD03B893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B8B672-F452-4F6F-A972-00C24FAA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457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BB5F4-DE46-41D0-9286-3FF5C187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0225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Facade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D9C6BB-40F3-4ECD-832B-B12CA32F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24075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HTTP API скрывает БД, Kafka и CryptoService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ABABCA-6A30-4C7D-81EA-F1D8E643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66875"/>
            <a:ext cx="457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E4F9CE-01CA-4C40-9B43-FB75E856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00225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Strategy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5C5CF1-6438-4E87-B7F7-805809F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124075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шифрование вынесено в отдельные функции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088C6-DF71-4FF3-B5C4-03D325FC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457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86B4C6-BDBC-44C6-B113-E979CB58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Factory Method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26425C-91CE-490B-A830-CBA82B7D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единое создание cryptoContainer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C3F730-58BD-4B19-85A7-66F68778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57500"/>
            <a:ext cx="457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BED42B-0DE1-4A27-AE40-580449436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90850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Mediator/Broker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EF5462-20D7-40C6-8B91-AA365716B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1470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Kafka связывает потоки событий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E8DBFF-FCD5-409D-B9B7-1BBDB6FC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48125"/>
            <a:ext cx="457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6AEEF6-381A-4975-84DB-39D5FFC0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81475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Observer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8F9410-902E-4AA2-AD95-036CC1F2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05325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Prometheus/Loki/Grafana наблюдают систему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47FD43-4AEA-4A91-A9EF-0E0DA142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048125"/>
            <a:ext cx="4572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D08357-089A-4114-AF14-1266C450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81475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DTO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0C2F8D-267E-48F5-8C21-62443E4F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05325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publicUser/messageDto не отдают password_hash</a:t>
            </a:r>
          </a:p>
        </p:txBody>
      </p:sp>
    </p:spTree>
    <p:extLst>
      <p:ext uri="{BB962C8B-B14F-4D97-AF65-F5344CB8AC3E}">
        <p14:creationId xmlns:p14="http://schemas.microsoft.com/office/powerpoint/2010/main" val="126477996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7216AF-9FF9-4850-9FFB-791674C0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3E38EE-A111-4476-81A9-B6E78270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435394-7FB8-461F-AF31-727448A3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13 / UML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D1FF21-5EB9-4A08-BDE8-0FBE6361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UML-диаграмма классов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2E908-6CE4-47ED-991C-245ABFA1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CryptoService связан с сообщениями; SensorGenerator пишет отдельный поток датчиков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DEE61D-8504-4209-9B65-34180A2A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0c93c7c2604d5c"/>
          <a:stretch xmlns:a="http://schemas.openxmlformats.org/drawingml/2006/main"/>
        </p:blipFill>
        <p:spPr>
          <a:xfrm xmlns:a="http://schemas.openxmlformats.org/drawingml/2006/main">
            <a:off x="2288041" y="1543050"/>
            <a:ext cx="7654018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881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AD672B-F7A5-4D2D-8B8A-A9DDEC9A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D73EEB-2169-4589-B2C3-0E2CE161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87074-9713-4B03-AF55-E97D001A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14 / тестирование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AB171F-4541-49F3-9695-8DF3D9B9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Подход к тестированию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218DA6-BC15-41DA-8678-453DFA72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Проверяли код, инфраструктуру, сценарии и наблюдаемость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E2F2F-327F-4358-97D2-62E74AB8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788F6-6183-413E-BE72-EE21D98E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457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953F66-34BC-4F5F-A327-D98DB1DF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66900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Синтаксис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54AC81-99A5-4A62-9C6D-6AA90D71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90750"/>
            <a:ext cx="422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node --check LiteBroker/server.mjs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53D05-8725-4CF5-834A-859161CB3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33550"/>
            <a:ext cx="457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C7037D-7D15-49D9-ACBB-5E9E170B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66900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Compose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939F5D-5905-41D1-B1C5-06FA0447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90750"/>
            <a:ext cx="422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docker compose config --quiet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4714C5-BA67-4A5A-AF11-24198041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457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337E88-67AC-4C38-827B-13CC8F63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Запуск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BCA68-6E33-475D-9046-70A59D75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422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docker compose up --build -d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85AB93-FAF4-45FC-8721-8780A57C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57500"/>
            <a:ext cx="457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BF9C21-04A7-43C0-83E9-7E7FD2A8C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990850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Health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3584BA-B3F7-4716-AD7A-6205EFC0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14700"/>
            <a:ext cx="422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GET /api/health: postgres=true, AES-256-GCM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D94D19-7F26-466C-A0AF-4DFB937D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457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8E61E4-7F2F-4E0F-BEFD-72385D71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14800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БД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28C528-0F15-4B75-8F7F-496B021A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38650"/>
            <a:ext cx="422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таблицы users, sessions, messages, sensor_samples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7A154B-43CA-473C-B8B1-6BDAD8A8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81450"/>
            <a:ext cx="4572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A7F91D-8E50-4DCD-B07E-F17156FC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14800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UX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FEC876-171B-44CA-A889-92672958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38650"/>
            <a:ext cx="422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login, выбор пользователя, отправка, просмотр контейнера</a:t>
            </a:r>
          </a:p>
        </p:txBody>
      </p:sp>
    </p:spTree>
    <p:extLst>
      <p:ext uri="{BB962C8B-B14F-4D97-AF65-F5344CB8AC3E}">
        <p14:creationId xmlns:p14="http://schemas.microsoft.com/office/powerpoint/2010/main" val="128692508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FBB9AC-1F93-4B0D-9FD7-A8789E19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C50C19-C96B-4C83-9ED9-443EBB2D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A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D0B3C-7A5C-4A5C-B8C9-FB8DA3C8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667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FD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FD8FF"/>
                </a:solidFill>
                <a:latin typeface="Aptos"/>
                <a:ea typeface="Aptos"/>
                <a:cs typeface="Aptos"/>
              </a:rPr>
              <a:t>15 / итог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23E06-95E7-4692-8F2A-53BD43D4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8650"/>
            <a:ext cx="838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4F8FB"/>
                </a:solidFill>
                <a:latin typeface="Aptos Display"/>
                <a:ea typeface="Aptos Display"/>
                <a:cs typeface="Aptos Display"/>
              </a:rPr>
              <a:t>Итог проекта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E3F5A7-22CC-4BE8-9BDF-6C7006AE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 готов как учебный стенд для защиты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86A9CF-9CD8-4472-B014-648DE25D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238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EBDCA"/>
                </a:solidFill>
                <a:latin typeface="Aptos"/>
                <a:ea typeface="Aptos"/>
                <a:cs typeface="Aptos"/>
              </a:rPr>
              <a:t>LiteBroker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C06515-47EF-432D-887A-10B45AEC7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809750"/>
            <a:ext cx="9525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3249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0743DC-121E-491F-963F-662D5D6A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1943100"/>
            <a:ext cx="9182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Что получилось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3C563-11E8-4A3C-84B5-BFB08C75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266950"/>
            <a:ext cx="918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Рабочий веб-чат с выбором собеседника, PostgreSQL, Kafka, криптоконтейнерами AES-256-GCM, генератором датчиков и двумя дашбордами Grafana.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883E75-4289-402E-B9C4-0A2A6406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90875"/>
            <a:ext cx="95250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3052E2-C036-4DB1-87CC-C07C9160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324225"/>
            <a:ext cx="9182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Что демонстрировать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C907D4-0CA5-401A-A7DC-4229B141F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648075"/>
            <a:ext cx="91821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1. Войти как alice/bob. 2. Выбрать собеседника. 3. Отправить сообщение. 4. Показать crypto containers info. 5. Открыть Kafka UI и Grafana.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DC877F-9436-44B6-A6B1-F92D475A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552950"/>
            <a:ext cx="9525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637"/>
          </a:solidFill>
          <a:ln xmlns:a="http://schemas.openxmlformats.org/drawingml/2006/main" w="9525">
            <a:solidFill>
              <a:srgbClr val="35506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7B707D-9B8B-4869-84AA-31884856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686300"/>
            <a:ext cx="9182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8F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4F8FB"/>
                </a:solidFill>
                <a:latin typeface="Aptos"/>
                <a:ea typeface="Aptos"/>
                <a:cs typeface="Aptos"/>
              </a:rPr>
              <a:t>Развитие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45F35A-FF8D-4BE0-86EB-B66AD71D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010150"/>
            <a:ext cx="91821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AEBDC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EBDCA"/>
                </a:solidFill>
                <a:latin typeface="Aptos"/>
                <a:ea typeface="Aptos"/>
                <a:cs typeface="Aptos"/>
              </a:rPr>
              <a:t>WebSocket вместо polling, TLS/SASL для Kafka, Docker secrets, audit_log, автоматические integration tests.</a:t>
            </a:r>
          </a:p>
        </p:txBody>
      </p:sp>
    </p:spTree>
    <p:extLst>
      <p:ext uri="{BB962C8B-B14F-4D97-AF65-F5344CB8AC3E}">
        <p14:creationId xmlns:p14="http://schemas.microsoft.com/office/powerpoint/2010/main" val="1786019940"/>
      </p:ext>
    </p:extLst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20000"/>
            <a:ext cx="11500000" cy="520000"/>
          </a:xfrm>
        </p:spPr>
        <p:txBody>
          <a:bodyPr/>
          <a:lstStyle/>
          <a:p>
            <a:r>
              <a:rPr lang="ru-RU" sz="3000" b="1">
                <a:solidFill>
                  <a:srgbClr val="111827"/>
                </a:solidFill>
              </a:rPr>
              <a:t>Диаграмма взаимодействия и доверенности</a:t>
            </a:r>
          </a:p>
        </p:txBody>
      </p:sp>
      <p:pic>
        <p:nvPicPr>
          <p:cNvPr id="3" name="variant_04_trust_domains_architectur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540000" y="880000"/>
            <a:ext cx="11600000" cy="67666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2026-05-29T09:29:24.6850000Z</dcterms:created>
  <dcterms:modified xsi:type="dcterms:W3CDTF">2026-05-29T09:29:24.6850000Z</dcterms:modified>
</coreProperties>
</file>