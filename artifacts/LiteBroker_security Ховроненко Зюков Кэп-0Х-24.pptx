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71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15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1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4272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28C8F7D-F4D2-404F-E943-05BED440BDF4}"/>
              </a:ext>
            </a:extLst>
          </p:cNvPr>
          <p:cNvSpPr/>
          <p:nvPr/>
        </p:nvSpPr>
        <p:spPr>
          <a:xfrm rot="10800000">
            <a:off x="-117756" y="-138898"/>
            <a:ext cx="12427512" cy="7135796"/>
          </a:xfrm>
          <a:prstGeom prst="rect">
            <a:avLst/>
          </a:prstGeom>
          <a:solidFill>
            <a:srgbClr val="0F15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dirty="0">
              <a:solidFill>
                <a:schemeClr val="bg2">
                  <a:lumMod val="90000"/>
                </a:schemeClr>
              </a:solidFill>
              <a:latin typeface="Impact" panose="020B080603090205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F0A362-B785-EC3E-BA75-838A98C89AB7}"/>
              </a:ext>
            </a:extLst>
          </p:cNvPr>
          <p:cNvSpPr txBox="1"/>
          <p:nvPr/>
        </p:nvSpPr>
        <p:spPr>
          <a:xfrm>
            <a:off x="1302658" y="1694934"/>
            <a:ext cx="1244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5400" dirty="0" err="1">
                <a:solidFill>
                  <a:schemeClr val="bg1"/>
                </a:solidFill>
                <a:latin typeface="Impact" panose="020B0806030902050204" pitchFamily="34" charset="0"/>
              </a:rPr>
              <a:t>Система</a:t>
            </a:r>
            <a:r>
              <a:rPr lang="en-US" sz="5400" dirty="0">
                <a:solidFill>
                  <a:schemeClr val="bg1"/>
                </a:solidFill>
                <a:latin typeface="Impact" panose="020B0806030902050204" pitchFamily="34" charset="0"/>
              </a:rPr>
              <a:t> </a:t>
            </a:r>
            <a:r>
              <a:rPr lang="en-US" sz="5400" dirty="0" err="1">
                <a:solidFill>
                  <a:schemeClr val="bg1"/>
                </a:solidFill>
                <a:latin typeface="Impact" panose="020B0806030902050204" pitchFamily="34" charset="0"/>
              </a:rPr>
              <a:t>обмена</a:t>
            </a:r>
            <a:r>
              <a:rPr lang="en-US" sz="5400" dirty="0">
                <a:solidFill>
                  <a:schemeClr val="bg1"/>
                </a:solidFill>
                <a:latin typeface="Impact" panose="020B0806030902050204" pitchFamily="34" charset="0"/>
              </a:rPr>
              <a:t> </a:t>
            </a:r>
            <a:r>
              <a:rPr lang="en-US" sz="5400" dirty="0" err="1">
                <a:solidFill>
                  <a:schemeClr val="bg1"/>
                </a:solidFill>
                <a:latin typeface="Impact" panose="020B0806030902050204" pitchFamily="34" charset="0"/>
              </a:rPr>
              <a:t>сообщениями</a:t>
            </a:r>
            <a:r>
              <a:rPr lang="en-US" sz="5400" dirty="0">
                <a:solidFill>
                  <a:schemeClr val="bg1"/>
                </a:solidFill>
                <a:latin typeface="Impact" panose="020B0806030902050204" pitchFamily="34" charset="0"/>
              </a:rPr>
              <a:t> с </a:t>
            </a:r>
            <a:r>
              <a:rPr lang="en-US" sz="5400" dirty="0" err="1">
                <a:solidFill>
                  <a:schemeClr val="bg1"/>
                </a:solidFill>
                <a:latin typeface="Impact" panose="020B0806030902050204" pitchFamily="34" charset="0"/>
              </a:rPr>
              <a:t>криптографической</a:t>
            </a:r>
            <a:r>
              <a:rPr lang="en-US" sz="5400" dirty="0">
                <a:solidFill>
                  <a:schemeClr val="bg1"/>
                </a:solidFill>
                <a:latin typeface="Impact" panose="020B0806030902050204" pitchFamily="34" charset="0"/>
              </a:rPr>
              <a:t> </a:t>
            </a:r>
            <a:r>
              <a:rPr lang="en-US" sz="5400" dirty="0" err="1">
                <a:solidFill>
                  <a:schemeClr val="bg1"/>
                </a:solidFill>
                <a:latin typeface="Impact" panose="020B0806030902050204" pitchFamily="34" charset="0"/>
              </a:rPr>
              <a:t>защитой</a:t>
            </a:r>
            <a:r>
              <a:rPr lang="en-US" sz="5400" dirty="0">
                <a:solidFill>
                  <a:schemeClr val="bg1"/>
                </a:solidFill>
                <a:latin typeface="Impact" panose="020B0806030902050204" pitchFamily="34" charset="0"/>
              </a:rPr>
              <a:t> </a:t>
            </a:r>
            <a:r>
              <a:rPr lang="en-US" sz="5400" dirty="0" err="1">
                <a:solidFill>
                  <a:schemeClr val="bg1"/>
                </a:solidFill>
                <a:latin typeface="Impact" panose="020B0806030902050204" pitchFamily="34" charset="0"/>
              </a:rPr>
              <a:t>информации</a:t>
            </a:r>
            <a:endParaRPr lang="en-US" sz="54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76068B-3E3E-B9C2-E08F-CB1192B1019F}"/>
              </a:ext>
            </a:extLst>
          </p:cNvPr>
          <p:cNvSpPr txBox="1"/>
          <p:nvPr/>
        </p:nvSpPr>
        <p:spPr>
          <a:xfrm>
            <a:off x="1371600" y="4608144"/>
            <a:ext cx="2294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2">
                    <a:lumMod val="90000"/>
                  </a:schemeClr>
                </a:solidFill>
                <a:latin typeface="Impact" panose="020B0806030902050204" pitchFamily="34" charset="0"/>
              </a:rPr>
              <a:t>Зюков Александр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476A3F-4599-ED82-C19D-908561C379C7}"/>
              </a:ext>
            </a:extLst>
          </p:cNvPr>
          <p:cNvSpPr txBox="1"/>
          <p:nvPr/>
        </p:nvSpPr>
        <p:spPr>
          <a:xfrm>
            <a:off x="3543315" y="4608144"/>
            <a:ext cx="23337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chemeClr val="bg2">
                    <a:lumMod val="90000"/>
                  </a:schemeClr>
                </a:solidFill>
                <a:latin typeface="Impact" panose="020B0806030902050204" pitchFamily="34" charset="0"/>
              </a:rPr>
              <a:t>Ховроненко</a:t>
            </a:r>
            <a:r>
              <a:rPr lang="ru-RU" dirty="0">
                <a:solidFill>
                  <a:schemeClr val="bg2">
                    <a:lumMod val="90000"/>
                  </a:schemeClr>
                </a:solidFill>
                <a:latin typeface="Impact" panose="020B0806030902050204" pitchFamily="34" charset="0"/>
              </a:rPr>
              <a:t> Андрей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495E10-6E10-1390-9207-9D436E8CABE8}"/>
              </a:ext>
            </a:extLst>
          </p:cNvPr>
          <p:cNvSpPr txBox="1"/>
          <p:nvPr/>
        </p:nvSpPr>
        <p:spPr>
          <a:xfrm>
            <a:off x="1371600" y="4978400"/>
            <a:ext cx="22943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solidFill>
                  <a:schemeClr val="bg2">
                    <a:lumMod val="90000"/>
                  </a:schemeClr>
                </a:solidFill>
                <a:latin typeface="Impact" panose="020B0806030902050204" pitchFamily="34" charset="0"/>
              </a:rPr>
              <a:t>КЭП-01-24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3D5DE3-B02D-0EFC-96E0-8035E933E070}"/>
              </a:ext>
            </a:extLst>
          </p:cNvPr>
          <p:cNvSpPr txBox="1"/>
          <p:nvPr/>
        </p:nvSpPr>
        <p:spPr>
          <a:xfrm>
            <a:off x="3543315" y="4978400"/>
            <a:ext cx="22943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solidFill>
                  <a:schemeClr val="bg2">
                    <a:lumMod val="90000"/>
                  </a:schemeClr>
                </a:solidFill>
                <a:latin typeface="Impact" panose="020B0806030902050204" pitchFamily="34" charset="0"/>
              </a:rPr>
              <a:t>КЭП-03-24</a:t>
            </a:r>
          </a:p>
        </p:txBody>
      </p:sp>
    </p:spTree>
    <p:extLst>
      <p:ext uri="{BB962C8B-B14F-4D97-AF65-F5344CB8AC3E}">
        <p14:creationId xmlns:p14="http://schemas.microsoft.com/office/powerpoint/2010/main" val="34578181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30352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5F8FB"/>
                </a:solidFill>
              </a:rPr>
              <a:t>LiteBroker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94360" y="117043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A9B5C2"/>
                </a:solidFill>
              </a:rPr>
              <a:t>Система обмена сообщениями с криптографической защитой информации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58368" y="2148840"/>
            <a:ext cx="2148840" cy="822960"/>
          </a:xfrm>
          <a:prstGeom prst="rect">
            <a:avLst/>
          </a:prstGeom>
          <a:solidFill>
            <a:srgbClr val="6F4AA2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2258568"/>
            <a:ext cx="1892808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Kafka broker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3200400" y="2148840"/>
            <a:ext cx="2743200" cy="822960"/>
          </a:xfrm>
          <a:prstGeom prst="rect">
            <a:avLst/>
          </a:prstGeom>
          <a:solidFill>
            <a:srgbClr val="328637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8416" y="2258568"/>
            <a:ext cx="2487168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AES-256-GCM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crypto containers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55080" y="2148840"/>
            <a:ext cx="2468880" cy="822960"/>
          </a:xfrm>
          <a:prstGeom prst="rect">
            <a:avLst/>
          </a:prstGeom>
          <a:solidFill>
            <a:srgbClr val="1F9BD1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83096" y="2258568"/>
            <a:ext cx="2212848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Sensor topic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random telemetry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189720" y="2148840"/>
            <a:ext cx="2057400" cy="822960"/>
          </a:xfrm>
          <a:prstGeom prst="rect">
            <a:avLst/>
          </a:prstGeom>
          <a:solidFill>
            <a:srgbClr val="E49B37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17736" y="2258568"/>
            <a:ext cx="1801368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Grafana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observability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58368" y="3977640"/>
            <a:ext cx="10561320" cy="1143000"/>
          </a:xfrm>
          <a:prstGeom prst="rect">
            <a:avLst/>
          </a:prstGeom>
          <a:solidFill>
            <a:srgbClr val="05080C"/>
          </a:solidFill>
          <a:ln w="12700">
            <a:solidFill>
              <a:srgbClr val="31435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4087368"/>
            <a:ext cx="10341864" cy="9235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C4DD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 algorithm, iv, ciphertext, authTag, metadata }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502920" y="6336792"/>
            <a:ext cx="11155680" cy="0"/>
          </a:xfrm>
          <a:prstGeom prst="line">
            <a:avLst/>
          </a:prstGeom>
          <a:noFill/>
          <a:ln w="8890">
            <a:solidFill>
              <a:srgbClr val="31435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428232"/>
            <a:ext cx="978408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750" dirty="0" err="1">
                <a:solidFill>
                  <a:srgbClr val="7F8EA0"/>
                </a:solidFill>
              </a:rPr>
              <a:t>Проект</a:t>
            </a:r>
            <a:r>
              <a:rPr lang="en-US" sz="750" dirty="0">
                <a:solidFill>
                  <a:srgbClr val="7F8EA0"/>
                </a:solidFill>
              </a:rPr>
              <a:t> </a:t>
            </a:r>
            <a:r>
              <a:rPr lang="en-US" sz="750" dirty="0" err="1">
                <a:solidFill>
                  <a:srgbClr val="7F8EA0"/>
                </a:solidFill>
              </a:rPr>
              <a:t>LiteBroker</a:t>
            </a:r>
            <a:r>
              <a:rPr lang="en-US" sz="750" dirty="0">
                <a:solidFill>
                  <a:srgbClr val="7F8EA0"/>
                </a:solidFill>
              </a:rPr>
              <a:t> 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018520" y="6382512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5C2"/>
                </a:solidFill>
              </a:rPr>
              <a:t>01</a:t>
            </a:r>
            <a:endParaRPr lang="en-US" sz="1000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8FF400F-75BE-DD45-A774-A15E0B31EA9E}"/>
              </a:ext>
            </a:extLst>
          </p:cNvPr>
          <p:cNvSpPr/>
          <p:nvPr/>
        </p:nvSpPr>
        <p:spPr>
          <a:xfrm>
            <a:off x="4513943" y="3265714"/>
            <a:ext cx="1429657" cy="300446"/>
          </a:xfrm>
          <a:prstGeom prst="rect">
            <a:avLst/>
          </a:prstGeom>
          <a:solidFill>
            <a:srgbClr val="0F151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9BD1"/>
                </a:solidFill>
              </a:rPr>
              <a:t>КОНТЕКСТ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5F8FB"/>
                </a:solidFill>
              </a:rPr>
              <a:t>Что представляет собой продукт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55680" cy="0"/>
          </a:xfrm>
          <a:prstGeom prst="line">
            <a:avLst/>
          </a:prstGeom>
          <a:noFill/>
          <a:ln w="13970">
            <a:solidFill>
              <a:srgbClr val="31435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36792"/>
            <a:ext cx="11155680" cy="0"/>
          </a:xfrm>
          <a:prstGeom prst="line">
            <a:avLst/>
          </a:prstGeom>
          <a:noFill/>
          <a:ln w="8890">
            <a:solidFill>
              <a:srgbClr val="3143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28232"/>
            <a:ext cx="978408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0000" lnSpcReduction="20000"/>
          </a:bodyPr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018520" y="6382512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5C2"/>
                </a:solidFill>
              </a:rPr>
              <a:t>02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5852160" cy="4297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dirty="0">
                <a:solidFill>
                  <a:srgbClr val="F5F8FB"/>
                </a:solidFill>
              </a:rPr>
              <a:t>LiteBroker — локальный учебный мессенджер с выбором собеседника.</a:t>
            </a:r>
            <a:endParaRPr lang="en-US" sz="1500" dirty="0"/>
          </a:p>
          <a:p>
            <a:r>
              <a:rPr lang="en-US" sz="1500" dirty="0">
                <a:solidFill>
                  <a:srgbClr val="F5F8FB"/>
                </a:solidFill>
              </a:rPr>
              <a:t>Каждый диалог публикуется в отдельный Kafka topic: litebroker.chat.&lt;userA&gt;__&lt;userB&gt;.</a:t>
            </a:r>
            <a:endParaRPr lang="en-US" sz="1500" dirty="0"/>
          </a:p>
          <a:p>
            <a:r>
              <a:rPr lang="en-US" sz="1500" dirty="0">
                <a:solidFill>
                  <a:srgbClr val="F5F8FB"/>
                </a:solidFill>
              </a:rPr>
              <a:t>Замеры датчиков генерируются автоматически и публикуются в topic litebroker.sensors.random.</a:t>
            </a:r>
            <a:endParaRPr lang="en-US" sz="1500" dirty="0"/>
          </a:p>
          <a:p>
            <a:r>
              <a:rPr lang="en-US" sz="1500" dirty="0">
                <a:solidFill>
                  <a:srgbClr val="F5F8FB"/>
                </a:solidFill>
              </a:rPr>
              <a:t>Сообщения сохраняются в локальная БД и Kafka не открытым текстом, а криптоконтейнером.</a:t>
            </a:r>
            <a:endParaRPr lang="en-US" sz="1500" dirty="0"/>
          </a:p>
          <a:p>
            <a:r>
              <a:rPr lang="en-US" sz="1500" dirty="0">
                <a:solidFill>
                  <a:srgbClr val="F5F8FB"/>
                </a:solidFill>
              </a:rPr>
              <a:t>Prometheus, Loki/Promtail и Grafana используются для наблюдаемости и демонстрации аудита.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086600" y="1691640"/>
            <a:ext cx="4023360" cy="1874520"/>
          </a:xfrm>
          <a:prstGeom prst="rect">
            <a:avLst/>
          </a:prstGeom>
          <a:solidFill>
            <a:srgbClr val="328637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14616" y="1801368"/>
            <a:ext cx="3767328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Ценность продукта: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конфиденциальность сообщения,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целостность контейнера,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разделение потоков данных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086600" y="3886200"/>
            <a:ext cx="4023360" cy="1417320"/>
          </a:xfrm>
          <a:prstGeom prst="rect">
            <a:avLst/>
          </a:prstGeom>
          <a:solidFill>
            <a:srgbClr val="E15D50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14616" y="3995928"/>
            <a:ext cx="3767328" cy="11978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Неприемлемое событие: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сообщение или служебный поток обходит политику и появляется в системе как открытый текст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9BD1"/>
                </a:solidFill>
              </a:rPr>
              <a:t>SECURITY CONCEPT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5F8FB"/>
                </a:solidFill>
              </a:rPr>
              <a:t>Концепция безопасности продукта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55680" cy="0"/>
          </a:xfrm>
          <a:prstGeom prst="line">
            <a:avLst/>
          </a:prstGeom>
          <a:noFill/>
          <a:ln w="13970">
            <a:solidFill>
              <a:srgbClr val="31435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36792"/>
            <a:ext cx="11155680" cy="0"/>
          </a:xfrm>
          <a:prstGeom prst="line">
            <a:avLst/>
          </a:prstGeom>
          <a:noFill/>
          <a:ln w="8890">
            <a:solidFill>
              <a:srgbClr val="3143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28232"/>
            <a:ext cx="978408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0000" lnSpcReduction="20000"/>
          </a:bodyPr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018520" y="6382512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5C2"/>
                </a:solidFill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1828800"/>
            <a:ext cx="1737360" cy="676656"/>
          </a:xfrm>
          <a:prstGeom prst="rect">
            <a:avLst/>
          </a:prstGeom>
          <a:solidFill>
            <a:srgbClr val="1F9BD1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0976" y="1938528"/>
            <a:ext cx="1481328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Пользователь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063240" y="1828800"/>
            <a:ext cx="1554480" cy="676656"/>
          </a:xfrm>
          <a:prstGeom prst="rect">
            <a:avLst/>
          </a:prstGeom>
          <a:solidFill>
            <a:srgbClr val="151D27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91256" y="1938528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Web UI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166360" y="1828800"/>
            <a:ext cx="1920240" cy="676656"/>
          </a:xfrm>
          <a:prstGeom prst="rect">
            <a:avLst/>
          </a:prstGeom>
          <a:solidFill>
            <a:srgbClr val="328637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94376" y="1938528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LiteBroker API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635240" y="1828800"/>
            <a:ext cx="1920240" cy="676656"/>
          </a:xfrm>
          <a:prstGeom prst="rect">
            <a:avLst/>
          </a:prstGeom>
          <a:solidFill>
            <a:srgbClr val="328637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63256" y="1938528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Crypto Layer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0012680" y="1828800"/>
            <a:ext cx="1645920" cy="676656"/>
          </a:xfrm>
          <a:prstGeom prst="rect">
            <a:avLst/>
          </a:prstGeom>
          <a:solidFill>
            <a:srgbClr val="6F4AA2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140696" y="1938528"/>
            <a:ext cx="1389888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Kafka / локальная БД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2606040" y="2167128"/>
            <a:ext cx="38404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645152" y="2167128"/>
            <a:ext cx="47548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132320" y="2167128"/>
            <a:ext cx="42976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582912" y="2167128"/>
            <a:ext cx="38404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914400" y="306324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50" dirty="0">
                <a:solidFill>
                  <a:srgbClr val="F5F8FB"/>
                </a:solidFill>
              </a:rPr>
              <a:t>Сценарий 1: пользователь входит, выбирает собеседника, отправляет сообщение.</a:t>
            </a:r>
            <a:endParaRPr lang="en-US" sz="1450" dirty="0"/>
          </a:p>
          <a:p>
            <a:r>
              <a:rPr lang="en-US" sz="1450" dirty="0">
                <a:solidFill>
                  <a:srgbClr val="F5F8FB"/>
                </a:solidFill>
              </a:rPr>
              <a:t>Сценарий 2: генератор датчиков создает телеметрию без участия пользователя.</a:t>
            </a:r>
            <a:endParaRPr lang="en-US" sz="1450" dirty="0"/>
          </a:p>
          <a:p>
            <a:r>
              <a:rPr lang="en-US" sz="1450" dirty="0">
                <a:solidFill>
                  <a:srgbClr val="F5F8FB"/>
                </a:solidFill>
              </a:rPr>
              <a:t>Сценарий 3: администратор смотрит состояние системы в Grafana/Kafka UI.</a:t>
            </a:r>
            <a:endParaRPr lang="en-US" sz="1450" dirty="0"/>
          </a:p>
          <a:p>
            <a:r>
              <a:rPr lang="en-US" sz="1450" dirty="0">
                <a:solidFill>
                  <a:srgbClr val="F5F8FB"/>
                </a:solidFill>
              </a:rPr>
              <a:t>Граница доверия: браузер не работает напрямую с Kafka и БД.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9BD1"/>
                </a:solidFill>
              </a:rPr>
              <a:t>ЦЕЛИ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5F8FB"/>
                </a:solidFill>
              </a:rPr>
              <a:t>Цели и предположения безопасности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55680" cy="0"/>
          </a:xfrm>
          <a:prstGeom prst="line">
            <a:avLst/>
          </a:prstGeom>
          <a:noFill/>
          <a:ln w="13970">
            <a:solidFill>
              <a:srgbClr val="31435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36792"/>
            <a:ext cx="11155680" cy="0"/>
          </a:xfrm>
          <a:prstGeom prst="line">
            <a:avLst/>
          </a:prstGeom>
          <a:noFill/>
          <a:ln w="8890">
            <a:solidFill>
              <a:srgbClr val="3143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28232"/>
            <a:ext cx="978408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0000" lnSpcReduction="20000"/>
          </a:bodyPr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018520" y="6382512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5C2"/>
                </a:solidFill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664208"/>
            <a:ext cx="3383280" cy="411480"/>
          </a:xfrm>
          <a:prstGeom prst="rect">
            <a:avLst/>
          </a:prstGeom>
          <a:solidFill>
            <a:srgbClr val="1F9BD1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1773936"/>
            <a:ext cx="3127248" cy="1920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47500" lnSpcReduction="20000"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F5F8FB"/>
                </a:solidFill>
              </a:rPr>
              <a:t>Цели безопасности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4663440" cy="3291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00" dirty="0">
                <a:solidFill>
                  <a:srgbClr val="F5F8FB"/>
                </a:solidFill>
              </a:rPr>
              <a:t>не передавать сообщение как открытый текст;</a:t>
            </a:r>
            <a:endParaRPr lang="en-US" sz="1400" dirty="0"/>
          </a:p>
          <a:p>
            <a:r>
              <a:rPr lang="en-US" sz="1400" dirty="0">
                <a:solidFill>
                  <a:srgbClr val="F5F8FB"/>
                </a:solidFill>
              </a:rPr>
              <a:t>сохранять целостность через GCM authTag;</a:t>
            </a:r>
            <a:endParaRPr lang="en-US" sz="1400" dirty="0"/>
          </a:p>
          <a:p>
            <a:r>
              <a:rPr lang="en-US" sz="1400" dirty="0">
                <a:solidFill>
                  <a:srgbClr val="F5F8FB"/>
                </a:solidFill>
              </a:rPr>
              <a:t>разделить чат и датчики по разным topics;</a:t>
            </a:r>
            <a:endParaRPr lang="en-US" sz="1400" dirty="0"/>
          </a:p>
          <a:p>
            <a:r>
              <a:rPr lang="en-US" sz="1400" dirty="0">
                <a:solidFill>
                  <a:srgbClr val="F5F8FB"/>
                </a:solidFill>
              </a:rPr>
              <a:t>не дать frontend обойти API и политику;</a:t>
            </a:r>
            <a:endParaRPr lang="en-US" sz="1400" dirty="0"/>
          </a:p>
          <a:p>
            <a:r>
              <a:rPr lang="en-US" sz="1400" dirty="0">
                <a:solidFill>
                  <a:srgbClr val="F5F8FB"/>
                </a:solidFill>
              </a:rPr>
              <a:t>дать наблюдаемость без доступа к управлению сообщениями.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1664208"/>
            <a:ext cx="4023360" cy="411480"/>
          </a:xfrm>
          <a:prstGeom prst="rect">
            <a:avLst/>
          </a:prstGeom>
          <a:solidFill>
            <a:srgbClr val="328637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773936"/>
            <a:ext cx="3767328" cy="1920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47500" lnSpcReduction="20000"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F5F8FB"/>
                </a:solidFill>
              </a:rPr>
              <a:t>Предположения безопасности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172200" y="2240280"/>
            <a:ext cx="5029200" cy="3291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00" dirty="0">
                <a:solidFill>
                  <a:srgbClr val="F5F8FB"/>
                </a:solidFill>
              </a:rPr>
              <a:t>проект учебный и запускается локально;</a:t>
            </a:r>
            <a:endParaRPr lang="en-US" sz="1400" dirty="0"/>
          </a:p>
          <a:p>
            <a:r>
              <a:rPr lang="en-US" sz="1400" dirty="0">
                <a:solidFill>
                  <a:srgbClr val="F5F8FB"/>
                </a:solidFill>
              </a:rPr>
              <a:t>секрет шифрования задается через env;</a:t>
            </a:r>
            <a:endParaRPr lang="en-US" sz="1400" dirty="0"/>
          </a:p>
          <a:p>
            <a:r>
              <a:rPr lang="en-US" sz="1400" dirty="0">
                <a:solidFill>
                  <a:srgbClr val="F5F8FB"/>
                </a:solidFill>
              </a:rPr>
              <a:t>Kafka в демо без TLS/SASL, но архитектура допускает усиление;</a:t>
            </a:r>
            <a:endParaRPr lang="en-US" sz="1400" dirty="0"/>
          </a:p>
          <a:p>
            <a:r>
              <a:rPr lang="en-US" sz="1400" dirty="0">
                <a:solidFill>
                  <a:srgbClr val="F5F8FB"/>
                </a:solidFill>
              </a:rPr>
              <a:t>локальная БД — локальное хранилище приложения;</a:t>
            </a:r>
            <a:endParaRPr lang="en-US" sz="1400" dirty="0"/>
          </a:p>
          <a:p>
            <a:r>
              <a:rPr lang="en-US" sz="1400" dirty="0">
                <a:solidFill>
                  <a:srgbClr val="F5F8FB"/>
                </a:solidFill>
              </a:rPr>
              <a:t>внешние реальные аккаунты и Telegram API не используются.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9BD1"/>
                </a:solidFill>
              </a:rPr>
              <a:t>POLICY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5F8FB"/>
                </a:solidFill>
              </a:rPr>
              <a:t>Архитектура политики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55680" cy="0"/>
          </a:xfrm>
          <a:prstGeom prst="line">
            <a:avLst/>
          </a:prstGeom>
          <a:noFill/>
          <a:ln w="13970">
            <a:solidFill>
              <a:srgbClr val="31435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36792"/>
            <a:ext cx="11155680" cy="0"/>
          </a:xfrm>
          <a:prstGeom prst="line">
            <a:avLst/>
          </a:prstGeom>
          <a:noFill/>
          <a:ln w="8890">
            <a:solidFill>
              <a:srgbClr val="3143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28232"/>
            <a:ext cx="978408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0000" lnSpcReduction="20000"/>
          </a:bodyPr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018520" y="6382512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5C2"/>
                </a:solidFill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2331720" cy="868680"/>
          </a:xfrm>
          <a:prstGeom prst="rect">
            <a:avLst/>
          </a:prstGeom>
          <a:solidFill>
            <a:srgbClr val="328637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892808"/>
            <a:ext cx="2075688" cy="6492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Policy Decision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LiteBroker API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749040" y="1783080"/>
            <a:ext cx="2331720" cy="868680"/>
          </a:xfrm>
          <a:prstGeom prst="rect">
            <a:avLst/>
          </a:prstGeom>
          <a:solidFill>
            <a:srgbClr val="1F9BD1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77056" y="1892808"/>
            <a:ext cx="2075688" cy="6492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Policy Enforcement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HTTP routes + auth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583680" y="1783080"/>
            <a:ext cx="2240280" cy="868680"/>
          </a:xfrm>
          <a:prstGeom prst="rect">
            <a:avLst/>
          </a:prstGeom>
          <a:solidFill>
            <a:srgbClr val="6F4AA2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11696" y="1892808"/>
            <a:ext cx="1984248" cy="6492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Message Broker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Kafka topics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189720" y="1783080"/>
            <a:ext cx="2240280" cy="868680"/>
          </a:xfrm>
          <a:prstGeom prst="rect">
            <a:avLst/>
          </a:prstGeom>
          <a:solidFill>
            <a:srgbClr val="E49B37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17736" y="1892808"/>
            <a:ext cx="1984248" cy="649224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Observation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5F8FB"/>
                </a:solidFill>
              </a:rPr>
              <a:t>Prometheus/Loki/Grafana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319272" y="2221992"/>
            <a:ext cx="38404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153912" y="2221992"/>
            <a:ext cx="38404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869680" y="2221992"/>
            <a:ext cx="27432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14400" y="333756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30" dirty="0">
                <a:solidFill>
                  <a:srgbClr val="F5F8FB"/>
                </a:solidFill>
              </a:rPr>
              <a:t>Разрешены только операции через API: login/register/users/messages/sensors/metrics.</a:t>
            </a:r>
            <a:endParaRPr lang="en-US" sz="1430" dirty="0"/>
          </a:p>
          <a:p>
            <a:r>
              <a:rPr lang="en-US" sz="1430" dirty="0">
                <a:solidFill>
                  <a:srgbClr val="F5F8FB"/>
                </a:solidFill>
              </a:rPr>
              <a:t>Для сообщений обязательны: авторизованный пользователь, выбранный recipient, crypto container.</a:t>
            </a:r>
            <a:endParaRPr lang="en-US" sz="1430" dirty="0"/>
          </a:p>
          <a:p>
            <a:r>
              <a:rPr lang="en-US" sz="1430" dirty="0">
                <a:solidFill>
                  <a:srgbClr val="F5F8FB"/>
                </a:solidFill>
              </a:rPr>
              <a:t>Для каждого домена задается разрешенный тип взаимодействия: chat topic или sensor topic.</a:t>
            </a:r>
            <a:endParaRPr lang="en-US" sz="1430" dirty="0"/>
          </a:p>
          <a:p>
            <a:r>
              <a:rPr lang="en-US" sz="1430" dirty="0">
                <a:solidFill>
                  <a:srgbClr val="F5F8FB"/>
                </a:solidFill>
              </a:rPr>
              <a:t>Все, что не описано в политике, считается неразрешенным по умолчанию.</a:t>
            </a:r>
            <a:endParaRPr lang="en-US" sz="14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AutoShape 6" descr="LiteBroker UML">
            <a:extLst>
              <a:ext uri="{FF2B5EF4-FFF2-40B4-BE49-F238E27FC236}">
                <a16:creationId xmlns:a16="http://schemas.microsoft.com/office/drawing/2014/main" id="{B8ABE388-97F1-1882-2275-75CCE23DEB4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95800" y="3429000"/>
            <a:ext cx="5905500" cy="590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92" name="Рисунок 91">
            <a:extLst>
              <a:ext uri="{FF2B5EF4-FFF2-40B4-BE49-F238E27FC236}">
                <a16:creationId xmlns:a16="http://schemas.microsoft.com/office/drawing/2014/main" id="{E21C304A-4B47-AE1F-ADC0-802E0AEF80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1610" y="0"/>
            <a:ext cx="1170878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9BD1"/>
                </a:solidFill>
              </a:rPr>
              <a:t>SEQUENCE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5F8FB"/>
                </a:solidFill>
              </a:rPr>
              <a:t>Базовый сценарий отправки сообщения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55680" cy="0"/>
          </a:xfrm>
          <a:prstGeom prst="line">
            <a:avLst/>
          </a:prstGeom>
          <a:noFill/>
          <a:ln w="13970">
            <a:solidFill>
              <a:srgbClr val="31435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36792"/>
            <a:ext cx="11155680" cy="0"/>
          </a:xfrm>
          <a:prstGeom prst="line">
            <a:avLst/>
          </a:prstGeom>
          <a:noFill/>
          <a:ln w="8890">
            <a:solidFill>
              <a:srgbClr val="3143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28232"/>
            <a:ext cx="978408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0000" lnSpcReduction="20000"/>
          </a:bodyPr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018520" y="6382512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5C2"/>
                </a:solidFill>
              </a:rPr>
              <a:t>07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1600200"/>
            <a:ext cx="1234440" cy="411480"/>
          </a:xfrm>
          <a:prstGeom prst="rect">
            <a:avLst/>
          </a:prstGeom>
          <a:solidFill>
            <a:srgbClr val="1F9BD1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5256" y="1709928"/>
            <a:ext cx="978408" cy="1920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55000" lnSpcReduction="20000"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5F8FB"/>
                </a:solidFill>
              </a:rPr>
              <a:t>User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399032" y="2029968"/>
            <a:ext cx="0" cy="3429000"/>
          </a:xfrm>
          <a:prstGeom prst="line">
            <a:avLst/>
          </a:prstGeom>
          <a:noFill/>
          <a:ln w="12700">
            <a:solidFill>
              <a:srgbClr val="31435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14600" y="1600200"/>
            <a:ext cx="1234440" cy="411480"/>
          </a:xfrm>
          <a:prstGeom prst="rect">
            <a:avLst/>
          </a:prstGeom>
          <a:solidFill>
            <a:srgbClr val="151D27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42616" y="1709928"/>
            <a:ext cx="978408" cy="1920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55000" lnSpcReduction="20000"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5F8FB"/>
                </a:solidFill>
              </a:rPr>
              <a:t>Web UI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36392" y="2029968"/>
            <a:ext cx="0" cy="3429000"/>
          </a:xfrm>
          <a:prstGeom prst="line">
            <a:avLst/>
          </a:prstGeom>
          <a:noFill/>
          <a:ln w="12700">
            <a:solidFill>
              <a:srgbClr val="31435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80560" y="1600200"/>
            <a:ext cx="1234440" cy="411480"/>
          </a:xfrm>
          <a:prstGeom prst="rect">
            <a:avLst/>
          </a:prstGeom>
          <a:solidFill>
            <a:srgbClr val="328637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08576" y="1709928"/>
            <a:ext cx="978408" cy="1920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55000" lnSpcReduction="20000"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5F8FB"/>
                </a:solidFill>
              </a:rPr>
              <a:t>API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102352" y="2029968"/>
            <a:ext cx="0" cy="3429000"/>
          </a:xfrm>
          <a:prstGeom prst="line">
            <a:avLst/>
          </a:prstGeom>
          <a:noFill/>
          <a:ln w="12700">
            <a:solidFill>
              <a:srgbClr val="3143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46520" y="1600200"/>
            <a:ext cx="1234440" cy="411480"/>
          </a:xfrm>
          <a:prstGeom prst="rect">
            <a:avLst/>
          </a:prstGeom>
          <a:solidFill>
            <a:srgbClr val="328637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74536" y="1709928"/>
            <a:ext cx="978408" cy="1920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55000" lnSpcReduction="20000"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5F8FB"/>
                </a:solidFill>
              </a:rPr>
              <a:t>Crypto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068312" y="2029968"/>
            <a:ext cx="0" cy="3429000"/>
          </a:xfrm>
          <a:prstGeom prst="line">
            <a:avLst/>
          </a:prstGeom>
          <a:noFill/>
          <a:ln w="12700">
            <a:solidFill>
              <a:srgbClr val="31435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0" y="1600200"/>
            <a:ext cx="1234440" cy="411480"/>
          </a:xfrm>
          <a:prstGeom prst="rect">
            <a:avLst/>
          </a:prstGeom>
          <a:solidFill>
            <a:srgbClr val="151D27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0496" y="1709928"/>
            <a:ext cx="978408" cy="1920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55000" lnSpcReduction="20000"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5F8FB"/>
                </a:solidFill>
              </a:rPr>
              <a:t>локальная БД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034272" y="2029968"/>
            <a:ext cx="0" cy="3429000"/>
          </a:xfrm>
          <a:prstGeom prst="line">
            <a:avLst/>
          </a:prstGeom>
          <a:noFill/>
          <a:ln w="12700">
            <a:solidFill>
              <a:srgbClr val="31435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95560" y="1600200"/>
            <a:ext cx="1234440" cy="411480"/>
          </a:xfrm>
          <a:prstGeom prst="rect">
            <a:avLst/>
          </a:prstGeom>
          <a:solidFill>
            <a:srgbClr val="6F4AA2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323576" y="1709928"/>
            <a:ext cx="978408" cy="19202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55000" lnSpcReduction="20000"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5F8FB"/>
                </a:solidFill>
              </a:rPr>
              <a:t>Kafka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0817352" y="2029968"/>
            <a:ext cx="0" cy="3429000"/>
          </a:xfrm>
          <a:prstGeom prst="line">
            <a:avLst/>
          </a:prstGeom>
          <a:noFill/>
          <a:ln w="12700">
            <a:solidFill>
              <a:srgbClr val="31435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63040" y="2331720"/>
            <a:ext cx="1554480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1508760" y="2130552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A9B5C2"/>
                </a:solidFill>
              </a:rPr>
              <a:t>select peer + text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3200400" y="2788920"/>
            <a:ext cx="1783080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3246120" y="2587752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A9B5C2"/>
                </a:solidFill>
              </a:rPr>
              <a:t>POST /api/messages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5166360" y="3246120"/>
            <a:ext cx="1783080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  <a:headEnd type="none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5212080" y="3044952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A9B5C2"/>
                </a:solidFill>
              </a:rPr>
              <a:t>encrypt AES-GCM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5166360" y="3703320"/>
            <a:ext cx="3749040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  <a:headEnd type="none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5212080" y="35021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A9B5C2"/>
                </a:solidFill>
              </a:rPr>
              <a:t>save container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5166360" y="4160520"/>
            <a:ext cx="5532120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  <a:headEnd type="none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5212080" y="3959352"/>
            <a:ext cx="5440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A9B5C2"/>
                </a:solidFill>
              </a:rPr>
              <a:t>publish topic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3017520" y="4617720"/>
            <a:ext cx="7863840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  <a:headEnd type="triangl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3063240" y="4416552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A9B5C2"/>
                </a:solidFill>
              </a:rPr>
              <a:t>status + offset</a:t>
            </a:r>
            <a:endParaRPr lang="en-US" sz="8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9BD1"/>
                </a:solidFill>
              </a:rPr>
              <a:t>ISOLATION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5F8FB"/>
                </a:solidFill>
              </a:rPr>
              <a:t>Механизмы изоляции и контроля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55680" cy="0"/>
          </a:xfrm>
          <a:prstGeom prst="line">
            <a:avLst/>
          </a:prstGeom>
          <a:noFill/>
          <a:ln w="13970">
            <a:solidFill>
              <a:srgbClr val="31435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36792"/>
            <a:ext cx="11155680" cy="0"/>
          </a:xfrm>
          <a:prstGeom prst="line">
            <a:avLst/>
          </a:prstGeom>
          <a:noFill/>
          <a:ln w="8890">
            <a:solidFill>
              <a:srgbClr val="3143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28232"/>
            <a:ext cx="978408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0000" lnSpcReduction="20000"/>
          </a:bodyPr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018520" y="6382512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5C2"/>
                </a:solidFill>
              </a:rPr>
              <a:t>08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691640"/>
            <a:ext cx="585216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dirty="0">
                <a:solidFill>
                  <a:srgbClr val="F5F8FB"/>
                </a:solidFill>
              </a:rPr>
              <a:t>Docker Compose: отдельные контейнеры для LiteBroker, Kafka, Kafka UI, Prometheus, Loki/Promtail, Grafana.</a:t>
            </a:r>
            <a:endParaRPr lang="en-US" sz="1500" dirty="0"/>
          </a:p>
          <a:p>
            <a:r>
              <a:rPr lang="en-US" sz="1500" dirty="0">
                <a:solidFill>
                  <a:srgbClr val="F5F8FB"/>
                </a:solidFill>
              </a:rPr>
              <a:t>Kafka topics: отдельный поток для каждого чата и отдельный поток для датчиков.</a:t>
            </a:r>
            <a:endParaRPr lang="en-US" sz="1500" dirty="0"/>
          </a:p>
          <a:p>
            <a:r>
              <a:rPr lang="en-US" sz="1500" dirty="0">
                <a:solidFill>
                  <a:srgbClr val="F5F8FB"/>
                </a:solidFill>
              </a:rPr>
              <a:t>API boundary: браузер не получает доступ к локальная БД/Kafka напрямую.</a:t>
            </a:r>
            <a:endParaRPr lang="en-US" sz="1500" dirty="0"/>
          </a:p>
          <a:p>
            <a:r>
              <a:rPr lang="en-US" sz="1500" dirty="0">
                <a:solidFill>
                  <a:srgbClr val="F5F8FB"/>
                </a:solidFill>
              </a:rPr>
              <a:t>Crypto boundary: весь текст проходит через AES-256-GCM до сохранения/публикации.</a:t>
            </a:r>
            <a:endParaRPr lang="en-US" sz="1500" dirty="0"/>
          </a:p>
          <a:p>
            <a:r>
              <a:rPr lang="en-US" sz="1500" dirty="0">
                <a:solidFill>
                  <a:srgbClr val="F5F8FB"/>
                </a:solidFill>
              </a:rPr>
              <a:t>Monitoring boundary: Grafana наблюдает метрики и логи, но не управляет сообщениями.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086600" y="1874520"/>
            <a:ext cx="4023360" cy="2560320"/>
          </a:xfrm>
          <a:prstGeom prst="rect">
            <a:avLst/>
          </a:prstGeom>
          <a:solidFill>
            <a:srgbClr val="328637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14616" y="1984248"/>
            <a:ext cx="3767328" cy="23408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5F8FB"/>
                </a:solidFill>
              </a:rPr>
              <a:t>Почему так: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5F8FB"/>
                </a:solidFill>
              </a:rPr>
              <a:t>простые границы доверия,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5F8FB"/>
                </a:solidFill>
              </a:rPr>
              <a:t>меньше связность,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5F8FB"/>
                </a:solidFill>
              </a:rPr>
              <a:t>понятная демонстрация для защиты,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5F8FB"/>
                </a:solidFill>
              </a:rPr>
              <a:t>легко проверить в Docker/Kafka UI/Grafana.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9BD1"/>
                </a:solidFill>
              </a:rPr>
              <a:t>SKIB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5F8FB"/>
                </a:solidFill>
              </a:rPr>
              <a:t>Политики безопасности и шаблоны security-by-design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55680" cy="0"/>
          </a:xfrm>
          <a:prstGeom prst="line">
            <a:avLst/>
          </a:prstGeom>
          <a:noFill/>
          <a:ln w="13970">
            <a:solidFill>
              <a:srgbClr val="31435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36792"/>
            <a:ext cx="11155680" cy="0"/>
          </a:xfrm>
          <a:prstGeom prst="line">
            <a:avLst/>
          </a:prstGeom>
          <a:noFill/>
          <a:ln w="8890">
            <a:solidFill>
              <a:srgbClr val="3143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28232"/>
            <a:ext cx="978408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0000" lnSpcReduction="20000"/>
          </a:bodyPr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018520" y="6382512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5C2"/>
                </a:solidFill>
              </a:rPr>
              <a:t>09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645920"/>
            <a:ext cx="10424160" cy="4251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00" dirty="0">
                <a:solidFill>
                  <a:srgbClr val="F5F8FB"/>
                </a:solidFill>
              </a:rPr>
              <a:t>Раздельное принятие и применение решений о безопасности: API проверяет пользователя и допустимость операции, Kafka только переносит разрешенное событие.</a:t>
            </a:r>
            <a:endParaRPr lang="en-US" sz="1400" dirty="0"/>
          </a:p>
          <a:p>
            <a:r>
              <a:rPr lang="en-US" sz="1400" dirty="0">
                <a:solidFill>
                  <a:srgbClr val="F5F8FB"/>
                </a:solidFill>
              </a:rPr>
              <a:t>Выделенный обработчик для очистки данных: входные JSON-запросы нормализуются и валидируются на backend.</a:t>
            </a:r>
            <a:endParaRPr lang="en-US" sz="1400" dirty="0"/>
          </a:p>
          <a:p>
            <a:r>
              <a:rPr lang="en-US" sz="1400" dirty="0">
                <a:solidFill>
                  <a:srgbClr val="F5F8FB"/>
                </a:solidFill>
              </a:rPr>
              <a:t>Выделенный механизм поддержания состояния безопасности: /api/health, /metrics, Prometheus/Grafana показывают состояние Kafka и приложения.</a:t>
            </a:r>
            <a:endParaRPr lang="en-US" sz="1400" dirty="0"/>
          </a:p>
          <a:p>
            <a:r>
              <a:rPr lang="en-US" sz="1400" dirty="0">
                <a:solidFill>
                  <a:srgbClr val="F5F8FB"/>
                </a:solidFill>
              </a:rPr>
              <a:t>Минимизация поверхности атаки: наружу вынесены только нужные порты и HTTP API.</a:t>
            </a:r>
            <a:endParaRPr lang="en-US" sz="1400" dirty="0"/>
          </a:p>
          <a:p>
            <a:r>
              <a:rPr lang="en-US" sz="1400" dirty="0">
                <a:solidFill>
                  <a:srgbClr val="F5F8FB"/>
                </a:solidFill>
              </a:rPr>
              <a:t>Наблюдаемость и аудит: JSONL-логи криптоконтейнеров доступны через Loki/Grafana.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9BD1"/>
                </a:solidFill>
              </a:rPr>
              <a:t>PATTERNS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5F8FB"/>
                </a:solidFill>
              </a:rPr>
              <a:t>Паттерны проектирования ПО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55680" cy="0"/>
          </a:xfrm>
          <a:prstGeom prst="line">
            <a:avLst/>
          </a:prstGeom>
          <a:noFill/>
          <a:ln w="13970">
            <a:solidFill>
              <a:srgbClr val="31435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36792"/>
            <a:ext cx="11155680" cy="0"/>
          </a:xfrm>
          <a:prstGeom prst="line">
            <a:avLst/>
          </a:prstGeom>
          <a:noFill/>
          <a:ln w="8890">
            <a:solidFill>
              <a:srgbClr val="3143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28232"/>
            <a:ext cx="978408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0000" lnSpcReduction="20000"/>
          </a:bodyPr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018520" y="6382512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5C2"/>
                </a:solidFill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1627632"/>
            <a:ext cx="4800600" cy="941832"/>
          </a:xfrm>
          <a:prstGeom prst="rect">
            <a:avLst/>
          </a:prstGeom>
          <a:solidFill>
            <a:srgbClr val="151D27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5256" y="1737360"/>
            <a:ext cx="4544568" cy="7223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F5F8FB"/>
                </a:solidFill>
              </a:rPr>
              <a:t>Facade</a:t>
            </a:r>
            <a:endParaRPr lang="en-US" sz="1220" dirty="0"/>
          </a:p>
          <a:p>
            <a:pPr marL="0" indent="0">
              <a:buNone/>
            </a:pPr>
            <a:r>
              <a:rPr lang="en-US" sz="1220" b="1" dirty="0">
                <a:solidFill>
                  <a:srgbClr val="F5F8FB"/>
                </a:solidFill>
              </a:rPr>
              <a:t>UI работает через REST API и не знает деталей Kafka/локальная БД.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6172200" y="1627632"/>
            <a:ext cx="4800600" cy="941832"/>
          </a:xfrm>
          <a:prstGeom prst="rect">
            <a:avLst/>
          </a:prstGeom>
          <a:solidFill>
            <a:srgbClr val="162A32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0216" y="1737360"/>
            <a:ext cx="4544568" cy="7223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F5F8FB"/>
                </a:solidFill>
              </a:rPr>
              <a:t>Strategy</a:t>
            </a:r>
            <a:endParaRPr lang="en-US" sz="1220" dirty="0"/>
          </a:p>
          <a:p>
            <a:pPr marL="0" indent="0">
              <a:buNone/>
            </a:pPr>
            <a:r>
              <a:rPr lang="en-US" sz="1220" b="1" dirty="0">
                <a:solidFill>
                  <a:srgbClr val="F5F8FB"/>
                </a:solidFill>
              </a:rPr>
              <a:t>Криптографический слой можно заменить другим алгоритмом.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777240" y="2862072"/>
            <a:ext cx="4800600" cy="941832"/>
          </a:xfrm>
          <a:prstGeom prst="rect">
            <a:avLst/>
          </a:prstGeom>
          <a:solidFill>
            <a:srgbClr val="151D27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5256" y="2971800"/>
            <a:ext cx="4544568" cy="7223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F5F8FB"/>
                </a:solidFill>
              </a:rPr>
              <a:t>Mediator</a:t>
            </a:r>
            <a:endParaRPr lang="en-US" sz="1220" dirty="0"/>
          </a:p>
          <a:p>
            <a:pPr marL="0" indent="0">
              <a:buNone/>
            </a:pPr>
            <a:r>
              <a:rPr lang="en-US" sz="1220" b="1" dirty="0">
                <a:solidFill>
                  <a:srgbClr val="F5F8FB"/>
                </a:solidFill>
              </a:rPr>
              <a:t>Kafka выступает посредником между доменами и снижает связность.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6172200" y="2862072"/>
            <a:ext cx="4800600" cy="941832"/>
          </a:xfrm>
          <a:prstGeom prst="rect">
            <a:avLst/>
          </a:prstGeom>
          <a:solidFill>
            <a:srgbClr val="162A32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0216" y="2971800"/>
            <a:ext cx="4544568" cy="7223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F5F8FB"/>
                </a:solidFill>
              </a:rPr>
              <a:t>Observer</a:t>
            </a:r>
            <a:endParaRPr lang="en-US" sz="1220" dirty="0"/>
          </a:p>
          <a:p>
            <a:pPr marL="0" indent="0">
              <a:buNone/>
            </a:pPr>
            <a:r>
              <a:rPr lang="en-US" sz="1220" b="1" dirty="0">
                <a:solidFill>
                  <a:srgbClr val="F5F8FB"/>
                </a:solidFill>
              </a:rPr>
              <a:t>Prometheus, Loki и Kafka UI наблюдают события и состояние.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777240" y="4096512"/>
            <a:ext cx="4800600" cy="941832"/>
          </a:xfrm>
          <a:prstGeom prst="rect">
            <a:avLst/>
          </a:prstGeom>
          <a:solidFill>
            <a:srgbClr val="151D27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256" y="4206240"/>
            <a:ext cx="4544568" cy="7223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F5F8FB"/>
                </a:solidFill>
              </a:rPr>
              <a:t>Template Method</a:t>
            </a:r>
            <a:endParaRPr lang="en-US" sz="1220" dirty="0"/>
          </a:p>
          <a:p>
            <a:pPr marL="0" indent="0">
              <a:buNone/>
            </a:pPr>
            <a:r>
              <a:rPr lang="en-US" sz="1220" b="1" dirty="0">
                <a:solidFill>
                  <a:srgbClr val="F5F8FB"/>
                </a:solidFill>
              </a:rPr>
              <a:t>Единый pipeline сообщения: validate → encrypt → save → publish.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6172200" y="4096512"/>
            <a:ext cx="4800600" cy="941832"/>
          </a:xfrm>
          <a:prstGeom prst="rect">
            <a:avLst/>
          </a:prstGeom>
          <a:solidFill>
            <a:srgbClr val="162A32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0216" y="4206240"/>
            <a:ext cx="4544568" cy="7223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F5F8FB"/>
                </a:solidFill>
              </a:rPr>
              <a:t>Factory Method</a:t>
            </a:r>
            <a:endParaRPr lang="en-US" sz="1220" dirty="0"/>
          </a:p>
          <a:p>
            <a:pPr marL="0" indent="0">
              <a:buNone/>
            </a:pPr>
            <a:r>
              <a:rPr lang="en-US" sz="1220" b="1" dirty="0">
                <a:solidFill>
                  <a:srgbClr val="F5F8FB"/>
                </a:solidFill>
              </a:rPr>
              <a:t>Создание crypto container как отдельная фабрика структуры события.</a:t>
            </a:r>
            <a:endParaRPr lang="en-US" sz="12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9BD1"/>
                </a:solidFill>
              </a:rPr>
              <a:t>CRYPTO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5F8FB"/>
                </a:solidFill>
              </a:rPr>
              <a:t>Как реализовано шифрование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55680" cy="0"/>
          </a:xfrm>
          <a:prstGeom prst="line">
            <a:avLst/>
          </a:prstGeom>
          <a:noFill/>
          <a:ln w="13970">
            <a:solidFill>
              <a:srgbClr val="31435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36792"/>
            <a:ext cx="11155680" cy="0"/>
          </a:xfrm>
          <a:prstGeom prst="line">
            <a:avLst/>
          </a:prstGeom>
          <a:noFill/>
          <a:ln w="8890">
            <a:solidFill>
              <a:srgbClr val="3143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28232"/>
            <a:ext cx="978408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0000" lnSpcReduction="20000"/>
          </a:bodyPr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018520" y="6382512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5C2"/>
                </a:solidFill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600200"/>
            <a:ext cx="5029200" cy="4389120"/>
          </a:xfrm>
          <a:prstGeom prst="rect">
            <a:avLst/>
          </a:prstGeom>
          <a:solidFill>
            <a:srgbClr val="05080C"/>
          </a:solidFill>
          <a:ln w="12700">
            <a:solidFill>
              <a:srgbClr val="31435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709928"/>
            <a:ext cx="4809744" cy="41696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C4DD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{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C4DD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"version": 2,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C4DD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"algorithm": "AES-256-GCM",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C4DD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"iv": "...",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C4DD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"ciphertext": "...",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C4DD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"authTag": "...",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C4DD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"metadata": {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C4DD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"messageId": "...",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C4DD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"senderId": "...",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C4DD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"recipientId": "...",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C4DD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"chatTopic": "litebroker.chat.alice__bob",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C4DD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"createdAt": "..."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C4DD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}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C4DD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</a:t>
            </a:r>
            <a:endParaRPr lang="en-US" sz="920" dirty="0"/>
          </a:p>
        </p:txBody>
      </p:sp>
      <p:sp>
        <p:nvSpPr>
          <p:cNvPr id="10" name="Text 8"/>
          <p:cNvSpPr/>
          <p:nvPr/>
        </p:nvSpPr>
        <p:spPr>
          <a:xfrm>
            <a:off x="6355080" y="1783080"/>
            <a:ext cx="4663440" cy="3566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40" dirty="0">
                <a:solidFill>
                  <a:srgbClr val="F5F8FB"/>
                </a:solidFill>
              </a:rPr>
              <a:t>`ciphertext` скрывает текст сообщения.</a:t>
            </a:r>
            <a:endParaRPr lang="en-US" sz="1440" dirty="0"/>
          </a:p>
          <a:p>
            <a:r>
              <a:rPr lang="en-US" sz="1440" dirty="0">
                <a:solidFill>
                  <a:srgbClr val="F5F8FB"/>
                </a:solidFill>
              </a:rPr>
              <a:t>`iv` делает шифрование разных сообщений уникальным.</a:t>
            </a:r>
            <a:endParaRPr lang="en-US" sz="1440" dirty="0"/>
          </a:p>
          <a:p>
            <a:r>
              <a:rPr lang="en-US" sz="1440" dirty="0">
                <a:solidFill>
                  <a:srgbClr val="F5F8FB"/>
                </a:solidFill>
              </a:rPr>
              <a:t>`authTag` проверяет целостность контейнера.</a:t>
            </a:r>
            <a:endParaRPr lang="en-US" sz="1440" dirty="0"/>
          </a:p>
          <a:p>
            <a:r>
              <a:rPr lang="en-US" sz="1440" dirty="0">
                <a:solidFill>
                  <a:srgbClr val="F5F8FB"/>
                </a:solidFill>
              </a:rPr>
              <a:t>`metadata` связывает сообщение с пользователем, получателем и Kafka topic.</a:t>
            </a:r>
            <a:endParaRPr lang="en-US" sz="1440" dirty="0"/>
          </a:p>
          <a:p>
            <a:r>
              <a:rPr lang="en-US" sz="1440" dirty="0">
                <a:solidFill>
                  <a:srgbClr val="F5F8FB"/>
                </a:solidFill>
              </a:rPr>
              <a:t>Пароли не шифруются, а хешируются через PBKDF2 + salt.</a:t>
            </a:r>
            <a:endParaRPr lang="en-US" sz="14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9BD1"/>
                </a:solidFill>
              </a:rPr>
              <a:t>GRAFANA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5F8FB"/>
                </a:solidFill>
              </a:rPr>
              <a:t>Наблюдаемость: 2 дашборда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55680" cy="0"/>
          </a:xfrm>
          <a:prstGeom prst="line">
            <a:avLst/>
          </a:prstGeom>
          <a:noFill/>
          <a:ln w="13970">
            <a:solidFill>
              <a:srgbClr val="31435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36792"/>
            <a:ext cx="11155680" cy="0"/>
          </a:xfrm>
          <a:prstGeom prst="line">
            <a:avLst/>
          </a:prstGeom>
          <a:noFill/>
          <a:ln w="8890">
            <a:solidFill>
              <a:srgbClr val="3143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28232"/>
            <a:ext cx="978408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0000" lnSpcReduction="20000"/>
          </a:bodyPr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018520" y="6382512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5C2"/>
                </a:solidFill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68680" y="1828800"/>
            <a:ext cx="4754880" cy="1874520"/>
          </a:xfrm>
          <a:prstGeom prst="rect">
            <a:avLst/>
          </a:prstGeom>
          <a:solidFill>
            <a:srgbClr val="1F9BD1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6696" y="1938528"/>
            <a:ext cx="4498848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F5F8FB"/>
                </a:solidFill>
              </a:rPr>
              <a:t>Dashboard 1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5F8FB"/>
                </a:solidFill>
              </a:rPr>
              <a:t>Показания датчиков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5F8FB"/>
                </a:solidFill>
              </a:rPr>
              <a:t>Prometheus metrics: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5F8FB"/>
                </a:solidFill>
              </a:rPr>
              <a:t>temperature / humidity / pressure / total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828800"/>
            <a:ext cx="4754880" cy="1874520"/>
          </a:xfrm>
          <a:prstGeom prst="rect">
            <a:avLst/>
          </a:prstGeom>
          <a:solidFill>
            <a:srgbClr val="6F4AA2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37376" y="1938528"/>
            <a:ext cx="4498848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F5F8FB"/>
                </a:solidFill>
              </a:rPr>
              <a:t>Dashboard 2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5F8FB"/>
                </a:solidFill>
              </a:rPr>
              <a:t>Логи чата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5F8FB"/>
                </a:solidFill>
              </a:rPr>
              <a:t>Loki logs: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5F8FB"/>
                </a:solidFill>
              </a:rPr>
              <a:t>chat-containers.jsonl + счетчики topic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0120" y="4297680"/>
            <a:ext cx="99669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00" dirty="0">
                <a:solidFill>
                  <a:srgbClr val="F5F8FB"/>
                </a:solidFill>
              </a:rPr>
              <a:t>Первый dashboard подтверждает, что sensor topic живой.</a:t>
            </a:r>
            <a:endParaRPr lang="en-US" sz="1400" dirty="0"/>
          </a:p>
          <a:p>
            <a:r>
              <a:rPr lang="en-US" sz="1400" dirty="0">
                <a:solidFill>
                  <a:srgbClr val="F5F8FB"/>
                </a:solidFill>
              </a:rPr>
              <a:t>Второй dashboard показывает криптоконтейнеры и аудит сообщений.</a:t>
            </a:r>
            <a:endParaRPr lang="en-US" sz="1400" dirty="0"/>
          </a:p>
          <a:p>
            <a:r>
              <a:rPr lang="en-US" sz="1400" dirty="0">
                <a:solidFill>
                  <a:srgbClr val="F5F8FB"/>
                </a:solidFill>
              </a:rPr>
              <a:t>Promtail читает только папку логов LiteBroker.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9BD1"/>
                </a:solidFill>
              </a:rPr>
              <a:t>TESTING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5F8FB"/>
                </a:solidFill>
              </a:rPr>
              <a:t>Подход к тестированию проектного кода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55680" cy="0"/>
          </a:xfrm>
          <a:prstGeom prst="line">
            <a:avLst/>
          </a:prstGeom>
          <a:noFill/>
          <a:ln w="13970">
            <a:solidFill>
              <a:srgbClr val="31435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36792"/>
            <a:ext cx="11155680" cy="0"/>
          </a:xfrm>
          <a:prstGeom prst="line">
            <a:avLst/>
          </a:prstGeom>
          <a:noFill/>
          <a:ln w="8890">
            <a:solidFill>
              <a:srgbClr val="3143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28232"/>
            <a:ext cx="978408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0000" lnSpcReduction="20000"/>
          </a:bodyPr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018520" y="6382512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5C2"/>
                </a:solidFill>
              </a:rPr>
              <a:t>13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645920"/>
            <a:ext cx="10424160" cy="4389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350" dirty="0">
                <a:solidFill>
                  <a:srgbClr val="F5F8FB"/>
                </a:solidFill>
              </a:rPr>
              <a:t>Статическая проверка: `node --check LiteBroker/server.mjs` и `node --check LiteBroker/public/app.js`.</a:t>
            </a:r>
            <a:endParaRPr lang="en-US" sz="1350" dirty="0"/>
          </a:p>
          <a:p>
            <a:r>
              <a:rPr lang="en-US" sz="1350" dirty="0">
                <a:solidFill>
                  <a:srgbClr val="F5F8FB"/>
                </a:solidFill>
              </a:rPr>
              <a:t>Проверка инфраструктуры: `docker compose config --quiet`.</a:t>
            </a:r>
            <a:endParaRPr lang="en-US" sz="1350" dirty="0"/>
          </a:p>
          <a:p>
            <a:r>
              <a:rPr lang="en-US" sz="1350" dirty="0">
                <a:solidFill>
                  <a:srgbClr val="F5F8FB"/>
                </a:solidFill>
              </a:rPr>
              <a:t>Функциональный тест: регистрация, выбор собеседника, отправка сообщения.</a:t>
            </a:r>
            <a:endParaRPr lang="en-US" sz="1350" dirty="0"/>
          </a:p>
          <a:p>
            <a:r>
              <a:rPr lang="en-US" sz="1350" dirty="0">
                <a:solidFill>
                  <a:srgbClr val="F5F8FB"/>
                </a:solidFill>
              </a:rPr>
              <a:t>Kafka-тест: в Kafka UI появляются chat topic и sensor topic.</a:t>
            </a:r>
            <a:endParaRPr lang="en-US" sz="1350" dirty="0"/>
          </a:p>
          <a:p>
            <a:r>
              <a:rPr lang="en-US" sz="1350" dirty="0">
                <a:solidFill>
                  <a:srgbClr val="F5F8FB"/>
                </a:solidFill>
              </a:rPr>
              <a:t>Security-тест: в логах и Kafka виден JSON crypto container, а не открытый текст.</a:t>
            </a:r>
            <a:endParaRPr lang="en-US" sz="1350" dirty="0"/>
          </a:p>
          <a:p>
            <a:r>
              <a:rPr lang="en-US" sz="1350" dirty="0">
                <a:solidFill>
                  <a:srgbClr val="F5F8FB"/>
                </a:solidFill>
              </a:rPr>
              <a:t>Observability-тест: Grafana показывает датчики и логи криптоконтейнеров.</a:t>
            </a:r>
            <a:endParaRPr lang="en-US" sz="1350" dirty="0"/>
          </a:p>
          <a:p>
            <a:r>
              <a:rPr lang="en-US" sz="1350" dirty="0">
                <a:solidFill>
                  <a:srgbClr val="F5F8FB"/>
                </a:solidFill>
              </a:rPr>
              <a:t>Негативные сценарии: неверный пароль, пустое сообщение, отсутствие получателя, недоступность Kafka.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9BD1"/>
                </a:solidFill>
              </a:rPr>
              <a:t>NEAT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5F8FB"/>
                </a:solidFill>
              </a:rPr>
              <a:t>Соответствие идее монитора безопасности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55680" cy="0"/>
          </a:xfrm>
          <a:prstGeom prst="line">
            <a:avLst/>
          </a:prstGeom>
          <a:noFill/>
          <a:ln w="13970">
            <a:solidFill>
              <a:srgbClr val="31435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36792"/>
            <a:ext cx="11155680" cy="0"/>
          </a:xfrm>
          <a:prstGeom prst="line">
            <a:avLst/>
          </a:prstGeom>
          <a:noFill/>
          <a:ln w="8890">
            <a:solidFill>
              <a:srgbClr val="3143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28232"/>
            <a:ext cx="978408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0000" lnSpcReduction="20000"/>
          </a:bodyPr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018520" y="6382512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5C2"/>
                </a:solidFill>
              </a:rPr>
              <a:t>14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1737360"/>
            <a:ext cx="4663440" cy="1005840"/>
          </a:xfrm>
          <a:prstGeom prst="rect">
            <a:avLst/>
          </a:prstGeom>
          <a:solidFill>
            <a:srgbClr val="328637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0976" y="1847088"/>
            <a:ext cx="4407408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420" b="1" dirty="0">
                <a:solidFill>
                  <a:srgbClr val="F5F8FB"/>
                </a:solidFill>
              </a:rPr>
              <a:t>Non-bypassable</a:t>
            </a:r>
            <a:endParaRPr lang="en-US" sz="1420" dirty="0"/>
          </a:p>
          <a:p>
            <a:pPr marL="0" indent="0">
              <a:buNone/>
            </a:pPr>
            <a:r>
              <a:rPr lang="en-US" sz="1420" b="1" dirty="0">
                <a:solidFill>
                  <a:srgbClr val="F5F8FB"/>
                </a:solidFill>
              </a:rPr>
              <a:t>все операции идут через LiteBroker API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4663440" cy="1005840"/>
          </a:xfrm>
          <a:prstGeom prst="rect">
            <a:avLst/>
          </a:prstGeom>
          <a:solidFill>
            <a:srgbClr val="328637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45936" y="1847088"/>
            <a:ext cx="4407408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420" b="1" dirty="0">
                <a:solidFill>
                  <a:srgbClr val="F5F8FB"/>
                </a:solidFill>
              </a:rPr>
              <a:t>Evaluatable</a:t>
            </a:r>
            <a:endParaRPr lang="en-US" sz="1420" dirty="0"/>
          </a:p>
          <a:p>
            <a:pPr marL="0" indent="0">
              <a:buNone/>
            </a:pPr>
            <a:r>
              <a:rPr lang="en-US" sz="1420" b="1" dirty="0">
                <a:solidFill>
                  <a:srgbClr val="F5F8FB"/>
                </a:solidFill>
              </a:rPr>
              <a:t>компоненты маленькие: UI, API, crypto, DB, Kafka, monitoring</a:t>
            </a:r>
            <a:endParaRPr lang="en-US" sz="1420" dirty="0"/>
          </a:p>
        </p:txBody>
      </p:sp>
      <p:sp>
        <p:nvSpPr>
          <p:cNvPr id="12" name="Shape 10"/>
          <p:cNvSpPr/>
          <p:nvPr/>
        </p:nvSpPr>
        <p:spPr>
          <a:xfrm>
            <a:off x="822960" y="3291840"/>
            <a:ext cx="4663440" cy="1005840"/>
          </a:xfrm>
          <a:prstGeom prst="rect">
            <a:avLst/>
          </a:prstGeom>
          <a:solidFill>
            <a:srgbClr val="1F9BD1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3401568"/>
            <a:ext cx="4407408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420" b="1" dirty="0">
                <a:solidFill>
                  <a:srgbClr val="F5F8FB"/>
                </a:solidFill>
              </a:rPr>
              <a:t>Always-invoked</a:t>
            </a:r>
            <a:endParaRPr lang="en-US" sz="1420" dirty="0"/>
          </a:p>
          <a:p>
            <a:pPr marL="0" indent="0">
              <a:buNone/>
            </a:pPr>
            <a:r>
              <a:rPr lang="en-US" sz="1420" b="1" dirty="0">
                <a:solidFill>
                  <a:srgbClr val="F5F8FB"/>
                </a:solidFill>
              </a:rPr>
              <a:t>каждая отправка проходит validate/encrypt/save/publish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6217920" y="3291840"/>
            <a:ext cx="4663440" cy="1005840"/>
          </a:xfrm>
          <a:prstGeom prst="rect">
            <a:avLst/>
          </a:prstGeom>
          <a:solidFill>
            <a:srgbClr val="1F9BD1"/>
          </a:solidFill>
          <a:ln w="15240">
            <a:solidFill>
              <a:srgbClr val="31435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5936" y="3401568"/>
            <a:ext cx="4407408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420" b="1" dirty="0">
                <a:solidFill>
                  <a:srgbClr val="F5F8FB"/>
                </a:solidFill>
              </a:rPr>
              <a:t>Tamperproof</a:t>
            </a:r>
            <a:endParaRPr lang="en-US" sz="1420" dirty="0"/>
          </a:p>
          <a:p>
            <a:pPr marL="0" indent="0">
              <a:buNone/>
            </a:pPr>
            <a:r>
              <a:rPr lang="en-US" sz="1420" b="1" dirty="0">
                <a:solidFill>
                  <a:srgbClr val="F5F8FB"/>
                </a:solidFill>
              </a:rPr>
              <a:t>конфигурация вынесена в Docker/env; мониторинг read-only</a:t>
            </a:r>
            <a:endParaRPr lang="en-US" sz="14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9BD1"/>
                </a:solidFill>
              </a:rPr>
              <a:t>ИТОГ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F5F8FB"/>
                </a:solidFill>
              </a:rPr>
              <a:t>Почему выбраны именно эти решения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55680" cy="0"/>
          </a:xfrm>
          <a:prstGeom prst="line">
            <a:avLst/>
          </a:prstGeom>
          <a:noFill/>
          <a:ln w="13970">
            <a:solidFill>
              <a:srgbClr val="31435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6336792"/>
            <a:ext cx="11155680" cy="0"/>
          </a:xfrm>
          <a:prstGeom prst="line">
            <a:avLst/>
          </a:prstGeom>
          <a:noFill/>
          <a:ln w="8890">
            <a:solidFill>
              <a:srgbClr val="3143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28232"/>
            <a:ext cx="978408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0000" lnSpcReduction="20000"/>
          </a:bodyPr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018520" y="6382512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5C2"/>
                </a:solidFill>
              </a:rPr>
              <a:t>15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645920"/>
            <a:ext cx="10424160" cy="4251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20" dirty="0">
                <a:solidFill>
                  <a:srgbClr val="F5F8FB"/>
                </a:solidFill>
              </a:rPr>
              <a:t>Kafka выбрана как брокер сообщений: она естественно показывает изолированные домены и политику взаимодействия через topics.</a:t>
            </a:r>
            <a:endParaRPr lang="en-US" sz="1420" dirty="0"/>
          </a:p>
          <a:p>
            <a:r>
              <a:rPr lang="en-US" sz="1420" dirty="0">
                <a:solidFill>
                  <a:srgbClr val="F5F8FB"/>
                </a:solidFill>
              </a:rPr>
              <a:t>AES-256-GCM выбран потому, что дает конфиденциальность и контроль целостности одним контейнером.</a:t>
            </a:r>
            <a:endParaRPr lang="en-US" sz="1420" dirty="0"/>
          </a:p>
          <a:p>
            <a:r>
              <a:rPr lang="en-US" sz="1420" dirty="0">
                <a:solidFill>
                  <a:srgbClr val="F5F8FB"/>
                </a:solidFill>
              </a:rPr>
              <a:t>локальная БД выбран для локального учебного хранения без внешней БД.</a:t>
            </a:r>
            <a:endParaRPr lang="en-US" sz="1420" dirty="0"/>
          </a:p>
          <a:p>
            <a:r>
              <a:rPr lang="en-US" sz="1420" dirty="0">
                <a:solidFill>
                  <a:srgbClr val="F5F8FB"/>
                </a:solidFill>
              </a:rPr>
              <a:t>Docker Compose выбран для воспроизводимого запуска и изоляции сервисов.</a:t>
            </a:r>
            <a:endParaRPr lang="en-US" sz="1420" dirty="0"/>
          </a:p>
          <a:p>
            <a:r>
              <a:rPr lang="en-US" sz="1420" dirty="0">
                <a:solidFill>
                  <a:srgbClr val="F5F8FB"/>
                </a:solidFill>
              </a:rPr>
              <a:t>Grafana/Prometheus/Loki выбраны для защиты проекта: видно состояние, датчики и аудит криптоконтейнеров.</a:t>
            </a:r>
            <a:endParaRPr lang="en-US" sz="1420" dirty="0"/>
          </a:p>
          <a:p>
            <a:r>
              <a:rPr lang="en-US" sz="1420" dirty="0">
                <a:solidFill>
                  <a:srgbClr val="F5F8FB"/>
                </a:solidFill>
              </a:rPr>
              <a:t>UML используется для объяснения структуры и </a:t>
            </a:r>
            <a:r>
              <a:rPr lang="en-US" sz="1420" dirty="0" err="1">
                <a:solidFill>
                  <a:srgbClr val="F5F8FB"/>
                </a:solidFill>
              </a:rPr>
              <a:t>сценария</a:t>
            </a:r>
            <a:r>
              <a:rPr lang="en-US" sz="1420" dirty="0">
                <a:solidFill>
                  <a:srgbClr val="F5F8FB"/>
                </a:solidFill>
              </a:rPr>
              <a:t>.</a:t>
            </a:r>
            <a:endParaRPr lang="en-US" sz="14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1119</Words>
  <Application>Microsoft Office PowerPoint</Application>
  <PresentationFormat>Широкоэкранный</PresentationFormat>
  <Paragraphs>205</Paragraphs>
  <Slides>16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0" baseType="lpstr">
      <vt:lpstr>Arial</vt:lpstr>
      <vt:lpstr>Cascadia Mono</vt:lpstr>
      <vt:lpstr>Impact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CryptoBroker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LiteBroker: защищенный обмен сообщениями через Kafka</dc:title>
  <dc:subject>Концепция безопасности LiteBroker</dc:subject>
  <dc:creator>LiteBroker</dc:creator>
  <cp:lastModifiedBy>Александр Зюков</cp:lastModifiedBy>
  <cp:revision>3</cp:revision>
  <dcterms:created xsi:type="dcterms:W3CDTF">2026-05-27T18:35:47Z</dcterms:created>
  <dcterms:modified xsi:type="dcterms:W3CDTF">2026-05-27T19:57:35Z</dcterms:modified>
</cp:coreProperties>
</file>